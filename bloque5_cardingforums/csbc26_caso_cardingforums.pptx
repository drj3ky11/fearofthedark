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handoutMasterIdLst>
    <p:handoutMasterId r:id="rId10"/>
  </p:handoutMasterIdLst>
  <p:sldIdLst>
    <p:sldId id="256" r:id="rId9"/>
    <p:sldId id="257" r:id="rId7"/>
    <p:sldId id="258" r:id="rId6"/>
    <p:sldId id="259" r:id="rId5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30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21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76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0" d="100"/>
          <a:sy n="90" d="100"/>
        </p:scale>
        <p:origin x="4075" y="5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CE21EB7-A449-C9A7-B083-33970A869E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A1C30A0-AB18-FF58-1BBF-A835B7EF13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54A67E-5C62-4248-8E27-543754807F34}" type="datetimeFigureOut">
              <a:rPr lang="es-ES" smtClean="0"/>
              <a:t>24/4/26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C513B9E-52A1-7905-7509-F51EFE4E4A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0B344FA-FDBF-1F60-8936-278AE3F8131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C90A6A-A667-4942-BEA4-D0EB8CB80A5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69755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Caso más grande del curso: ~1M cuentas, 10 dumps 2009-2021</a:t>
            </a:r>
          </a:p>
          <a:p>
            <a:r>
              <a:t>Pregunta: cómo se reparte el trabajo en un mercado sin jerarquía única</a:t>
            </a:r>
          </a:p>
          <a:p>
            <a:r>
              <a:t>Hilo conductor: comunidades + especialización, no perfilado individual</a:t>
            </a:r>
          </a:p>
          <a:p>
            <a:r>
              <a:t>→ arranca: datasets y formatos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Entender qué tenemos antes de tocar un post</a:t>
            </a:r>
          </a:p>
          <a:p>
            <a:r>
              <a:t>Gancho breve — el detalle está en el notebook 00</a:t>
            </a:r>
          </a:p>
          <a:p>
            <a:r>
              <a:t>→ base de todo lo siguiente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Columna fechas: 12 años de actividad, 2009-2021</a:t>
            </a:r>
          </a:p>
          <a:p>
            <a:r>
              <a:t>Carder.pro: cirílico, se detecta o rompe</a:t>
            </a:r>
          </a:p>
          <a:p>
            <a:r>
              <a:t>CardingMafia/Cardmafia.cc: mismo leak, dos nombres</a:t>
            </a:r>
          </a:p>
          <a:p>
            <a:r>
              <a:t>→ sigue: gancho de apertura con los dos bugs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Gancho, no sección profunda — detalle en notebook 00</a:t>
            </a:r>
          </a:p>
          <a:p>
            <a:r>
              <a:t>Dump duplicado: mismo tamaño en bytes, mismo contenido</a:t>
            </a:r>
          </a:p>
          <a:p>
            <a:r>
              <a:t>Flat file: 0 filas sin error, parser equivocado</a:t>
            </a:r>
          </a:p>
          <a:p>
            <a:r>
              <a:t>→ sigue: reconocimiento y limpieza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Ya conocemos archivos y formatos, toca cuantificar y limpiar</a:t>
            </a:r>
          </a:p>
          <a:p>
            <a:r>
              <a:t>Escala real: casi 1M usuarios</a:t>
            </a:r>
          </a:p>
          <a:p>
            <a:r>
              <a:t>Mismos problemas de siempre: timestamps, texto vacío, duplicados</a:t>
            </a:r>
          </a:p>
          <a:p>
            <a:r>
              <a:t>A mayor escala, más cuidado, no menos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Escala obliga a reglas sistemáticas, no revisión fila a fila</a:t>
            </a:r>
          </a:p>
          <a:p>
            <a:r>
              <a:t>Rango 2009-2016, pero hay timestamps corruptos</a:t>
            </a:r>
          </a:p>
          <a:p>
            <a:r>
              <a:t>vBulletin domina: se reutiliza parseo de casos previos</a:t>
            </a:r>
          </a:p>
          <a:p>
            <a:r>
              <a:t>→ sigue: cuantificamos ese ruido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18.8% con joindate inválido, epoch-0 o nulo</a:t>
            </a:r>
          </a:p>
          <a:p>
            <a:r>
              <a:t>Mismo patrón que en HackingForums, no es casualidad</a:t>
            </a:r>
          </a:p>
          <a:p>
            <a:r>
              <a:t>58,939 posts vacíos: contenido borrado por moderación</a:t>
            </a:r>
          </a:p>
          <a:p>
            <a:r>
              <a:t>4% descartado antes de red o topics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Notebook 00: tabla usuarios/posts por foro, escala en números</a:t>
            </a:r>
          </a:p>
          <a:p>
            <a:r>
              <a:t>Timeline de registros: saltos raros = timestamps corruptos</a:t>
            </a:r>
          </a:p>
          <a:p>
            <a:r>
              <a:t>Sección 7: completitud de campos de contacto</a:t>
            </a:r>
          </a:p>
          <a:p>
            <a:r>
              <a:t>Notebook 01, sección 5: conteos antes/después de limpieza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Datos limpios → pregunta central del caso</a:t>
            </a:r>
          </a:p>
          <a:p>
            <a:r>
              <a:t>¿Cómo se organiza un mercado sin jerarquía única?</a:t>
            </a:r>
          </a:p>
          <a:p>
            <a:r>
              <a:t>Estadística de grafos pura, sin IA generativa</a:t>
            </a:r>
          </a:p>
          <a:p>
            <a:r>
              <a:t>→ el hilo conductor de todo el caso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Nodo=usuario, arista=co-participación en thread</a:t>
            </a:r>
          </a:p>
          <a:p>
            <a:r>
              <a:t>Componente gigante: 11,113 nodos tras filtrado</a:t>
            </a:r>
          </a:p>
          <a:p>
            <a:r>
              <a:t>Degree y betweenness centrality sobre esa componente</a:t>
            </a:r>
          </a:p>
          <a:p>
            <a:r>
              <a:t>Betweenness por muestreo k=500 — exacto es inviable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 filtro: hilo masivo mezcla comunidades sin relación real</a:t>
            </a:r>
          </a:p>
          <a:p>
            <a:r>
              <a:t>Regla: &gt;=2 threads compartidos, no 1</a:t>
            </a:r>
          </a:p>
          <a:p>
            <a:r>
              <a:t>Aplicar ANTES de Louvain, no como corrección posterior</a:t>
            </a:r>
          </a:p>
          <a:p>
            <a:r>
              <a:t>→ sigue: qué encuentra Louvain con este grafo limpio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Louvain no fija K, k-means sí — aquí no hay coordenadas naturales</a:t>
            </a:r>
          </a:p>
          <a:p>
            <a:r>
              <a:t>Modularidad como criterio, escala a decenas de miles de nodos</a:t>
            </a:r>
          </a:p>
          <a:p>
            <a:r>
              <a:t>21 comunidades: homogéneas = círculo cerrado de un foro</a:t>
            </a:r>
          </a:p>
          <a:p>
            <a:r>
              <a:t>Comunidad mixta = nota de pasada, no repetir atribución de HackingForums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Louvain solo mide conexiones, BERTopic solo mide contenido — señales independientes</a:t>
            </a:r>
          </a:p>
          <a:p>
            <a:r>
              <a:t>Si coinciden: especialización real, no ruido del grafo</a:t>
            </a:r>
          </a:p>
          <a:p>
            <a:r>
              <a:t>TF-IDF por subforo ya apuntaba a esto</a:t>
            </a:r>
          </a:p>
          <a:p>
            <a:r>
              <a:t>→ confirma vendedores de dumps, cashers, tutoriales como grupos reales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Notebook 02: scatter degree vs. betweenness</a:t>
            </a:r>
          </a:p>
          <a:p>
            <a:r>
              <a:t>Nodos conectados ≠ nodos puente, distinguirlos</a:t>
            </a:r>
          </a:p>
          <a:p>
            <a:r>
              <a:t>Sección 4: composición de comunidades por foro</a:t>
            </a:r>
          </a:p>
          <a:p>
            <a:r>
              <a:t>Notebook 03: cruce comunidad × topic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Entra el LLM local solo para embeddings y topics</a:t>
            </a:r>
          </a:p>
          <a:p>
            <a:r>
              <a:t>Objetivo: confirmar la especialización que sugiere la red</a:t>
            </a:r>
          </a:p>
          <a:p>
            <a:r>
              <a:t>El perfilado individual de roles no es el foco aquí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Umbral mínimo 10 posts para embedding confiable</a:t>
            </a:r>
          </a:p>
          <a:p>
            <a:r>
              <a:t>Solo 9,550 de ~1M usuarios pasan el filtro</a:t>
            </a:r>
          </a:p>
          <a:p>
            <a:r>
              <a:t>Cap de 50K caracteres, evita colgar Ollama</a:t>
            </a:r>
          </a:p>
          <a:p>
            <a:r>
              <a:t>UMAP+HDBSCAN y BERTopic, insumo para el cruce con comunidades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NER+perfilado existe en el notebook, pero como contraste</a:t>
            </a:r>
          </a:p>
          <a:p>
            <a:r>
              <a:t>Ransomware profundiza esta técnica, aquí no se repite</a:t>
            </a:r>
          </a:p>
          <a:p>
            <a:r>
              <a:t>Matiz que se conserva: contador de posts del foro puede mentir</a:t>
            </a:r>
          </a:p>
          <a:p>
            <a:r>
              <a:t>→ sigue: conclusiones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Cierre: del dump crudo a la anatomía de un mercado</a:t>
            </a:r>
          </a:p>
          <a:p>
            <a:r>
              <a:t>Conclusiones aplicables a otros casos y trabajo futuro</a:t>
            </a:r>
          </a:p>
          <a:p>
            <a:r>
              <a:t>Qué es técnica reutilizable, qué es específico del dataset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Dump duplicado y flat file: verificar entrada no es opcional</a:t>
            </a:r>
          </a:p>
          <a:p>
            <a:r>
              <a:t>Louvain sobre k-means: la estructura es un grafo, no coordenadas</a:t>
            </a:r>
          </a:p>
          <a:p>
            <a:r>
              <a:t>Filtrar aristas triviales antes de Louvain, no después</a:t>
            </a:r>
          </a:p>
          <a:p>
            <a:r>
              <a:t>Cruzar red + contenido confirma, no asume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 a la audiencia: ¿mejor caso para probar escala?</a:t>
            </a:r>
          </a:p>
          <a:p>
            <a:r>
              <a:t>3 formatos conviviendo, pipeline sostiene todo</a:t>
            </a:r>
          </a:p>
          <a:p>
            <a:r>
              <a:t>Calidad depende de ingeniería de datos 'aburrida'</a:t>
            </a:r>
          </a:p>
          <a:p>
            <a:r>
              <a:t>Anatomía de mercado sin perfilar a cada actor</a:t>
            </a:r>
          </a:p>
          <a:p>
            <a:r>
              <a:t>Cierre del caso Carding Forums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gif"/><Relationship Id="rId4" Type="http://schemas.openxmlformats.org/officeDocument/2006/relationships/image" Target="../media/image5.gif"/><Relationship Id="rId5" Type="http://schemas.openxmlformats.org/officeDocument/2006/relationships/image" Target="../media/image6.gi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5.gi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5.gi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presenta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12">
            <a:extLst>
              <a:ext uri="{FF2B5EF4-FFF2-40B4-BE49-F238E27FC236}">
                <a16:creationId xmlns:a16="http://schemas.microsoft.com/office/drawing/2014/main" id="{9C55D48E-29CC-44DC-AF42-41191B622C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2860" y="1440430"/>
            <a:ext cx="5029563" cy="138039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4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Título de la Presentación</a:t>
            </a:r>
          </a:p>
        </p:txBody>
      </p:sp>
    </p:spTree>
    <p:extLst>
      <p:ext uri="{BB962C8B-B14F-4D97-AF65-F5344CB8AC3E}">
        <p14:creationId xmlns:p14="http://schemas.microsoft.com/office/powerpoint/2010/main" val="2450916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sección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texto 12">
            <a:extLst>
              <a:ext uri="{FF2B5EF4-FFF2-40B4-BE49-F238E27FC236}">
                <a16:creationId xmlns:a16="http://schemas.microsoft.com/office/drawing/2014/main" id="{1C0BD042-7BE4-41D3-933E-4B59E0E647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08914" y="2048608"/>
            <a:ext cx="7174172" cy="138039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buFontTx/>
              <a:buNone/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Título de la sección</a:t>
            </a:r>
          </a:p>
        </p:txBody>
      </p:sp>
    </p:spTree>
    <p:extLst>
      <p:ext uri="{BB962C8B-B14F-4D97-AF65-F5344CB8AC3E}">
        <p14:creationId xmlns:p14="http://schemas.microsoft.com/office/powerpoint/2010/main" val="2980224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7" y="778468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ÍNDICE</a:t>
            </a:r>
          </a:p>
          <a:p>
            <a:pPr lvl="0"/>
            <a:endParaRPr lang="es-ES" dirty="0"/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A8F17752-9230-46BD-B02B-330D1C9AB76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427" y="1575582"/>
            <a:ext cx="10071652" cy="398115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buFontTx/>
              <a:buBlip>
                <a:blip r:embed="rId3"/>
              </a:buBlip>
              <a:defRPr sz="28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Clr>
                <a:srgbClr val="465461"/>
              </a:buClr>
              <a:buFontTx/>
              <a:buBlip>
                <a:blip r:embed="rId4"/>
              </a:buBlip>
              <a:defRPr sz="2400" b="0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Tx/>
              <a:buBlip>
                <a:blip r:embed="rId5"/>
              </a:buBlip>
              <a:defRPr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es-ES" dirty="0"/>
              <a:t>01. Título</a:t>
            </a:r>
          </a:p>
          <a:p>
            <a:pPr lvl="1"/>
            <a:r>
              <a:rPr lang="es-ES" dirty="0"/>
              <a:t>01.1. Subtítulo</a:t>
            </a:r>
          </a:p>
          <a:p>
            <a:pPr lvl="2"/>
            <a:r>
              <a:rPr lang="es-ES" dirty="0"/>
              <a:t>01.1.1. Subtítulo 2</a:t>
            </a:r>
          </a:p>
          <a:p>
            <a:pPr lvl="0"/>
            <a:r>
              <a:rPr lang="es-ES" dirty="0"/>
              <a:t>02. Esta diapositiva puede llevar imagen de fondo o no.</a:t>
            </a:r>
          </a:p>
        </p:txBody>
      </p:sp>
    </p:spTree>
    <p:extLst>
      <p:ext uri="{BB962C8B-B14F-4D97-AF65-F5344CB8AC3E}">
        <p14:creationId xmlns:p14="http://schemas.microsoft.com/office/powerpoint/2010/main" val="1505550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ítulo/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7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38ABC99D-D808-4839-8939-9FCE8A2AB3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426" y="2195539"/>
            <a:ext cx="10058400" cy="340340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2BF20B6-2093-4128-869E-BC14787FF1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3427" y="1528716"/>
            <a:ext cx="10045148" cy="4596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400" b="1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405389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ítulo/Texto/Imag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8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38ABC99D-D808-4839-8939-9FCE8A2AB3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426" y="2308079"/>
            <a:ext cx="6467061" cy="3262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2BF20B6-2093-4128-869E-BC14787FF1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3427" y="1556851"/>
            <a:ext cx="10045148" cy="4596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400" b="1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6" name="Marcador de posición de imagen 3">
            <a:extLst>
              <a:ext uri="{FF2B5EF4-FFF2-40B4-BE49-F238E27FC236}">
                <a16:creationId xmlns:a16="http://schemas.microsoft.com/office/drawing/2014/main" id="{5C62E7EF-E2A7-488C-875F-A809E9D7DCE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892649" y="2308079"/>
            <a:ext cx="3225925" cy="3262727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652402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ítulo/Texto/Imagen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2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38ABC99D-D808-4839-8939-9FCE8A2AB3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426" y="2308073"/>
            <a:ext cx="3591339" cy="329086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2BF20B6-2093-4128-869E-BC14787FF1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3427" y="1556845"/>
            <a:ext cx="10045148" cy="4596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400" b="1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6" name="Marcador de posición de imagen 3">
            <a:extLst>
              <a:ext uri="{FF2B5EF4-FFF2-40B4-BE49-F238E27FC236}">
                <a16:creationId xmlns:a16="http://schemas.microsoft.com/office/drawing/2014/main" id="{5C62E7EF-E2A7-488C-875F-A809E9D7DCE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380383" y="2308073"/>
            <a:ext cx="5738191" cy="3290869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3425028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ítulo/Imagen/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3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38ABC99D-D808-4839-8939-9FCE8A2AB3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14812" y="2213517"/>
            <a:ext cx="6453809" cy="338542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5" name="Marcador de posición de imagen 3">
            <a:extLst>
              <a:ext uri="{FF2B5EF4-FFF2-40B4-BE49-F238E27FC236}">
                <a16:creationId xmlns:a16="http://schemas.microsoft.com/office/drawing/2014/main" id="{CD063F19-9FFD-4E6B-80EA-302B98B23E8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73426" y="2213518"/>
            <a:ext cx="3225925" cy="3385424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6" name="Marcador de texto 4">
            <a:extLst>
              <a:ext uri="{FF2B5EF4-FFF2-40B4-BE49-F238E27FC236}">
                <a16:creationId xmlns:a16="http://schemas.microsoft.com/office/drawing/2014/main" id="{5D3E1EB6-CB68-4AD5-A0BA-9B5DE1C02A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3427" y="1556846"/>
            <a:ext cx="10045148" cy="4596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400" b="1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065925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ítulo/Bullet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9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D42AF7A5-9638-451B-BDAF-F2599D25AF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427" y="2213523"/>
            <a:ext cx="10084904" cy="337135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>
              <a:buFontTx/>
              <a:buBlip>
                <a:blip r:embed="rId3"/>
              </a:buBlip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 err="1"/>
              <a:t>Bullets</a:t>
            </a:r>
            <a:r>
              <a:rPr lang="es-ES" dirty="0"/>
              <a:t> opción 1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0BB3744-8949-403C-8160-58A45DFEE94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3427" y="1556852"/>
            <a:ext cx="10045148" cy="4596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400" b="1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900071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ítulo/Textos/Imágen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7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0BB3744-8949-403C-8160-58A45DFEE94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3427" y="1556850"/>
            <a:ext cx="10045148" cy="4596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400" b="1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42830782-65CF-4B35-B7AD-2DCDE86A9C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7563" y="2244315"/>
            <a:ext cx="3179637" cy="11846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8" name="Marcador de posición de imagen 3">
            <a:extLst>
              <a:ext uri="{FF2B5EF4-FFF2-40B4-BE49-F238E27FC236}">
                <a16:creationId xmlns:a16="http://schemas.microsoft.com/office/drawing/2014/main" id="{9E493630-8364-4307-AF71-ABB0195A687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0378" y="3563715"/>
            <a:ext cx="3179637" cy="2035227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AB954431-C521-4129-ACDE-549CF6B556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55568" y="2244315"/>
            <a:ext cx="3179637" cy="11846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11" name="Marcador de posición de imagen 3">
            <a:extLst>
              <a:ext uri="{FF2B5EF4-FFF2-40B4-BE49-F238E27FC236}">
                <a16:creationId xmlns:a16="http://schemas.microsoft.com/office/drawing/2014/main" id="{F203F820-6648-46A2-A54A-DCC8C4AB496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658383" y="3563715"/>
            <a:ext cx="3179637" cy="2035227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  <p:sp>
        <p:nvSpPr>
          <p:cNvPr id="12" name="Marcador de texto 2">
            <a:extLst>
              <a:ext uri="{FF2B5EF4-FFF2-40B4-BE49-F238E27FC236}">
                <a16:creationId xmlns:a16="http://schemas.microsoft.com/office/drawing/2014/main" id="{61533F47-9201-4351-8A64-706F233556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53270" y="2244315"/>
            <a:ext cx="3179637" cy="11846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13" name="Marcador de posición de imagen 3">
            <a:extLst>
              <a:ext uri="{FF2B5EF4-FFF2-40B4-BE49-F238E27FC236}">
                <a16:creationId xmlns:a16="http://schemas.microsoft.com/office/drawing/2014/main" id="{A06B10CE-635F-4975-A971-D25FE790796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253271" y="3563715"/>
            <a:ext cx="3179637" cy="2035227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433085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6"/>
            <a:ext cx="6819223" cy="481395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38ABC99D-D808-4839-8939-9FCE8A2AB3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426" y="1746933"/>
            <a:ext cx="10058400" cy="380980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</p:spTree>
    <p:extLst>
      <p:ext uri="{BB962C8B-B14F-4D97-AF65-F5344CB8AC3E}">
        <p14:creationId xmlns:p14="http://schemas.microsoft.com/office/powerpoint/2010/main" val="347791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/Imag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5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38ABC99D-D808-4839-8939-9FCE8A2AB3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426" y="1746932"/>
            <a:ext cx="6453809" cy="382387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5" name="Marcador de posición de imagen 3">
            <a:extLst>
              <a:ext uri="{FF2B5EF4-FFF2-40B4-BE49-F238E27FC236}">
                <a16:creationId xmlns:a16="http://schemas.microsoft.com/office/drawing/2014/main" id="{CD063F19-9FFD-4E6B-80EA-302B98B23E8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892649" y="1746932"/>
            <a:ext cx="3225925" cy="3823874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843379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/Imagen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3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38ABC99D-D808-4839-8939-9FCE8A2AB3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426" y="1577415"/>
            <a:ext cx="3591339" cy="399339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6" name="Marcador de posición de imagen 3">
            <a:extLst>
              <a:ext uri="{FF2B5EF4-FFF2-40B4-BE49-F238E27FC236}">
                <a16:creationId xmlns:a16="http://schemas.microsoft.com/office/drawing/2014/main" id="{5C62E7EF-E2A7-488C-875F-A809E9D7DCE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380383" y="1577414"/>
            <a:ext cx="5738191" cy="3993392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14484810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/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4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38ABC99D-D808-4839-8939-9FCE8A2AB3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14812" y="1767845"/>
            <a:ext cx="6453809" cy="381702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5" name="Marcador de posición de imagen 3">
            <a:extLst>
              <a:ext uri="{FF2B5EF4-FFF2-40B4-BE49-F238E27FC236}">
                <a16:creationId xmlns:a16="http://schemas.microsoft.com/office/drawing/2014/main" id="{CD063F19-9FFD-4E6B-80EA-302B98B23E8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73426" y="1767845"/>
            <a:ext cx="3225925" cy="3817029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96934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6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D42AF7A5-9638-451B-BDAF-F2599D25AF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427" y="1574656"/>
            <a:ext cx="10084904" cy="401021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>
              <a:buFontTx/>
              <a:buBlip>
                <a:blip r:embed="rId3"/>
              </a:buBlip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 err="1"/>
              <a:t>Bullets</a:t>
            </a:r>
            <a:r>
              <a:rPr lang="es-ES" dirty="0"/>
              <a:t> opción 1</a:t>
            </a:r>
          </a:p>
        </p:txBody>
      </p:sp>
    </p:spTree>
    <p:extLst>
      <p:ext uri="{BB962C8B-B14F-4D97-AF65-F5344CB8AC3E}">
        <p14:creationId xmlns:p14="http://schemas.microsoft.com/office/powerpoint/2010/main" val="8558677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s/Imágen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7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8" name="Marcador de posición de imagen 3">
            <a:extLst>
              <a:ext uri="{FF2B5EF4-FFF2-40B4-BE49-F238E27FC236}">
                <a16:creationId xmlns:a16="http://schemas.microsoft.com/office/drawing/2014/main" id="{9E493630-8364-4307-AF71-ABB0195A687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0378" y="3412147"/>
            <a:ext cx="3179637" cy="2306105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  <p:sp>
        <p:nvSpPr>
          <p:cNvPr id="11" name="Marcador de posición de imagen 3">
            <a:extLst>
              <a:ext uri="{FF2B5EF4-FFF2-40B4-BE49-F238E27FC236}">
                <a16:creationId xmlns:a16="http://schemas.microsoft.com/office/drawing/2014/main" id="{F203F820-6648-46A2-A54A-DCC8C4AB496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658383" y="3412147"/>
            <a:ext cx="3179637" cy="2306105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  <p:sp>
        <p:nvSpPr>
          <p:cNvPr id="12" name="Marcador de texto 2">
            <a:extLst>
              <a:ext uri="{FF2B5EF4-FFF2-40B4-BE49-F238E27FC236}">
                <a16:creationId xmlns:a16="http://schemas.microsoft.com/office/drawing/2014/main" id="{61533F47-9201-4351-8A64-706F233556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53270" y="1526120"/>
            <a:ext cx="3179637" cy="16383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13" name="Marcador de posición de imagen 3">
            <a:extLst>
              <a:ext uri="{FF2B5EF4-FFF2-40B4-BE49-F238E27FC236}">
                <a16:creationId xmlns:a16="http://schemas.microsoft.com/office/drawing/2014/main" id="{A06B10CE-635F-4975-A971-D25FE790796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253271" y="3412147"/>
            <a:ext cx="3179637" cy="2306105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2BBD0A9D-1BFD-A053-6A15-CE05D9D9286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0378" y="1526120"/>
            <a:ext cx="3179637" cy="16383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16" name="Marcador de texto 2">
            <a:extLst>
              <a:ext uri="{FF2B5EF4-FFF2-40B4-BE49-F238E27FC236}">
                <a16:creationId xmlns:a16="http://schemas.microsoft.com/office/drawing/2014/main" id="{43D92F3C-706C-DDDB-E34C-F1A36AD8221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658383" y="1526120"/>
            <a:ext cx="3179637" cy="16383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</p:spTree>
    <p:extLst>
      <p:ext uri="{BB962C8B-B14F-4D97-AF65-F5344CB8AC3E}">
        <p14:creationId xmlns:p14="http://schemas.microsoft.com/office/powerpoint/2010/main" val="35669774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13171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5626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61" r:id="rId3"/>
    <p:sldLayoutId id="2147483662" r:id="rId4"/>
    <p:sldLayoutId id="2147483663" r:id="rId5"/>
    <p:sldLayoutId id="2147483665" r:id="rId6"/>
    <p:sldLayoutId id="2147483667" r:id="rId7"/>
    <p:sldLayoutId id="2147483669" r:id="rId8"/>
    <p:sldLayoutId id="2147483670" r:id="rId9"/>
    <p:sldLayoutId id="2147483650" r:id="rId10"/>
    <p:sldLayoutId id="2147483660" r:id="rId11"/>
    <p:sldLayoutId id="2147483666" r:id="rId12"/>
    <p:sldLayoutId id="2147483664" r:id="rId13"/>
    <p:sldLayoutId id="2147483668" r:id="rId14"/>
    <p:sldLayoutId id="2147483671" r:id="rId15"/>
    <p:sldLayoutId id="2147483651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r>
              <a:t>Caso Carding Forums</a:t>
            </a:r>
          </a:p>
          <a:p>
            <a:r>
              <a:rPr sz="1800">
                <a:solidFill>
                  <a:srgbClr val="D6DAE2"/>
                </a:solidFill>
                <a:latin typeface="Arial"/>
              </a:rPr>
              <a:t>Anatomía de un mercado: comunidades, especialización y quién conecta con quién (2009–2021)</a:t>
            </a:r>
          </a:p>
          <a:p>
            <a:r>
              <a:rPr sz="1200" b="1">
                <a:solidFill>
                  <a:srgbClr val="9AA3B5"/>
                </a:solidFill>
                <a:latin typeface="Arial"/>
              </a:rPr>
              <a:t>CSBC26 · Análisis de Leaks Underground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/>
            <a:r>
              <a:rPr sz="1700" b="1">
                <a:solidFill>
                  <a:srgbClr val="CD2D37"/>
                </a:solidFill>
                <a:latin typeface="Arial"/>
              </a:rPr>
              <a:t>SECCIÓN 1</a:t>
            </a:r>
          </a:p>
          <a:p>
            <a:pPr algn="ctr"/>
            <a:r>
              <a:t>Datasets y formatos</a:t>
            </a:r>
          </a:p>
          <a:p>
            <a:pPr algn="ctr"/>
            <a:r>
              <a:rPr sz="1600">
                <a:solidFill>
                  <a:srgbClr val="D6DAE2"/>
                </a:solidFill>
                <a:latin typeface="Arial"/>
              </a:rPr>
              <a:t>Diez archivos, tres formatos, un duplicado escondido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Los foros evaluados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51560" y="1783080"/>
          <a:ext cx="10058400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Foro</a:t>
                      </a:r>
                    </a:p>
                  </a:txBody>
                  <a:tcPr marL="45000" marR="45000" marT="25000" marB="25000" anchor="ctr">
                    <a:solidFill>
                      <a:srgbClr val="CD2D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Fecha del dump</a:t>
                      </a:r>
                    </a:p>
                  </a:txBody>
                  <a:tcPr marL="45000" marR="45000" marT="25000" marB="25000" anchor="ctr">
                    <a:solidFill>
                      <a:srgbClr val="CD2D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Formato</a:t>
                      </a:r>
                    </a:p>
                  </a:txBody>
                  <a:tcPr marL="45000" marR="45000" marT="25000" marB="25000" anchor="ctr">
                    <a:solidFill>
                      <a:srgbClr val="CD2D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Notas</a:t>
                      </a:r>
                    </a:p>
                  </a:txBody>
                  <a:tcPr marL="45000" marR="45000" marT="25000" marB="25000" anchor="ctr">
                    <a:solidFill>
                      <a:srgbClr val="CD2D3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Carder.su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2009-02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vBulletin SQL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Uno de los primeros foros importantes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Carding.biz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2009-11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vBulletin SQL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Cardersplanet.biz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2010-05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vBulletin SQL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Carders.cc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2010-12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vBulletin SQL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Carder.pro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2013-04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vBulletin SQL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Foro ruso, encoding cp1251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Cardingmafia.ws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2016-02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Flat file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Colon-delimited, solo tabla user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Crdshop.su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2016-11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vBulletin SQL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Elitecarders.name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2016-08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vBulletin SQL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CardingMafia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2021-03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vBulletin SQL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Mismo leak que Cardmafia.cc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Cardmafia.cc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2021-03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vBulletin SQL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Mismo leak que CardingMafia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51560" y="5943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7888"/>
                </a:solidFill>
                <a:latin typeface="Arial"/>
              </a:rPr>
              <a:t>ℹ  9 foros distintos esperados según el reconocimiento inicial — la tabla real tiene 10 archivos.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Dos bugs de entrada — gancho antes de analizar nada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2717656"/>
            <a:ext cx="10084904" cy="2867218"/>
          </a:xfrm>
        </p:spPr>
        <p:txBody>
          <a:bodyPr wrap="square"/>
          <a:lstStyle/>
          <a:p>
            <a:r>
              <a:t>list_forums() devolvía 10 archivos para 9 foros esperados: CardingMafia y Cardmafia.cc son el mismo leak subido dos veces (mismo tamaño en bytes, mismo contenido verificado)</a:t>
            </a:r>
          </a:p>
          <a:p>
            <a:r>
              <a:t>Cardingmafia.ws no es SQL: es un flat file colon-delimited que el parser vBulletin ignoraba con 0 filas, sin error visible</a:t>
            </a:r>
          </a:p>
          <a:p>
            <a:pPr lvl="1" marL="274320" indent="-228600">
              <a:buNone/>
            </a:pPr>
            <a:r>
              <a:rPr sz="1500" b="0">
                <a:solidFill>
                  <a:srgbClr val="707888"/>
                </a:solidFill>
                <a:latin typeface="Arial"/>
              </a:rPr>
              <a:t>·  Fix único para ambos: load_forum() auto-detecta formato antes de elegir parser — el detalle completo está en el notebook 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/>
            <a:r>
              <a:rPr sz="1700" b="1">
                <a:solidFill>
                  <a:srgbClr val="CD2D37"/>
                </a:solidFill>
                <a:latin typeface="Arial"/>
              </a:rPr>
              <a:t>SECCIÓN 2</a:t>
            </a:r>
          </a:p>
          <a:p>
            <a:pPr algn="ctr"/>
            <a:r>
              <a:t>Reconocimiento y limpieza</a:t>
            </a:r>
          </a:p>
          <a:p>
            <a:pPr algn="ctr"/>
            <a:r>
              <a:rPr sz="1600">
                <a:solidFill>
                  <a:srgbClr val="D6DAE2"/>
                </a:solidFill>
                <a:latin typeface="Arial"/>
              </a:rPr>
              <a:t>Notebooks 00 y 01 — de dump crudo a datos confiables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El dataset en cifras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1711816"/>
            <a:ext cx="10084904" cy="3873058"/>
          </a:xfrm>
        </p:spPr>
        <p:txBody>
          <a:bodyPr wrap="square"/>
          <a:lstStyle/>
          <a:p>
            <a:r>
              <a:t>949,816 usuarios y 1,470,866 posts across 10 dumps</a:t>
            </a:r>
          </a:p>
          <a:p>
            <a:r>
              <a:t>209,406 threads y 876,935 mensajes privados</a:t>
            </a:r>
          </a:p>
          <a:p>
            <a:r>
              <a:t>Rango temporal: 2009 a 2016 (con timestamps corruptos que hay que filtrar antes de confiar en esto)</a:t>
            </a:r>
          </a:p>
          <a:p>
            <a:r>
              <a:t>vBulletin es el formato dominante — mismo problema de encoding que otros casos del curso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Limpieza — los mismos problemas de siempre, otra escala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2717656"/>
            <a:ext cx="10084904" cy="2867218"/>
          </a:xfrm>
        </p:spPr>
        <p:txBody>
          <a:bodyPr wrap="square"/>
          <a:lstStyle/>
          <a:p>
            <a:r>
              <a:t>178,420 usuarios con joindate inválido (epoch-0 o nulo) — 18.8% del total</a:t>
            </a:r>
          </a:p>
          <a:p>
            <a:r>
              <a:t>16,206 posts con timestamp fuera de rango (antes de 2000 o después de 2025)</a:t>
            </a:r>
          </a:p>
          <a:p>
            <a:r>
              <a:t>58,939 posts con texto vacío o menor a 5 caracteres — posts borrados por moderación</a:t>
            </a:r>
          </a:p>
          <a:p>
            <a:r>
              <a:t>Deduplicación por (userid, forum): filas repetidas por errores de exportación del dump</a:t>
            </a:r>
          </a:p>
          <a:p>
            <a:r>
              <a:t>1,470,866 → 1,412,107 posts limpios — un 4% se descarta antes de cualquier análisis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07888"/>
                </a:solidFill>
                <a:latin typeface="Arial"/>
              </a:rPr>
              <a:t>ℹ  Mismo patrón epoch-0 que en HackingForums: nunca confíes en un timestamp sin validar su rango primero.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/>
            <a:r>
              <a:rPr sz="1700" b="1">
                <a:solidFill>
                  <a:srgbClr val="CD2D37"/>
                </a:solidFill>
                <a:latin typeface="Arial"/>
              </a:rPr>
              <a:t>DEMO EN VIVO</a:t>
            </a:r>
          </a:p>
          <a:p>
            <a:pPr algn="ctr"/>
            <a:r>
              <a:t>Demo — reconocimiento y limpieza</a:t>
            </a:r>
          </a:p>
          <a:p>
            <a:pPr algn="ctr"/>
            <a:r>
              <a:rPr sz="1400">
                <a:solidFill>
                  <a:srgbClr val="9AA3B5"/>
                </a:solidFill>
                <a:latin typeface="Arial"/>
              </a:rPr>
              <a:t>CardingForums/00_reconocimiento.ipynb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05456" y="3657600"/>
            <a:ext cx="716889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D6DAE2"/>
                </a:solidFill>
                <a:latin typeface="Arial"/>
              </a:rPr>
              <a:t>1.  Abrir notebook 00_reconocimiento</a:t>
            </a:r>
          </a:p>
          <a:p>
            <a:r>
              <a:rPr sz="1600">
                <a:solidFill>
                  <a:srgbClr val="D6DAE2"/>
                </a:solidFill>
                <a:latin typeface="Arial"/>
              </a:rPr>
              <a:t>2.  Sección 6: tabla de usuarios y posts por foro, timeline de registros</a:t>
            </a:r>
          </a:p>
          <a:p>
            <a:r>
              <a:rPr sz="1600">
                <a:solidFill>
                  <a:srgbClr val="D6DAE2"/>
                </a:solidFill>
                <a:latin typeface="Arial"/>
              </a:rPr>
              <a:t>3.  Sección 7: validación de calidad — completitud de campos de contacto</a:t>
            </a:r>
          </a:p>
          <a:p>
            <a:r>
              <a:rPr sz="1600">
                <a:solidFill>
                  <a:srgbClr val="D6DAE2"/>
                </a:solidFill>
                <a:latin typeface="Arial"/>
              </a:rPr>
              <a:t>4.  Notebook 01, sección 5: resumen de limpieza con conteos antes/después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/>
            <a:r>
              <a:rPr sz="1700" b="1">
                <a:solidFill>
                  <a:srgbClr val="CD2D37"/>
                </a:solidFill>
                <a:latin typeface="Arial"/>
              </a:rPr>
              <a:t>SECCIÓN 3</a:t>
            </a:r>
          </a:p>
          <a:p>
            <a:pPr algn="ctr"/>
            <a:r>
              <a:t>Red de co-participación y comunidades</a:t>
            </a:r>
          </a:p>
          <a:p>
            <a:pPr algn="ctr"/>
            <a:r>
              <a:rPr sz="1600">
                <a:solidFill>
                  <a:srgbClr val="D6DAE2"/>
                </a:solidFill>
                <a:latin typeface="Arial"/>
              </a:rPr>
              <a:t>Notebook 02 — cómo se reparte el trabajo en un mercado entero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Construcción del grafo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1711816"/>
            <a:ext cx="10084904" cy="3873058"/>
          </a:xfrm>
        </p:spPr>
        <p:txBody>
          <a:bodyPr wrap="square"/>
          <a:lstStyle/>
          <a:p>
            <a:r>
              <a:t>Nodo = usuario. Arista = co-participación en el mismo thread, peso = threads compartidos</a:t>
            </a:r>
          </a:p>
          <a:p>
            <a:r>
              <a:t>Componente gigante resultante: 11,113 nodos tras el filtrado</a:t>
            </a:r>
          </a:p>
          <a:p>
            <a:r>
              <a:t>Degree centrality (conexiones directas) y betweenness centrality (rol de puente) sobre esa componente</a:t>
            </a:r>
          </a:p>
          <a:p>
            <a:r>
              <a:t>betweenness se calcula por muestreo (k=500) — exacto es inviable en grafos de este tamaño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Por qué filtrar aristas de un solo thread compartido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1560" y="23317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65461"/>
                </a:solidFill>
                <a:latin typeface="Arial"/>
              </a:rPr>
              <a:t>Sin este filtro, Louvain fusiona comunidades ajenas por coincidir una vez en un hilo masivo.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2880360"/>
            <a:ext cx="10149840" cy="2926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017520"/>
            <a:ext cx="978408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A8FF78"/>
                </a:solidFill>
                <a:latin typeface="Consolas"/>
              </a:rPr>
              <a:t>MIN_SHARED_THREADS = 2
# Solo mantenemos una arista si coincidieron en &gt;= 2 threads
strong_edges = edges_df[edges_df['shared_threads'] &gt;= MIN_SHARED_THREADS]
# Aristas de '1 thread compartido' = ruido: dos usuarios que
# postearon una vez en un hilo de cientos de participantes
# no tienen ninguna relación real entre sí.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07888"/>
                </a:solidFill>
                <a:latin typeface="Arial"/>
              </a:rPr>
              <a:t>ℹ  El filtro se aplica ANTES de correr Louvain, no después — si no, ya está contaminada la partición.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Comunidades — Louvain, no k-means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2214736"/>
            <a:ext cx="10084904" cy="3370138"/>
          </a:xfrm>
        </p:spPr>
        <p:txBody>
          <a:bodyPr wrap="square"/>
          <a:lstStyle/>
          <a:p>
            <a:r>
              <a:t>21 comunidades detectadas en la componente gigante — Louvain no necesita fijar K de antemano</a:t>
            </a:r>
          </a:p>
          <a:p>
            <a:r>
              <a:t>k-means exigiría inventar coordenadas euclidianas para un grafo de conexiones — perdería la estructura real de quién-conecta-con-quién</a:t>
            </a:r>
          </a:p>
          <a:p>
            <a:r>
              <a:t>Louvain optimiza modularidad directamente sobre el grafo y escala a decenas de miles de nodos</a:t>
            </a:r>
          </a:p>
          <a:p>
            <a:r>
              <a:t>Una comunidad homogénea (un solo foro) sugiere un círculo cerrado propio de ese mercado</a:t>
            </a:r>
          </a:p>
          <a:p>
            <a:pPr lvl="1" marL="274320" indent="-228600">
              <a:buNone/>
            </a:pPr>
            <a:r>
              <a:rPr sz="1500" b="0">
                <a:solidFill>
                  <a:srgbClr val="707888"/>
                </a:solidFill>
                <a:latin typeface="Arial"/>
              </a:rPr>
              <a:t>·  Una comunidad mixta (varios foros) es candidata a red cross-foro — se menciona de pasada, la atribución cross-foro en profundidad es el hilo conductor de HackingForums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Comunidad × topic — ¿especialización real o casualidad del grafo?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2717656"/>
            <a:ext cx="10084904" cy="2867218"/>
          </a:xfrm>
        </p:spPr>
        <p:txBody>
          <a:bodyPr wrap="square"/>
          <a:lstStyle/>
          <a:p>
            <a:r>
              <a:t>Cruzar la comunidad de red (Louvain) con el topic de contenido (BERTopic) de cada usuario</a:t>
            </a:r>
          </a:p>
          <a:p>
            <a:r>
              <a:t>Si ambas señales coinciden — misma comunidad, mismo topic dominante — no es artefacto del grafo, es especialización real del mercado</a:t>
            </a:r>
          </a:p>
          <a:p>
            <a:r>
              <a:t>TF-IDF por subforo ya apuntaba a esto: dumps, cashout, tutoriales como términos discriminantes por sección</a:t>
            </a:r>
          </a:p>
          <a:p>
            <a:r>
              <a:t>El cruce confirma qué comunidades son vendedores de dumps, cuáles son cashers, cuáles son buscadores de tutoriales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/>
            <a:r>
              <a:rPr sz="1700" b="1">
                <a:solidFill>
                  <a:srgbClr val="CD2D37"/>
                </a:solidFill>
                <a:latin typeface="Arial"/>
              </a:rPr>
              <a:t>DEMO EN VIVO</a:t>
            </a:r>
          </a:p>
          <a:p>
            <a:pPr algn="ctr"/>
            <a:r>
              <a:t>Demo — red y comunidades</a:t>
            </a:r>
          </a:p>
          <a:p>
            <a:pPr algn="ctr"/>
            <a:r>
              <a:rPr sz="1400">
                <a:solidFill>
                  <a:srgbClr val="9AA3B5"/>
                </a:solidFill>
                <a:latin typeface="Arial"/>
              </a:rPr>
              <a:t>CardingForums/02_analisis_estructural.ipynb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05456" y="3657600"/>
            <a:ext cx="716889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D6DAE2"/>
                </a:solidFill>
                <a:latin typeface="Arial"/>
              </a:rPr>
              <a:t>1.  Abrir notebook 02_analisis_estructural</a:t>
            </a:r>
          </a:p>
          <a:p>
            <a:r>
              <a:rPr sz="1600">
                <a:solidFill>
                  <a:srgbClr val="D6DAE2"/>
                </a:solidFill>
                <a:latin typeface="Arial"/>
              </a:rPr>
              <a:t>2.  Sección 3: scatter de degree vs. betweenness centrality</a:t>
            </a:r>
          </a:p>
          <a:p>
            <a:r>
              <a:rPr sz="1600">
                <a:solidFill>
                  <a:srgbClr val="D6DAE2"/>
                </a:solidFill>
                <a:latin typeface="Arial"/>
              </a:rPr>
              <a:t>3.  Sección 4: composición de comunidades por foro</a:t>
            </a:r>
          </a:p>
          <a:p>
            <a:r>
              <a:rPr sz="1600">
                <a:solidFill>
                  <a:srgbClr val="D6DAE2"/>
                </a:solidFill>
                <a:latin typeface="Arial"/>
              </a:rPr>
              <a:t>4.  Notebook 03, sección 5: cruce comunidad × topic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/>
            <a:r>
              <a:rPr sz="1700" b="1">
                <a:solidFill>
                  <a:srgbClr val="CD2D37"/>
                </a:solidFill>
                <a:latin typeface="Arial"/>
              </a:rPr>
              <a:t>SECCIÓN 4</a:t>
            </a:r>
          </a:p>
          <a:p>
            <a:pPr algn="ctr"/>
            <a:r>
              <a:t>Semántica: embeddings y especialización</a:t>
            </a:r>
          </a:p>
          <a:p>
            <a:pPr algn="ctr"/>
            <a:r>
              <a:rPr sz="1600">
                <a:solidFill>
                  <a:srgbClr val="D6DAE2"/>
                </a:solidFill>
                <a:latin typeface="Arial"/>
              </a:rPr>
              <a:t>Notebook 03 — el contenido confirma lo que dice la red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Embeddings — un vector por usuario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2214736"/>
            <a:ext cx="10084904" cy="3370138"/>
          </a:xfrm>
        </p:spPr>
        <p:txBody>
          <a:bodyPr wrap="square"/>
          <a:lstStyle/>
          <a:p>
            <a:r>
              <a:t>qwen3-embedding (4096D) vía Ollama, completamente local</a:t>
            </a:r>
          </a:p>
          <a:p>
            <a:r>
              <a:t>9,550 usuarios con ≥10 posts obtienen embedding — el resto no tiene suficiente texto para ser confiable</a:t>
            </a:r>
          </a:p>
          <a:p>
            <a:r>
              <a:t>Concatenación de posts por usuario, capada a 50K caracteres para no colgar Ollama con usuarios extremos</a:t>
            </a:r>
          </a:p>
          <a:p>
            <a:r>
              <a:t>UMAP + HDBSCAN sobre esos vectores, BERTopic sobre el mismo corpus para nombrar cada cluster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Perfilado de roles con LLM — por qué no lo repetimos aquí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2717656"/>
            <a:ext cx="10084904" cy="2867218"/>
          </a:xfrm>
        </p:spPr>
        <p:txBody>
          <a:bodyPr wrap="square"/>
          <a:lstStyle/>
          <a:p>
            <a:r>
              <a:t>El notebook sí explora NER + perfilado de rol individual (vendedor_dumps, checker, escrow...) con qwen2.5:14b, en modo de contraste</a:t>
            </a:r>
          </a:p>
          <a:p>
            <a:r>
              <a:t>Esa técnica se trabaja en profundidad en el caso Ransomware — aquí solo la dejamos como referencia, no como hilo conductor</a:t>
            </a:r>
          </a:p>
          <a:p>
            <a:pPr lvl="1" marL="274320" indent="-228600">
              <a:buNone/>
            </a:pPr>
            <a:r>
              <a:rPr sz="1500" b="0">
                <a:solidFill>
                  <a:srgbClr val="707888"/>
                </a:solidFill>
                <a:latin typeface="Arial"/>
              </a:rPr>
              <a:t>·  Matiz que sí conservamos: el campo posts de vBulletin es un contador propio del foro, no verificado — varios 'top activos' aparecen con 0 posts reales en el corpus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/>
            <a:r>
              <a:rPr sz="1700" b="1">
                <a:solidFill>
                  <a:srgbClr val="CD2D37"/>
                </a:solidFill>
                <a:latin typeface="Arial"/>
              </a:rPr>
              <a:t>SECCIÓN 5</a:t>
            </a:r>
          </a:p>
          <a:p>
            <a:pPr algn="ctr"/>
            <a:r>
              <a:t>Conclusiones y aprendizajes</a:t>
            </a:r>
          </a:p>
          <a:p>
            <a:pPr algn="ctr"/>
            <a:r>
              <a:rPr sz="1600">
                <a:solidFill>
                  <a:srgbClr val="D6DAE2"/>
                </a:solidFill>
                <a:latin typeface="Arial"/>
              </a:rPr>
              <a:t>Qué nos enseña el caso Carding Forums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Resumen ejecutivo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1560" y="18288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D2D37"/>
                </a:solidFill>
                <a:latin typeface="Arial"/>
              </a:rPr>
              <a:t>Hallazgos técnicos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286000"/>
            <a:ext cx="48463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CD2D37"/>
                </a:solidFill>
                <a:latin typeface="Arial"/>
              </a:rPr>
              <a:t>▸  </a:t>
            </a:r>
            <a:r>
              <a:rPr sz="1600">
                <a:solidFill>
                  <a:srgbClr val="465461"/>
                </a:solidFill>
                <a:latin typeface="Arial"/>
              </a:rPr>
              <a:t>Un dump duplicado bajo dos nombres distintos — verificar contenido, no solo el nombre del archivo</a:t>
            </a:r>
          </a:p>
          <a:p>
            <a:r>
              <a:rPr sz="1600">
                <a:solidFill>
                  <a:srgbClr val="CD2D37"/>
                </a:solidFill>
                <a:latin typeface="Arial"/>
              </a:rPr>
              <a:t>▸  </a:t>
            </a:r>
            <a:r>
              <a:rPr sz="1600">
                <a:solidFill>
                  <a:srgbClr val="465461"/>
                </a:solidFill>
                <a:latin typeface="Arial"/>
              </a:rPr>
              <a:t>Un formato flat file escondido entre dumps SQL — el auto-detect de parser es imprescindible</a:t>
            </a:r>
          </a:p>
          <a:p>
            <a:r>
              <a:rPr sz="1600">
                <a:solidFill>
                  <a:srgbClr val="CD2D37"/>
                </a:solidFill>
                <a:latin typeface="Arial"/>
              </a:rPr>
              <a:t>▸  </a:t>
            </a:r>
            <a:r>
              <a:rPr sz="1600">
                <a:solidFill>
                  <a:srgbClr val="465461"/>
                </a:solidFill>
                <a:latin typeface="Arial"/>
              </a:rPr>
              <a:t>11,113 usuarios en la componente gigante de la red, 21 comunidades vía Louvain</a:t>
            </a:r>
          </a:p>
          <a:p>
            <a:r>
              <a:rPr sz="1600">
                <a:solidFill>
                  <a:srgbClr val="CD2D37"/>
                </a:solidFill>
                <a:latin typeface="Arial"/>
              </a:rPr>
              <a:t>▸  </a:t>
            </a:r>
            <a:r>
              <a:rPr sz="1600">
                <a:solidFill>
                  <a:srgbClr val="465461"/>
                </a:solidFill>
                <a:latin typeface="Arial"/>
              </a:rPr>
              <a:t>El cruce comunidad × topic confirma especialización real del mercado, no artefacto del grafo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8288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D2D37"/>
                </a:solidFill>
                <a:latin typeface="Arial"/>
              </a:rPr>
              <a:t>Aprendizajes metodológicos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286000"/>
            <a:ext cx="484632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CD2D37"/>
                </a:solidFill>
                <a:latin typeface="Arial"/>
              </a:rPr>
              <a:t>▸  </a:t>
            </a:r>
            <a:r>
              <a:rPr sz="1600">
                <a:solidFill>
                  <a:srgbClr val="465461"/>
                </a:solidFill>
                <a:latin typeface="Arial"/>
              </a:rPr>
              <a:t>load_forum() con auto-detección de formato es la única forma segura de procesar un lote heterogéneo</a:t>
            </a:r>
          </a:p>
          <a:p>
            <a:r>
              <a:rPr sz="1600">
                <a:solidFill>
                  <a:srgbClr val="CD2D37"/>
                </a:solidFill>
                <a:latin typeface="Arial"/>
              </a:rPr>
              <a:t>▸  </a:t>
            </a:r>
            <a:r>
              <a:rPr sz="1600">
                <a:solidFill>
                  <a:srgbClr val="465461"/>
                </a:solidFill>
                <a:latin typeface="Arial"/>
              </a:rPr>
              <a:t>Louvain sobre k-means cuando la estructura es un grafo de conexiones, no un espacio de coordenadas</a:t>
            </a:r>
          </a:p>
          <a:p>
            <a:r>
              <a:rPr sz="1600">
                <a:solidFill>
                  <a:srgbClr val="CD2D37"/>
                </a:solidFill>
                <a:latin typeface="Arial"/>
              </a:rPr>
              <a:t>▸  </a:t>
            </a:r>
            <a:r>
              <a:rPr sz="1600">
                <a:solidFill>
                  <a:srgbClr val="465461"/>
                </a:solidFill>
                <a:latin typeface="Arial"/>
              </a:rPr>
              <a:t>Filtrar aristas triviales ANTES de detectar comunidades, no después</a:t>
            </a:r>
          </a:p>
          <a:p>
            <a:r>
              <a:rPr sz="1600">
                <a:solidFill>
                  <a:srgbClr val="CD2D37"/>
                </a:solidFill>
                <a:latin typeface="Arial"/>
              </a:rPr>
              <a:t>▸  </a:t>
            </a:r>
            <a:r>
              <a:rPr sz="1600">
                <a:solidFill>
                  <a:srgbClr val="465461"/>
                </a:solidFill>
                <a:latin typeface="Arial"/>
              </a:rPr>
              <a:t>Cruzar señales independientes (red + contenido) confirma un hallazgo en vez de asumirlo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07888"/>
                </a:solidFill>
                <a:latin typeface="Arial"/>
              </a:rPr>
              <a:t>ℹ  Todo el pipeline corre sin mandar un solo post a una API externa.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¿Por qué este caso importa?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2214736"/>
            <a:ext cx="10084904" cy="3370138"/>
          </a:xfrm>
        </p:spPr>
        <p:txBody>
          <a:bodyPr wrap="square"/>
          <a:lstStyle/>
          <a:p>
            <a:r>
              <a:t>Es el caso más grande en volumen de usuarios del curso — pone a prueba el pipeline a escala</a:t>
            </a:r>
          </a:p>
          <a:p>
            <a:r>
              <a:t>Combina los tres formatos vistos en el curso: vBulletin estándar, vBulletin con encoding no-UTF8, flat file</a:t>
            </a:r>
          </a:p>
          <a:p>
            <a:r>
              <a:t>Demuestra que la ingeniería de datos (deduplicar, validar, auto-detectar formato) determina la calidad de todo lo que viene después</a:t>
            </a:r>
          </a:p>
          <a:p>
            <a:r>
              <a:t>Muestra cómo mapear la anatomía completa de un mercado sin necesitar perfilar a cada actor individualmente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1" id="{48A314A4-8185-4B55-A7CC-3A7CEDA94EDA}" vid="{7ECAA45A-5413-4556-941F-0D1EE0EF775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1505317-1252-447c-bd21-893b663df9a8">
      <Terms xmlns="http://schemas.microsoft.com/office/infopath/2007/PartnerControls"/>
    </lcf76f155ced4ddcb4097134ff3c332f>
    <TaxCatchAll xmlns="82e8a8cd-2885-4bb5-8083-20f3ed61e7f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C98B10A8FC55C4B8C984524186865FF" ma:contentTypeVersion="11" ma:contentTypeDescription="Crear nuevo documento." ma:contentTypeScope="" ma:versionID="61ecef6567a032f588d7b796b0096457">
  <xsd:schema xmlns:xsd="http://www.w3.org/2001/XMLSchema" xmlns:xs="http://www.w3.org/2001/XMLSchema" xmlns:p="http://schemas.microsoft.com/office/2006/metadata/properties" xmlns:ns2="91505317-1252-447c-bd21-893b663df9a8" xmlns:ns3="82e8a8cd-2885-4bb5-8083-20f3ed61e7f2" targetNamespace="http://schemas.microsoft.com/office/2006/metadata/properties" ma:root="true" ma:fieldsID="3acf16c84cbe939f4efc210e3967d453" ns2:_="" ns3:_="">
    <xsd:import namespace="91505317-1252-447c-bd21-893b663df9a8"/>
    <xsd:import namespace="82e8a8cd-2885-4bb5-8083-20f3ed61e7f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505317-1252-447c-bd21-893b663df9a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Etiquetas de imagen" ma:readOnly="false" ma:fieldId="{5cf76f15-5ced-4ddc-b409-7134ff3c332f}" ma:taxonomyMulti="true" ma:sspId="d85e823d-31db-440c-980d-283f89df7c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e8a8cd-2885-4bb5-8083-20f3ed61e7f2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f23810e-d2cb-40f5-8814-ec88b3cf0e80}" ma:internalName="TaxCatchAll" ma:showField="CatchAllData" ma:web="82e8a8cd-2885-4bb5-8083-20f3ed61e7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640DA36-330E-4724-B0DD-2D2DF8C87B4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D3338C-90C1-4611-94F3-1777FF5BD484}">
  <ds:schemaRefs>
    <ds:schemaRef ds:uri="http://schemas.microsoft.com/office/2006/metadata/properties"/>
    <ds:schemaRef ds:uri="http://schemas.microsoft.com/office/infopath/2007/PartnerControls"/>
    <ds:schemaRef ds:uri="91505317-1252-447c-bd21-893b663df9a8"/>
    <ds:schemaRef ds:uri="82e8a8cd-2885-4bb5-8083-20f3ed61e7f2"/>
  </ds:schemaRefs>
</ds:datastoreItem>
</file>

<file path=customXml/itemProps3.xml><?xml version="1.0" encoding="utf-8"?>
<ds:datastoreItem xmlns:ds="http://schemas.openxmlformats.org/officeDocument/2006/customXml" ds:itemID="{212D29BC-2FDC-48FD-AB0D-B3A0D33AA8E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1505317-1252-447c-bd21-893b663df9a8"/>
    <ds:schemaRef ds:uri="82e8a8cd-2885-4bb5-8083-20f3ed61e7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PresentaciónCyberSBC2023_esp</Template>
  <TotalTime>89</TotalTime>
  <Words>0</Words>
  <Application>Microsoft Macintosh PowerPoint</Application>
  <PresentationFormat>Panorámica</PresentationFormat>
  <Paragraphs>0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Aptos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Marta Torralbo Calero</dc:creator>
  <cp:lastModifiedBy>Lozano, Maria</cp:lastModifiedBy>
  <cp:revision>4</cp:revision>
  <dcterms:created xsi:type="dcterms:W3CDTF">2024-03-27T14:17:30Z</dcterms:created>
  <dcterms:modified xsi:type="dcterms:W3CDTF">2026-04-24T15:58:42Z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0x0101006C98B10A8FC55C4B8C984524186865FF</vt:lpwstr>
  </property>
</Properties>
</file>