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0"/>
  </p:handoutMasterIdLst>
  <p:sldIdLst>
    <p:sldId id="256" r:id="rId9"/>
    <p:sldId id="257" r:id="rId7"/>
    <p:sldId id="258" r:id="rId6"/>
    <p:sldId id="259" r:id="rId5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4075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E21EB7-A449-C9A7-B083-33970A869E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1C30A0-AB18-FF58-1BBF-A835B7EF1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4A67E-5C62-4248-8E27-543754807F34}" type="datetimeFigureOut">
              <a:rPr lang="es-ES" smtClean="0"/>
              <a:t>24/4/26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513B9E-52A1-7905-7509-F51EFE4E4A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B344FA-FDBF-1F60-8936-278AE3F813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0A6A-A667-4942-BEA4-D0EB8CB80A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6975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foros, 2013-2021</a:t>
            </a:r>
          </a:p>
          <a:p>
            <a:r>
              <a:t>Pregunta guía: ¿misma persona, distintos alias?</a:t>
            </a:r>
          </a:p>
          <a:p>
            <a:r>
              <a:t>Bug de parsing: 3M posts perdidos</a:t>
            </a:r>
          </a:p>
          <a:p>
            <a:r>
              <a:t>Decisión de pipeline por idioma</a:t>
            </a:r>
          </a:p>
          <a:p>
            <a:r>
              <a:t>Score combinado de atribución cross-foro</a:t>
            </a:r>
          </a:p>
          <a:p>
            <a:r>
              <a:t>Datos: dumps SQL reales, no sintéticos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Primero: qué datos tenemos y en qué estado</a:t>
            </a:r>
          </a:p>
          <a:p>
            <a:r>
              <a:t>Tier list de 7 foros evaluados</a:t>
            </a:r>
          </a:p>
          <a:p>
            <a:r>
              <a:t>→ sigue: bug de parser, casi perdemos un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= mapa de decisiones de la sesión</a:t>
            </a:r>
          </a:p>
          <a:p>
            <a:r>
              <a:t>Tier A: dump completo, sirve para pivoting</a:t>
            </a:r>
          </a:p>
          <a:p>
            <a:r>
              <a:t>Tier A↓: solo usuarios, sin contenido (Hackforums.net)</a:t>
            </a:r>
          </a:p>
          <a:p>
            <a:r>
              <a:t>Tier —: descartado (Void.to, schema vacío)</a:t>
            </a:r>
          </a:p>
          <a:p>
            <a:r>
              <a:t>Lección: priorizar donde el dato lo sostiene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Bug más caro del proyecto: Nulled.io cargaba 0 posts</a:t>
            </a:r>
          </a:p>
          <a:p>
            <a:r>
              <a:t>Causa: is_mybb() falso positivo por tabla 'posts'</a:t>
            </a:r>
          </a:p>
          <a:p>
            <a:r>
              <a:t>Fix: detectar IPS 3.x (member_id) ANTES de is_mybb()</a:t>
            </a:r>
          </a:p>
          <a:p>
            <a:r>
              <a:t>Lección: testear parsers contra dumps reales</a:t>
            </a:r>
          </a:p>
          <a:p>
            <a:r>
              <a:t>3.2M posts perdidos hasta encontrarlo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EDA: aquí detectamos el idioma como variable clave</a:t>
            </a:r>
          </a:p>
          <a:p>
            <a:r>
              <a:t>Condiciona todo el pipeline posterior</a:t>
            </a:r>
          </a:p>
          <a:p>
            <a:r>
              <a:t>→ sigue: 5 foros, tratamientos diferenciados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Foto rápida de tamaño: OGUsers 4.9M vs. Exploit.in 80K posts → ×60</a:t>
            </a:r>
          </a:p>
          <a:p>
            <a:r>
              <a:t>3 épocas distintas: 2013, 2019, 2021</a:t>
            </a:r>
          </a:p>
          <a:p>
            <a:r>
              <a:t>No profundizamos más — el foco del caso es identidad y tiempo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referencia del taller para esta técnica — los otros casos solo la mencionan de pasada</a:t>
            </a:r>
          </a:p>
          <a:p>
            <a:r>
              <a:t>Método: langdetect, muestreo de 500 posts/foro, truncado a 2000 chars</a:t>
            </a:r>
          </a:p>
          <a:p>
            <a:r>
              <a:t>La decisión se toma por foro completo, no post a post</a:t>
            </a:r>
          </a:p>
          <a:p>
            <a:r>
              <a:t>4 foros &gt;85% inglés → pipeline estándar; Exploit.in ~80% ruso → pipeline separado</a:t>
            </a:r>
          </a:p>
          <a:p>
            <a:r>
              <a:t>Matiz importante: bg/mk se confunden con ru en langdetect por cercanía lingüística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visual: Exploit.in excepción en casi todo</a:t>
            </a:r>
          </a:p>
          <a:p>
            <a:r>
              <a:t>Única fila igual: embeddings (modelo multilingüe)</a:t>
            </a:r>
          </a:p>
          <a:p>
            <a:r>
              <a:t>Lección: bifurcar solo donde el idioma importa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vivo: notebook 00</a:t>
            </a:r>
          </a:p>
          <a:p>
            <a:r>
              <a:t>Fijarse en la distribución de idioma por foro</a:t>
            </a:r>
          </a:p>
          <a:p>
            <a:r>
              <a:t>Exploit.in claramente separado del resto</a:t>
            </a:r>
          </a:p>
          <a:p>
            <a:r>
              <a:t>Evidencia visual → justifica decisión de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más forense del caso</a:t>
            </a:r>
          </a:p>
          <a:p>
            <a:r>
              <a:t>Red de co-participación → pivoting de handles</a:t>
            </a:r>
          </a:p>
          <a:p>
            <a:r>
              <a:t>Objetivo: misma persona, distintos alias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Grafo: arista = mismo hilo, señal simple</a:t>
            </a:r>
          </a:p>
          <a:p>
            <a:r>
              <a:t>5,000 threads → componente gigante con brokers</a:t>
            </a:r>
          </a:p>
          <a:p>
            <a:r>
              <a:t>Betweenness centrality identifica intermediarios</a:t>
            </a:r>
          </a:p>
          <a:p>
            <a:r>
              <a:t>Brokers = candidatos prioritarios a pivoting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snapshots de la misma comunidad, no 4 foros distintos comparados una vez</a:t>
            </a:r>
          </a:p>
          <a:p>
            <a:r>
              <a:t>Permite ver evolución de una identidad tras cada brecha, no una foto fija</a:t>
            </a:r>
          </a:p>
          <a:p>
            <a:r>
              <a:t>111,621 persisten, 1,332 desaparecen, 418,253 son nuevos entre 2019 y 2022</a:t>
            </a:r>
          </a:p>
          <a:p>
            <a:r>
              <a:t>La comunidad no se renueva tras una brecha — el actor que ya estaba, se queda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Trade-off clásico de cualquier pivoting real de threat intel: precisión vs. cobertura</a:t>
            </a:r>
          </a:p>
          <a:p>
            <a:r>
              <a:t>Exacto: 100% preciso si coincide, pero pierde a quien cambió una letra (cobertura baja)</a:t>
            </a:r>
          </a:p>
          <a:p>
            <a:r>
              <a:t>Fuzzy (rapidfuzz 85%): sube cobertura (user_v2, user123) a costa de precisión</a:t>
            </a:r>
          </a:p>
          <a:p>
            <a:r>
              <a:t>Ni uno solo basta — son insumos del score combinado, junto a embeddings y Burrows' Delta</a:t>
            </a:r>
          </a:p>
          <a:p>
            <a:r>
              <a:t>Pregunta al público: ¿y si el handle cambia del todo?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vimos este patrón de limpieza en CardingForums — no lo repetimos</a:t>
            </a:r>
          </a:p>
          <a:p>
            <a:r>
              <a:t>Foco de este caso: identidad y persistencia temporal, no ingeniería de datos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Base: red + pivoting de handles</a:t>
            </a:r>
          </a:p>
          <a:p>
            <a:r>
              <a:t>Ahora suma: NER especializado, embeddings cross-foro</a:t>
            </a:r>
          </a:p>
          <a:p>
            <a:r>
              <a:t>→ sigue: score de atribución combinado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PERSON/ORG no alcanzan → tipos propios: ALIAS, TOOL, MALWARE, CVE</a:t>
            </a:r>
          </a:p>
          <a:p>
            <a:r>
              <a:t>Muestreo: top-50 usuarios × top-50 posts largos</a:t>
            </a:r>
          </a:p>
          <a:p>
            <a:r>
              <a:t>Solo foros en inglés</a:t>
            </a:r>
          </a:p>
          <a:p>
            <a:r>
              <a:t>Checkpoint cada 10 usuarios → reanudable si falla</a:t>
            </a:r>
          </a:p>
          <a:p>
            <a:r>
              <a:t>Exploit.in fuera: qwen2.5 rinde peor en ruso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un vector por usuario, comparable entre foros</a:t>
            </a:r>
          </a:p>
          <a:p>
            <a:r>
              <a:t>A: concatenar posts (50K chars) → 1 vector</a:t>
            </a:r>
          </a:p>
          <a:p>
            <a:r>
              <a:t>C: top-50 posts largos → embeddings promediados</a:t>
            </a:r>
          </a:p>
          <a:p>
            <a:r>
              <a:t>Spearman A vs C: valida si el muestreo funciona</a:t>
            </a:r>
          </a:p>
          <a:p>
            <a:r>
              <a:t>qwen3-embedding (4096D) multilingüe → incluye ruso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Estilometría: mide estilo, no contenido — palabras función (the, and, of)</a:t>
            </a:r>
          </a:p>
          <a:p>
            <a:r>
              <a:t>Fórmula: promedio de diferencia de z-scores sobre palabras función</a:t>
            </a:r>
          </a:p>
          <a:p>
            <a:r>
              <a:t>Resistente a cambio de tema/plataforma, a diferencia de TF-IDF o BERTopic</a:t>
            </a:r>
          </a:p>
          <a:p>
            <a:r>
              <a:t>Heatmap ya precomputado sobre OGUsers — no se recalcula en vivo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Ninguna señal sola confirma identidad — cuidado al interpretar</a:t>
            </a:r>
          </a:p>
          <a:p>
            <a:r>
              <a:t>Handle: fuerte pero trivial de eludir</a:t>
            </a:r>
          </a:p>
          <a:p>
            <a:r>
              <a:t>Embeddings: captura estilo aunque cambie el handle</a:t>
            </a:r>
          </a:p>
          <a:p>
            <a:r>
              <a:t>Burrows' Delta: palabras función, difícil de falsear</a:t>
            </a:r>
          </a:p>
          <a:p>
            <a:r>
              <a:t>Score &gt;0.7 con ≥2 señales → candidato alta prioridad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vivo: notebook 03</a:t>
            </a:r>
          </a:p>
          <a:p>
            <a:r>
              <a:t>Sección 7: similitud coseno sobre candidatos de pivoting</a:t>
            </a:r>
          </a:p>
          <a:p>
            <a:r>
              <a:t>Sección 8: heatmap Burrows' Delta y score combinado</a:t>
            </a:r>
          </a:p>
          <a:p>
            <a:r>
              <a:t>Revisar los top candidatos de atribución cross-foro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del caso</a:t>
            </a:r>
          </a:p>
          <a:p>
            <a:r>
              <a:t>Aprendizajes técnicos y metodológicos</a:t>
            </a:r>
          </a:p>
          <a:p>
            <a:r>
              <a:t>Aplicables a cualquier caso de leaks underground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Izquierda: hallazgos técnicos del caso</a:t>
            </a:r>
          </a:p>
          <a:p>
            <a:r>
              <a:t>Bug IPS 3.x, pipeline ruso, epoch-0, señal cross-foro</a:t>
            </a:r>
          </a:p>
          <a:p>
            <a:r>
              <a:t>Derecha: aprendizajes generalizables a otros casos</a:t>
            </a:r>
          </a:p>
          <a:p>
            <a:r>
              <a:t>Idioma antes de NLP, testear parsers, validar fechas</a:t>
            </a:r>
          </a:p>
          <a:p>
            <a:r>
              <a:t>Idea central: convergencia de señales &gt; métrica aislada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central: foros no son silos, usuarios migran</a:t>
            </a:r>
          </a:p>
          <a:p>
            <a:r>
              <a:t>Pivoting de handles = técnica real de threat intel</a:t>
            </a:r>
          </a:p>
          <a:p>
            <a:r>
              <a:t>Costo de un bug: millones de posts perdidos sin avisar</a:t>
            </a:r>
          </a:p>
          <a:p>
            <a:r>
              <a:t>Idioma original &gt; forzar todo a inglés (estilometría)</a:t>
            </a:r>
          </a:p>
          <a:p>
            <a:r>
              <a:t>5 foros, 8 años → retrato de la evolución del ecosistema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esent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9C55D48E-29CC-44DC-AF42-41191B622C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2860" y="1440430"/>
            <a:ext cx="5029563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5091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secció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1C0BD042-7BE4-41D3-933E-4B59E0E64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914" y="2048608"/>
            <a:ext cx="7174172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sección</a:t>
            </a:r>
          </a:p>
        </p:txBody>
      </p:sp>
    </p:spTree>
    <p:extLst>
      <p:ext uri="{BB962C8B-B14F-4D97-AF65-F5344CB8AC3E}">
        <p14:creationId xmlns:p14="http://schemas.microsoft.com/office/powerpoint/2010/main" val="29802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7" y="77846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ÍNDICE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8F17752-9230-46BD-B02B-330D1C9AB7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5582"/>
            <a:ext cx="10071652" cy="39811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3"/>
              </a:buBlip>
              <a:defRPr sz="28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465461"/>
              </a:buClr>
              <a:buFontTx/>
              <a:buBlip>
                <a:blip r:embed="rId4"/>
              </a:buBlip>
              <a:defRPr sz="2400" b="0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 r:embed="rId5"/>
              </a:buBlip>
              <a:defRPr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s-ES" dirty="0"/>
              <a:t>01. Título</a:t>
            </a:r>
          </a:p>
          <a:p>
            <a:pPr lvl="1"/>
            <a:r>
              <a:rPr lang="es-ES" dirty="0"/>
              <a:t>01.1. Subtítulo</a:t>
            </a:r>
          </a:p>
          <a:p>
            <a:pPr lvl="2"/>
            <a:r>
              <a:rPr lang="es-ES" dirty="0"/>
              <a:t>01.1.1. Subtítulo 2</a:t>
            </a:r>
          </a:p>
          <a:p>
            <a:pPr lvl="0"/>
            <a:r>
              <a:rPr lang="es-ES" dirty="0"/>
              <a:t>02. Esta diapositiva puede llevar imagen de fondo o no.</a:t>
            </a:r>
          </a:p>
        </p:txBody>
      </p:sp>
    </p:spTree>
    <p:extLst>
      <p:ext uri="{BB962C8B-B14F-4D97-AF65-F5344CB8AC3E}">
        <p14:creationId xmlns:p14="http://schemas.microsoft.com/office/powerpoint/2010/main" val="150555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195539"/>
            <a:ext cx="10058400" cy="34034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2871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4053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9"/>
            <a:ext cx="6467061" cy="3262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1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2308079"/>
            <a:ext cx="3225925" cy="32627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5240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2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3"/>
            <a:ext cx="3591339" cy="32908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5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2308073"/>
            <a:ext cx="5738191" cy="329086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502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2213517"/>
            <a:ext cx="6453809" cy="338542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2213518"/>
            <a:ext cx="3225925" cy="338542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D3E1EB6-CB68-4AD5-A0BA-9B5DE1C02A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6592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9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2213523"/>
            <a:ext cx="10084904" cy="33713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2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0007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0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2830782-65CF-4B35-B7AD-2DCDE86A9C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7563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AB954431-C521-4129-ACDE-549CF6B556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568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43308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481395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3"/>
            <a:ext cx="10058400" cy="38098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477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5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2"/>
            <a:ext cx="6453809" cy="38238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1746932"/>
            <a:ext cx="3225925" cy="382387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433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577415"/>
            <a:ext cx="3591339" cy="39933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1577414"/>
            <a:ext cx="5738191" cy="399339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48481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4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1767845"/>
            <a:ext cx="6453809" cy="38170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1767845"/>
            <a:ext cx="3225925" cy="381702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693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4656"/>
            <a:ext cx="10084904" cy="40102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</p:spTree>
    <p:extLst>
      <p:ext uri="{BB962C8B-B14F-4D97-AF65-F5344CB8AC3E}">
        <p14:creationId xmlns:p14="http://schemas.microsoft.com/office/powerpoint/2010/main" val="85586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2BBD0A9D-1BFD-A053-6A15-CE05D9D928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0378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3D92F3C-706C-DDDB-E34C-F1A36AD82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8383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56697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2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1" r:id="rId3"/>
    <p:sldLayoutId id="2147483662" r:id="rId4"/>
    <p:sldLayoutId id="2147483663" r:id="rId5"/>
    <p:sldLayoutId id="2147483665" r:id="rId6"/>
    <p:sldLayoutId id="2147483667" r:id="rId7"/>
    <p:sldLayoutId id="2147483669" r:id="rId8"/>
    <p:sldLayoutId id="2147483670" r:id="rId9"/>
    <p:sldLayoutId id="2147483650" r:id="rId10"/>
    <p:sldLayoutId id="2147483660" r:id="rId11"/>
    <p:sldLayoutId id="2147483666" r:id="rId12"/>
    <p:sldLayoutId id="2147483664" r:id="rId13"/>
    <p:sldLayoutId id="2147483668" r:id="rId14"/>
    <p:sldLayoutId id="2147483671" r:id="rId15"/>
    <p:sldLayoutId id="214748365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Caso Hacking Forums</a:t>
            </a:r>
          </a:p>
          <a:p>
            <a:r>
              <a:rPr sz="1800">
                <a:solidFill>
                  <a:srgbClr val="D6DAE2"/>
                </a:solidFill>
                <a:latin typeface="Arial"/>
              </a:rPr>
              <a:t>Análisis comparativo de cinco foros underground (2013–2021)</a:t>
            </a:r>
          </a:p>
          <a:p>
            <a:r>
              <a:rPr sz="1200" b="1">
                <a:solidFill>
                  <a:srgbClr val="9AA3B5"/>
                </a:solidFill>
                <a:latin typeface="Arial"/>
              </a:rPr>
              <a:t>CSBC26 · Análisis de Leaks Underground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1</a:t>
            </a:r>
          </a:p>
          <a:p>
            <a:pPr algn="ctr"/>
            <a:r>
              <a:t>Datasets y clasificación por tiers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Qué tenemos, qué sirve y por qué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Los 7 foros evaluados — tier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286000"/>
          <a:ext cx="100584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Archivo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Parser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Idioma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OGUsers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OGUsers_2019.zip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 (prefijo no estándar)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Red social, pivoting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Exploit.in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Exploit.in_2013.12.13.zip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IPS 3.x (ibf_)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Ruso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Pivoting cross-foro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Cracked.to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Cracked.to_2019.01.zip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Pivoting + contenido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Nulled.io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Nulled.io_2016.05.zip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IPS 3.x (sin prefijo)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Contexto histórico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RaidForums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RaidForums_2021.zip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Pivoting cross-foro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Hackforums.net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Hackforums.net_2015.zip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 (solo usuarios)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Solo handles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Void.to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Void.to.zip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Descartado (schema-only)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888"/>
                </a:solidFill>
                <a:latin typeface="Arial"/>
              </a:rPr>
              <a:t>ℹ  Tier A = dump SQL completo. Tier A↓ = sin posts. Tier — = sin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El bug que no esperabas — IPS 3.x sin prefijo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Problema: load_forum() devuelve {} para Nulled.io → 0 posts cargados</a:t>
            </a:r>
          </a:p>
          <a:p>
            <a:r>
              <a:t>Diagnóstico: is_mybb() devuelve True porque _TABLE_MAP tiene clave 'posts'</a:t>
            </a:r>
          </a:p>
          <a:p>
            <a:r>
              <a:t>IPS 3.x sin prefijo tiene exactamente una tabla llamada 'posts' → falso positivo</a:t>
            </a:r>
          </a:p>
          <a:p>
            <a:r>
              <a:t>Fix: ejecutar _detect_version() (IPS-específico, comprueba columna member_id) ANTES de is_mybb()</a:t>
            </a:r>
          </a:p>
          <a:p>
            <a:r>
              <a:t>Lección: los parsers genéricos fallan en variantes de schema — siempre testear con dumps reales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3,200,000 posts de Nulled.io perdidos hasta encontrar el bug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2</a:t>
            </a:r>
          </a:p>
          <a:p>
            <a:pPr algn="ctr"/>
            <a:r>
              <a:t>EDA y detección de idioma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 00 — entender el dato antes del modelo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EDA comparativo — cinco foros muy distintos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Escala: OGUsers (4.9M posts) vs. Exploit.in (80K posts) → ×60 diferencia de volumen</a:t>
            </a:r>
          </a:p>
          <a:p>
            <a:r>
              <a:t>Épocas distintas: Exploit.in 2013, OGUsers 2019, RaidForums 2021 → evolución del ecosistema</a:t>
            </a:r>
          </a:p>
          <a:p>
            <a:r>
              <a:t>Sirve para tener una foto de tamaño y actividad — no es el foco de este caso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Detección de idioma — la decisión de pipeline canónica del taller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Paso obligatorio: Burrows' Delta, NER y BERTopic son idioma-específicos</a:t>
            </a:r>
          </a:p>
          <a:p>
            <a:r>
              <a:t>Método: sample de 500 posts por foro con langdetect, truncado a 2000 chars</a:t>
            </a:r>
          </a:p>
          <a:p>
            <a:r>
              <a:t>Decisión por foro (no por post): el idioma dominante de la muestra fija el pipeline completo</a:t>
            </a:r>
          </a:p>
          <a:p>
            <a:r>
              <a:t>OGUsers / Cracked.to / Nulled.io / RaidForums: &gt;85% inglés → pipeline estándar</a:t>
            </a:r>
          </a:p>
          <a:p>
            <a:r>
              <a:t>Exploit.in: ~80%+ ruso → pipeline separado (solo embeddings multilingües)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Matiz: langdetect confunde con frecuencia búlgaro/macedonio con ruso — hay que leerlo con cuidado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Decisión de pipeline por foro y técnica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286000"/>
          <a:ext cx="100584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Técnica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OGUsers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Exploit.in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Cracked.to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Nulled.io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RaidForums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BERTopic (en)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BERTopic (multilingual)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NER qwen2.5:14b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Burrows' Delta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qwen3-embedding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EDA y detección de idioma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HackingForums/00_reconocimiento.ipynb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00_reconocimiento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EDA comparativo — tabla resumen de los 5 foros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Detección de idioma por foro — gráfica de distribución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Observar: Exploit.in claramente separado del resto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3</a:t>
            </a:r>
          </a:p>
          <a:p>
            <a:pPr algn="ctr"/>
            <a:r>
              <a:t>Red de co-participación y pivoting de handles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¿Quién es quién a través de los foros?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Red de co-participación — OGUsers como caso de estudio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Grafo usuario↔usuario: arista si ambos postearon en el mismo hilo</a:t>
            </a:r>
          </a:p>
          <a:p>
            <a:r>
              <a:t>Muestra: hasta 5,000 threads → componente gigante con brokers identificables</a:t>
            </a:r>
          </a:p>
          <a:p>
            <a:r>
              <a:t>Betweenness centrality: revela intermediarios entre subcomunidades</a:t>
            </a:r>
          </a:p>
          <a:p>
            <a:r>
              <a:t>Visualización Plotly: top-150 nodos, color y tamaño por degree</a:t>
            </a:r>
          </a:p>
          <a:p>
            <a:r>
              <a:t>Los brokers de OGUsers son candidatos prioritarios a pivoting cross-foro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OGUsers a través de 4 brechas — por qué no una sola foto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OGUsers fue filtrado 4 veces: 2019, 2020, 2021, 2022 — misma comunidad, 4 momentos distintos</a:t>
            </a:r>
          </a:p>
          <a:p>
            <a:r>
              <a:t>Comparar dos foros distintos una vez dice si dos comunidades se parecen</a:t>
            </a:r>
          </a:p>
          <a:p>
            <a:r>
              <a:t>Comparar la misma comunidad en 4 snapshots dice cómo evoluciona una identidad tras cada brecha</a:t>
            </a:r>
          </a:p>
          <a:p>
            <a:r>
              <a:t>Hallazgo: de ~111,621 handles de 2019, prácticamente todos siguen en 2022 (solo 1,332 desaparecen)</a:t>
            </a:r>
          </a:p>
          <a:p>
            <a:r>
              <a:t>El crecimiento (418,253 cuentas) es casi todo usuarios nuevos, no reemplazo de los viejos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Pivoting de handles — dos niveles de señal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Matching exacto (alta precisión)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889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Normalización: lowercase + strip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Coincidencia case-insensitive entre los 5 foros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Resultado: handles en ≥2 foros → candidatos a misma persona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Conservador pero sin falsos 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Fuzzy matching (mayor cobertura)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889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rapidfuzz con threshold ≥85%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Captura variaciones: user_v2, user_, user123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Enriquecido con similitud coseno de embeddings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Más ruido, pero detecta cambios deliberados de handle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Limpieza — el filtro epoch-0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Mismo patrón de limpieza que ya vimos en CardingForums (texto vacío, duplicados, epoch-0, texto corto)</a:t>
            </a:r>
          </a:p>
          <a:p>
            <a:r>
              <a:t>No lo repetimos en detalle — el foco de este caso es identidad y persistencia, no ingeniería de datos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4</a:t>
            </a:r>
          </a:p>
          <a:p>
            <a:pPr algn="ctr"/>
            <a:r>
              <a:t>LLM local y embeddings cross-foro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NER, BERTopic y perfilado multi-foro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NER en dominio hacking — entidades especializadas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Tipos estándar (PERSON, ORG) no son suficientes para el dominio underground</a:t>
            </a:r>
          </a:p>
          <a:p>
            <a:r>
              <a:t>Tipos específicos definidos: ALIAS, TOOL, MALWARE, CVE, MARKETPLACE</a:t>
            </a:r>
          </a:p>
          <a:p>
            <a:r>
              <a:t>Estrategia: top-50 usuarios × top-50 posts más largos (solo foros en inglés)</a:t>
            </a:r>
          </a:p>
          <a:p>
            <a:r>
              <a:t>Checkpoint automático cada 10 usuarios → reanudable si falla el LLM</a:t>
            </a:r>
          </a:p>
          <a:p>
            <a:r>
              <a:t>Exploit.in excluido: usar DeepPavlov/rubert o spacy ru_core_news_lg para ruso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Embeddings cross-foro — estrategia A vs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Objetivo: representar a cada usuario con un vector para comparar entre foros</a:t>
            </a:r>
          </a:p>
          <a:p>
            <a:r>
              <a:t>A — embed_users: concatenar todos los posts → 1 vector/usuario (50K chars máx)</a:t>
            </a:r>
          </a:p>
          <a:p>
            <a:r>
              <a:t>C — centroids muestreados: top-50 posts más largos → 1 embedding/post, promedio</a:t>
            </a:r>
          </a:p>
          <a:p>
            <a:r>
              <a:t>Comparación Spearman: ρ(A vs C) indica si ambas estrategias preservan la misma estructura</a:t>
            </a:r>
          </a:p>
          <a:p>
            <a:r>
              <a:t>Con ~21K usuarios en A y ~11K en C, la comparativa valida la estrategia de muestreo</a:t>
            </a:r>
          </a:p>
          <a:p>
            <a:r>
              <a:t>qwen3-embedding (4096D) es multilingual → válido para Exploit.in en ruso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Burrows' Delta — por qué palabras función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Estilometría clásica: mide distancia de estilo con las palabras función más frecuentes</a:t>
            </a:r>
          </a:p>
          <a:p>
            <a:r>
              <a:t>Palabras función (the, and, of...) — no vocabulario de contenido, que cambia con el tema</a:t>
            </a:r>
          </a:p>
          <a:p>
            <a:r>
              <a:t>Δ(A,B) = promedio de |z-score(A) − z-score(B)| sobre esas palabras función</a:t>
            </a:r>
          </a:p>
          <a:p>
            <a:r>
              <a:t>Resistente a que el autor cambie de tema o de plataforma — a diferencia de TF-IDF/BERTopic</a:t>
            </a:r>
          </a:p>
          <a:p>
            <a:r>
              <a:t>Precomputado sobre OGUsers (sin recalcular): heatmap Delta entre los usuarios más activos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Señal combinada de atribución cross-foro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Ninguna señal sola basta para afirmar que dos usuarios son la misma persona</a:t>
            </a:r>
          </a:p>
          <a:p>
            <a:r>
              <a:t>Handle exacto o fuzzy: señal fuerte pero eludible (cambiar nombre es trivial)</a:t>
            </a:r>
          </a:p>
          <a:p>
            <a:r>
              <a:t>Similitud coseno de embeddings: captura estilo aunque el handle cambie</a:t>
            </a:r>
          </a:p>
          <a:p>
            <a:r>
              <a:t>Burrows' Delta cross-foro: misma distribución de palabras función → mismo autor</a:t>
            </a:r>
          </a:p>
          <a:p>
            <a:r>
              <a:t>Combinación: score = (handle_sim + 1 - delta_norm + embedding_sim) / 3</a:t>
            </a:r>
          </a:p>
          <a:p>
            <a:r>
              <a:t>Threshold práctico: score &gt; 0.7 con ≥2 señales → candidato de alta prioridad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matching cross-foro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HackingForums/03_analisis_semantico.ipynb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03_analisis_semantico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7: similitud coseno cross-foro sobre los candidatos de pivoting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8: heatmap de Burrows' Delta (OGUsers) y score combinado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Observar los top candidatos a identidad compartida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5</a:t>
            </a:r>
          </a:p>
          <a:p>
            <a:pPr algn="ctr"/>
            <a:r>
              <a:t>Conclusiones y aprendizajes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Qué nos enseña el caso HackingForums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Bug real: IPS 3.x sin prefijo → falso positivo MyBB (3.2M posts perdidos)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Idioma mixto: Exploit.in ruso requiere pipeline separado en cada capa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Epoch-0: timestamps nulos distorsionan todo el análisis temporal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Cross-foro: handles exactos + fuzzy + embeddings = señal robusta de identidad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qwen3-embedding multilingual: un solo modelo para 5 foros en 2 idiomas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Aprendizajes metodológicos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Detectar idioma ANTES de cualquier modelo NLP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Testear parsers con dumps reales — los schemas reales divergen del estándar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Validar rango de fechas antes de cualquier análisis temporal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La convergencia de señales supera a cualquier métrica aislada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El muestreo por longitud (top-N posts más largos) preserva señal estilométrica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¿Por qué este caso importa?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Los foros underground no operan en silos — los usuarios se mueven entre plataformas</a:t>
            </a:r>
          </a:p>
          <a:p>
            <a:r>
              <a:t>El pivoting de handles es la técnica central de atribución en threat intelligence</a:t>
            </a:r>
          </a:p>
          <a:p>
            <a:r>
              <a:t>Un solo bug de parser puede dejar fuera millones de posts — la ingeniería importa</a:t>
            </a:r>
          </a:p>
          <a:p>
            <a:r>
              <a:t>El idioma original es siempre mejor para estilometría, aunque dificulte el análisis</a:t>
            </a:r>
          </a:p>
          <a:p>
            <a:r>
              <a:t>Con 5 foros y 5 años de datos, este caso captura la evolución del ecosistema hacking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8A314A4-8185-4B55-A7CC-3A7CEDA94EDA}" vid="{7ECAA45A-5413-4556-941F-0D1EE0EF77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05317-1252-447c-bd21-893b663df9a8">
      <Terms xmlns="http://schemas.microsoft.com/office/infopath/2007/PartnerControls"/>
    </lcf76f155ced4ddcb4097134ff3c332f>
    <TaxCatchAll xmlns="82e8a8cd-2885-4bb5-8083-20f3ed61e7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98B10A8FC55C4B8C984524186865FF" ma:contentTypeVersion="11" ma:contentTypeDescription="Crear nuevo documento." ma:contentTypeScope="" ma:versionID="61ecef6567a032f588d7b796b0096457">
  <xsd:schema xmlns:xsd="http://www.w3.org/2001/XMLSchema" xmlns:xs="http://www.w3.org/2001/XMLSchema" xmlns:p="http://schemas.microsoft.com/office/2006/metadata/properties" xmlns:ns2="91505317-1252-447c-bd21-893b663df9a8" xmlns:ns3="82e8a8cd-2885-4bb5-8083-20f3ed61e7f2" targetNamespace="http://schemas.microsoft.com/office/2006/metadata/properties" ma:root="true" ma:fieldsID="3acf16c84cbe939f4efc210e3967d453" ns2:_="" ns3:_="">
    <xsd:import namespace="91505317-1252-447c-bd21-893b663df9a8"/>
    <xsd:import namespace="82e8a8cd-2885-4bb5-8083-20f3ed61e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05317-1252-447c-bd21-893b663df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8a8cd-2885-4bb5-8083-20f3ed61e7f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23810e-d2cb-40f5-8814-ec88b3cf0e80}" ma:internalName="TaxCatchAll" ma:showField="CatchAllData" ma:web="82e8a8cd-2885-4bb5-8083-20f3ed61e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40DA36-330E-4724-B0DD-2D2DF8C87B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D3338C-90C1-4611-94F3-1777FF5BD484}">
  <ds:schemaRefs>
    <ds:schemaRef ds:uri="http://schemas.microsoft.com/office/2006/metadata/properties"/>
    <ds:schemaRef ds:uri="http://schemas.microsoft.com/office/infopath/2007/PartnerControls"/>
    <ds:schemaRef ds:uri="91505317-1252-447c-bd21-893b663df9a8"/>
    <ds:schemaRef ds:uri="82e8a8cd-2885-4bb5-8083-20f3ed61e7f2"/>
  </ds:schemaRefs>
</ds:datastoreItem>
</file>

<file path=customXml/itemProps3.xml><?xml version="1.0" encoding="utf-8"?>
<ds:datastoreItem xmlns:ds="http://schemas.openxmlformats.org/officeDocument/2006/customXml" ds:itemID="{212D29BC-2FDC-48FD-AB0D-B3A0D33AA8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05317-1252-447c-bd21-893b663df9a8"/>
    <ds:schemaRef ds:uri="82e8a8cd-2885-4bb5-8083-20f3ed61e7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PresentaciónCyberSBC2023_esp</Template>
  <TotalTime>89</TotalTime>
  <Words>0</Words>
  <Application>Microsoft Macintosh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Marta Torralbo Calero</dc:creator>
  <cp:lastModifiedBy>Lozano, Maria</cp:lastModifiedBy>
  <cp:revision>4</cp:revision>
  <dcterms:created xsi:type="dcterms:W3CDTF">2024-03-27T14:17:30Z</dcterms:created>
  <dcterms:modified xsi:type="dcterms:W3CDTF">2026-04-24T15:58:42Z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0x0101006C98B10A8FC55C4B8C984524186865FF</vt:lpwstr>
  </property>
</Properties>
</file>