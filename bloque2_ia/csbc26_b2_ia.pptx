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al bloque de IA aplicada al análisis forense de leaks underground. En la próxima hora vamos a ver tres herramientas concretas: embeddings semánticos, LLMs locales para extracción de entidades y estilometría computacional para atribución de autoría. El hilo conductor es uno solo: cuando el vocabulario cambia cada semana y el actor cambia de handle, ¿cómo seguimos identificando a la misma persona? Todo lo que veamos hoy corre en local, sin mandar un solo byte de datos sensibles a una API externa.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Arrancamos con el problema, no con la solución. Antes de hablar de embeddings o LLMs, hay que entender por qué el text mining de toda la vida se queda corto en este dominio. Vamos a ver por qué TF-IDF y LDA fallan cuando el vocabulario cambia deliberadamente.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 retórica para abrir: si dos posts hablan exactamente de lo mismo pero no comparten ni una palabra, ¿qué hace TF-IDF con eso? Nada — los ve como completamente distintos. Ese es el problema central. El leetspeak y los eufemismos no son ruido accidental, son diseño deliberado para evadir precisamente este tipo de detección por palabras clave. Esto nos lleva directo a embeddings: necesitamos significado, no símbolos.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sección: embeddings. La idea que quiero que se lleven es simple — significado como posición en un espacio vectorial. Con eso resuelto, todo lo demás (clustering, similitud, atribución de estilo) se convierte en geometría, algo que las máquinas hacen muy bien.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ejemplo de 'rat' y 'trojan' es clave: sin compartir ni una letra, un embedding los ubica cerca porque el contexto de uso es casi idéntico. Eso es exactamente lo que necesitábamos tras la diapositiva anterior. Y el ejemplo bilingüe muestra algo que vamos a explotar mucho: con el modelo correcto, el idioma deja de ser una barrera para comparar contenido. Esto es la puerta de entrada a todo lo que viene: clustering y estilometría.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elección no es un detalle técnico menor, es una decisión de diseño que condiciona todo el análisis posterior. En foros underground reales casi siempre hay mezcla de idiomas — ruso, inglés, español, a veces en el mismo post. Si usan un modelo monolingüe ahí, están tirando información a la basura sin darse cuenta. La regla de la derecha es la que aplicamos por defecto en este curso.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probablemente la regla más importante de toda la sesión, así que conviene remarcarla: para embeddings y estilometría, NUNCA traducir antes de vectorizar. La traducción automática homogeneiza la sintaxis, y esa sintaxis es justamente la huella que buscamos preservar. Ojo con la trampa: en la siguiente sección vamos a ver que para NER la regla se invierte. No es contradicción, es que cada técnica busca una señal distinta.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sale de medir directamente sobre IronMarch, no son números de un paper. Lo interesante es que full centroid (E, 9 horas) apenas gana 14 puntos de Spearman frente a top-100 (3h33), así que en la práctica casi nunca se justifica. La pregunta que hay que hacerse antes de elegir estrategia es cuántos posts tiene un usuario típico en el dataset — eso determina todo.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es el reverso de la anterior: D es la opción general, pero no es la única respuesta correcta. Si están en una fase de exploración rápida, no tiene sentido esperar horas de GPU — usen A e itere. La recomendación práctica, y esto vale para cualquier decisión de estrategia en este curso, es medir antes de decidir, no asumir.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Cambiamos de tema: de embeddings a LLMs locales. Aquí la palabra clave es 'local' — con leaks que contienen datos de personas reales, mandar texto a una API externa no es una opción sobre la mesa, es una línea roja. Vamos a ver cómo hacer NER de dominio específico sin salir de nuestra propia infraestructura.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vale ser honestos con el tradeoff: sí, un modelo local cuantizado es más lento que llamar a una API de última generación. Pero la pregunta no es velocidad, es riesgo — si un dato de una víctima real termina en los logs de entrenamiento de un tercero, no hay marcha atrás. 16GB de RAM y unos segundos de espera es un precio bajo comparado con eso. Con la regla clara, pasamos a ver cómo se usa ese modelo local para extraer entidades.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 donde conviene contrastar explícitamente con la regla de embeddings que vimos antes: para NER SÍ es aceptable traducir primero, porque lo que buscamos es la entidad (un CVE, una wallet, un alias), no el estilo del autor. No es que nos hayamos olvidado de la regla anterior, es que cada técnica mide una señal distinta y hay que tratarlas distinto. El checkpoint automático no es un detalle menor: con miles de posts, un corte a mitad de proceso sin guardar es tiempo de GPU perdido.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todo lo que llevamos visto y conviene dejarla un momento en pantalla para que se asiente. La pregunta que deberían hacerse siempre antes de traducir es: ¿la señal que busco vive en el estilo o en el contenido? Si vive en el estilo, jamás traducir. Si vive en el contenido, la traducción puede incluso ayudar. Con esto cerramos la sección de LLMs y pasamos a la pieza que conecta todo: estilometría computacional.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Última sección de contenido antes de la demo. Estilometría es donde todo lo anterior converge: usamos embeddings para similitud de estilo, y ahora vamos a sumar un método clásico y muy sólido, Burrows' Delta, para atribución de autoría. La pregunta de fondo que perseguimos toda la sesión: ¿es la misma persona detrás de dos handles distintos?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elegante de Burrows' Delta es que mide justo lo que un autor no controla conscientemente: cómo usa 'de', 'que', 'para'. Nadie edita conscientemente sus preposiciones para disimular su estilo. Pero hay que ser honestos con la limitación: en un foro donde todos comparten la misma jerga ideológica, el poder discriminante cae porque el vocabulario funcional se homogeneiza también. Por eso nunca usamos Delta solo — siempre en conjunto con otras señales, que es justo el tema de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de cierre conceptual del bloque, así que vale la pena marcarla bien: ninguna señal aislada constituye prueba de identidad, y hay que decirlo así de claro para evitar sobreinterpretación. Un handle parecido puede ser coincidencia; una similitud de embeddings puede ser tema compartido, no autor compartido. Lo que da fuerza al análisis es la convergencia de varias señales independientes apuntando al mismo candidato. Con esta idea cerramos la teoría y pasamos a verlo en vivo con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a la práctica. Vamos a abrir el notebook en vivo y correr el pipeline completo sobre datos reales de CardingForums: generar embeddings, reducir dimensionalidad con UMAP, agrupar con HDBSCAN sin fijar de antemano cuántos clusters esperamos, y finalmente calcular similitud coseno entre pares de usuarios. La idea es que vean con sus propios ojos que los clusters emergen solos, sin que nosotros les digamos cuántos grupos buscar. Cualquier duda, la paramos aquí y la resolvemos antes de seguir.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Técnicas de análisis: IA</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Embeddings, LLMs locales y estilometría computacional</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Bloque 2 · 1h</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Por qué los métodos clásicos no son suficientes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El vocabulario underground es opaco por diseño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Las limitaciones del text mining clásico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TF-IDF y LDA tratan palabras como símbolos independientes</a:t>
            </a:r>
          </a:p>
          <a:p>
            <a:pPr algn="l" marL="0" indent="-228600"/>
            <a:r>
              <a:rPr sz="2000" b="0">
                <a:solidFill>
                  <a:srgbClr val="B8C0CC"/>
                </a:solidFill>
                <a:latin typeface="Calibri"/>
              </a:rPr>
              <a:t>▸  En underground el lenguaje es opaco: abreviaciones, leetspeak, eufemismos que cambian semana a semana</a:t>
            </a:r>
          </a:p>
          <a:p>
            <a:pPr algn="l" marL="0" indent="-228600"/>
            <a:r>
              <a:rPr sz="2000" b="0">
                <a:solidFill>
                  <a:srgbClr val="B8C0CC"/>
                </a:solidFill>
                <a:latin typeface="Calibri"/>
              </a:rPr>
              <a:t>▸  Dos posts sobre lo mismo pueden no compartir ni una sola palabra</a:t>
            </a:r>
          </a:p>
          <a:p>
            <a:pPr algn="l" marL="0" indent="-228600"/>
            <a:r>
              <a:rPr sz="2000" b="0">
                <a:solidFill>
                  <a:srgbClr val="B8C0CC"/>
                </a:solidFill>
                <a:latin typeface="Calibri"/>
              </a:rPr>
              <a:t>▸  Un actor que cambia de handle también puede cambiar de vocabulario deliberadamente</a:t>
            </a:r>
          </a:p>
          <a:p>
            <a:pPr algn="l" marL="0" indent="-228600"/>
            <a:r>
              <a:rPr sz="2000" b="0">
                <a:solidFill>
                  <a:srgbClr val="B8C0CC"/>
                </a:solidFill>
                <a:latin typeface="Calibri"/>
              </a:rPr>
              <a:t>▸  Necesitamos representaciones que capturen significado más allá de la frecuencia de tokens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Embeddings — representaciones densas de significado</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La geometría del texto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¿Qué es un embedding?</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Transforma texto en vector numérico donde distancia geométrica = similitud semántica</a:t>
            </a:r>
          </a:p>
          <a:p>
            <a:pPr algn="l" marL="0" indent="-228600"/>
            <a:r>
              <a:rPr sz="2000" b="0">
                <a:solidFill>
                  <a:srgbClr val="B8C0CC"/>
                </a:solidFill>
                <a:latin typeface="Calibri"/>
              </a:rPr>
              <a:t>▸  'rat' y 'trojan' en contexto underground quedan cerca aunque no compartan letras</a:t>
            </a:r>
          </a:p>
          <a:p>
            <a:pPr algn="l" marL="0" indent="-228600"/>
            <a:r>
              <a:rPr sz="2000" b="0">
                <a:solidFill>
                  <a:srgbClr val="B8C0CC"/>
                </a:solidFill>
                <a:latin typeface="Calibri"/>
              </a:rPr>
              <a:t>▸  'password' y 'contraseña' quedan cerca aunque sean idiomas distintos (modelos multilingües)</a:t>
            </a:r>
          </a:p>
          <a:p>
            <a:pPr algn="l" marL="0" indent="-228600"/>
            <a:r>
              <a:rPr sz="2000" b="0">
                <a:solidFill>
                  <a:srgbClr val="B8C0CC"/>
                </a:solidFill>
                <a:latin typeface="Calibri"/>
              </a:rPr>
              <a:t>▸  Permite clustering de usuarios por comportamiento de escritura sin depender del vocabulario exacto</a:t>
            </a:r>
          </a:p>
          <a:p>
            <a:pPr algn="l" marL="0" indent="-228600"/>
            <a:r>
              <a:rPr sz="2000" b="0">
                <a:solidFill>
                  <a:srgbClr val="B8C0CC"/>
                </a:solidFill>
                <a:latin typeface="Calibri"/>
              </a:rPr>
              <a:t>▸  Base de la estilometría computacional: la huella digital del escritor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Modelos de embedding — elección crítica</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Modelos monolingües (inglés)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Mejor rendimiento en inglés puro</a:t>
            </a:r>
          </a:p>
          <a:p>
            <a:r>
              <a:rPr sz="1800">
                <a:solidFill>
                  <a:srgbClr val="B8C0CC"/>
                </a:solidFill>
                <a:latin typeface="Calibri"/>
              </a:rPr>
              <a:t>▸  Fallan con texto mixto o multilingüe</a:t>
            </a:r>
          </a:p>
          <a:p>
            <a:r>
              <a:rPr sz="1800">
                <a:solidFill>
                  <a:srgbClr val="B8C0CC"/>
                </a:solidFill>
                <a:latin typeface="Calibri"/>
              </a:rPr>
              <a:t>▸  text-embedding-ada-002, nomic-embed-text</a:t>
            </a:r>
          </a:p>
          <a:p>
            <a:r>
              <a:rPr sz="1800">
                <a:solidFill>
                  <a:srgbClr val="B8C0CC"/>
                </a:solidFill>
                <a:latin typeface="Calibri"/>
              </a:rPr>
              <a:t>▸  Requieren traducción previa para otros idiomas</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Modelos multilingües</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Espacio vectorial compartido entre idiomas</a:t>
            </a:r>
          </a:p>
          <a:p>
            <a:r>
              <a:rPr sz="1800">
                <a:solidFill>
                  <a:srgbClr val="B8C0CC"/>
                </a:solidFill>
                <a:latin typeface="Calibri"/>
              </a:rPr>
              <a:t>▸  Un post en ruso y uno en inglés sobre lo mismo → cercanos</a:t>
            </a:r>
          </a:p>
          <a:p>
            <a:r>
              <a:rPr sz="1800">
                <a:solidFill>
                  <a:srgbClr val="B8C0CC"/>
                </a:solidFill>
                <a:latin typeface="Calibri"/>
              </a:rPr>
              <a:t>▸  qwen3-embedding (4096D), multilingual-e5</a:t>
            </a:r>
          </a:p>
          <a:p>
            <a:r>
              <a:rPr sz="1800">
                <a:solidFill>
                  <a:srgbClr val="B8C0CC"/>
                </a:solidFill>
                <a:latin typeface="Calibri"/>
              </a:rPr>
              <a:t>▸  Regla: si hay mezcla de idiomas, siempre multilingüe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La regla del idioma original en embeddings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Para embeddings y estilometría: SIEMPRE trabajar en el idioma original</a:t>
            </a:r>
          </a:p>
          <a:p>
            <a:pPr algn="l" marL="0" indent="-228600"/>
            <a:r>
              <a:rPr sz="2000" b="0">
                <a:solidFill>
                  <a:srgbClr val="B8C0CC"/>
                </a:solidFill>
                <a:latin typeface="Calibri"/>
              </a:rPr>
              <a:t>▸  Traducir antes de embedear destruye la huella lingüística del autor</a:t>
            </a:r>
          </a:p>
          <a:p>
            <a:pPr algn="l" marL="0" indent="-228600"/>
            <a:r>
              <a:rPr sz="2000" b="0">
                <a:solidFill>
                  <a:srgbClr val="B8C0CC"/>
                </a:solidFill>
                <a:latin typeface="Calibri"/>
              </a:rPr>
              <a:t>▸  La huella es precisamente lo que queremos preservar para atribución de autoría</a:t>
            </a:r>
          </a:p>
          <a:p>
            <a:pPr algn="l" marL="0" indent="-228600"/>
            <a:r>
              <a:rPr sz="2000" b="0">
                <a:solidFill>
                  <a:srgbClr val="B8C0CC"/>
                </a:solidFill>
                <a:latin typeface="Calibri"/>
              </a:rPr>
              <a:t>▸  Un actor que escribe en ruso con ciertos tics sintácticos → esos tics desaparecen al traducir</a:t>
            </a:r>
          </a:p>
          <a:p>
            <a:pPr algn="l" marL="0" indent="-228600"/>
            <a:r>
              <a:rPr sz="2000" b="0">
                <a:solidFill>
                  <a:srgbClr val="B8C0CC"/>
                </a:solidFill>
                <a:latin typeface="Calibri"/>
              </a:rPr>
              <a:t>▸  Contraste con NER/topic modeling: ahí la traducción puede mejorar resultados (ver siguiente sección)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¿Cuántos posts embedear por usuario? — comparativa de estrategias</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2011680" cy="438912"/>
          </a:xfrm>
          <a:prstGeom prst="rect">
            <a:avLst/>
          </a:prstGeom>
          <a:noFill/>
        </p:spPr>
        <p:txBody>
          <a:bodyPr wrap="square">
            <a:spAutoFit/>
          </a:bodyPr>
          <a:lstStyle/>
          <a:p>
            <a:pPr algn="l"/>
            <a:r>
              <a:rPr sz="1400" b="1">
                <a:solidFill>
                  <a:srgbClr val="FFFFFF"/>
                </a:solidFill>
                <a:latin typeface="Calibri"/>
              </a:rPr>
              <a:t>Estrategia</a:t>
            </a:r>
          </a:p>
        </p:txBody>
      </p:sp>
      <p:sp>
        <p:nvSpPr>
          <p:cNvPr id="6" name="TextBox 5"/>
          <p:cNvSpPr txBox="1"/>
          <p:nvPr/>
        </p:nvSpPr>
        <p:spPr>
          <a:xfrm>
            <a:off x="2697480" y="1385880"/>
            <a:ext cx="2011680" cy="438912"/>
          </a:xfrm>
          <a:prstGeom prst="rect">
            <a:avLst/>
          </a:prstGeom>
          <a:noFill/>
        </p:spPr>
        <p:txBody>
          <a:bodyPr wrap="square">
            <a:spAutoFit/>
          </a:bodyPr>
          <a:lstStyle/>
          <a:p>
            <a:pPr algn="l"/>
            <a:r>
              <a:rPr sz="1400" b="1">
                <a:solidFill>
                  <a:srgbClr val="FFFFFF"/>
                </a:solidFill>
                <a:latin typeface="Calibri"/>
              </a:rPr>
              <a:t>Posts por usuario</a:t>
            </a:r>
          </a:p>
        </p:txBody>
      </p:sp>
      <p:sp>
        <p:nvSpPr>
          <p:cNvPr id="7" name="TextBox 6"/>
          <p:cNvSpPr txBox="1"/>
          <p:nvPr/>
        </p:nvSpPr>
        <p:spPr>
          <a:xfrm>
            <a:off x="4800600" y="1385880"/>
            <a:ext cx="2011680" cy="438912"/>
          </a:xfrm>
          <a:prstGeom prst="rect">
            <a:avLst/>
          </a:prstGeom>
          <a:noFill/>
        </p:spPr>
        <p:txBody>
          <a:bodyPr wrap="square">
            <a:spAutoFit/>
          </a:bodyPr>
          <a:lstStyle/>
          <a:p>
            <a:pPr algn="l"/>
            <a:r>
              <a:rPr sz="1400" b="1">
                <a:solidFill>
                  <a:srgbClr val="FFFFFF"/>
                </a:solidFill>
                <a:latin typeface="Calibri"/>
              </a:rPr>
              <a:t>GPU (IronMarch)</a:t>
            </a:r>
          </a:p>
        </p:txBody>
      </p:sp>
      <p:sp>
        <p:nvSpPr>
          <p:cNvPr id="8" name="TextBox 7"/>
          <p:cNvSpPr txBox="1"/>
          <p:nvPr/>
        </p:nvSpPr>
        <p:spPr>
          <a:xfrm>
            <a:off x="6903720" y="1385880"/>
            <a:ext cx="2011680" cy="438912"/>
          </a:xfrm>
          <a:prstGeom prst="rect">
            <a:avLst/>
          </a:prstGeom>
          <a:noFill/>
        </p:spPr>
        <p:txBody>
          <a:bodyPr wrap="square">
            <a:spAutoFit/>
          </a:bodyPr>
          <a:lstStyle/>
          <a:p>
            <a:pPr algn="l"/>
            <a:r>
              <a:rPr sz="1400" b="1">
                <a:solidFill>
                  <a:srgbClr val="FFFFFF"/>
                </a:solidFill>
                <a:latin typeface="Calibri"/>
              </a:rPr>
              <a:t>Spearman ρ vs. full</a:t>
            </a:r>
          </a:p>
        </p:txBody>
      </p:sp>
      <p:sp>
        <p:nvSpPr>
          <p:cNvPr id="9" name="TextBox 8"/>
          <p:cNvSpPr txBox="1"/>
          <p:nvPr/>
        </p:nvSpPr>
        <p:spPr>
          <a:xfrm>
            <a:off x="9006840" y="1385880"/>
            <a:ext cx="2011680" cy="438912"/>
          </a:xfrm>
          <a:prstGeom prst="rect">
            <a:avLst/>
          </a:prstGeom>
          <a:noFill/>
        </p:spPr>
        <p:txBody>
          <a:bodyPr wrap="square">
            <a:spAutoFit/>
          </a:bodyPr>
          <a:lstStyle/>
          <a:p>
            <a:pPr algn="l"/>
            <a:r>
              <a:rPr sz="1400" b="1">
                <a:solidFill>
                  <a:srgbClr val="FFFFFF"/>
                </a:solidFill>
                <a:latin typeface="Calibri"/>
              </a:rPr>
              <a:t>Cuándo usarla</a:t>
            </a:r>
          </a:p>
        </p:txBody>
      </p:sp>
      <p:sp>
        <p:nvSpPr>
          <p:cNvPr id="10" name="Rectangle 9"/>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814792"/>
            <a:ext cx="2011680" cy="438912"/>
          </a:xfrm>
          <a:prstGeom prst="rect">
            <a:avLst/>
          </a:prstGeom>
          <a:noFill/>
        </p:spPr>
        <p:txBody>
          <a:bodyPr wrap="square">
            <a:spAutoFit/>
          </a:bodyPr>
          <a:lstStyle/>
          <a:p>
            <a:pPr algn="l"/>
            <a:r>
              <a:rPr sz="1300" b="0">
                <a:solidFill>
                  <a:srgbClr val="B8C0CC"/>
                </a:solidFill>
                <a:latin typeface="Calibri"/>
              </a:rPr>
              <a:t>A — concat todo</a:t>
            </a:r>
          </a:p>
        </p:txBody>
      </p:sp>
      <p:sp>
        <p:nvSpPr>
          <p:cNvPr id="12" name="TextBox 11"/>
          <p:cNvSpPr txBox="1"/>
          <p:nvPr/>
        </p:nvSpPr>
        <p:spPr>
          <a:xfrm>
            <a:off x="2697480" y="1814792"/>
            <a:ext cx="2011680" cy="438912"/>
          </a:xfrm>
          <a:prstGeom prst="rect">
            <a:avLst/>
          </a:prstGeom>
          <a:noFill/>
        </p:spPr>
        <p:txBody>
          <a:bodyPr wrap="square">
            <a:spAutoFit/>
          </a:bodyPr>
          <a:lstStyle/>
          <a:p>
            <a:pPr algn="l"/>
            <a:r>
              <a:rPr sz="1300" b="0">
                <a:solidFill>
                  <a:srgbClr val="B8C0CC"/>
                </a:solidFill>
                <a:latin typeface="Calibri"/>
              </a:rPr>
              <a:t>todos (máx. 50K chars)</a:t>
            </a:r>
          </a:p>
        </p:txBody>
      </p:sp>
      <p:sp>
        <p:nvSpPr>
          <p:cNvPr id="13" name="TextBox 12"/>
          <p:cNvSpPr txBox="1"/>
          <p:nvPr/>
        </p:nvSpPr>
        <p:spPr>
          <a:xfrm>
            <a:off x="4800600" y="1814792"/>
            <a:ext cx="2011680" cy="438912"/>
          </a:xfrm>
          <a:prstGeom prst="rect">
            <a:avLst/>
          </a:prstGeom>
          <a:noFill/>
        </p:spPr>
        <p:txBody>
          <a:bodyPr wrap="square">
            <a:spAutoFit/>
          </a:bodyPr>
          <a:lstStyle/>
          <a:p>
            <a:pPr algn="l"/>
            <a:r>
              <a:rPr sz="1300" b="0">
                <a:solidFill>
                  <a:srgbClr val="B8C0CC"/>
                </a:solidFill>
                <a:latin typeface="Calibri"/>
              </a:rPr>
              <a:t>~12 min</a:t>
            </a:r>
          </a:p>
        </p:txBody>
      </p:sp>
      <p:sp>
        <p:nvSpPr>
          <p:cNvPr id="14" name="TextBox 13"/>
          <p:cNvSpPr txBox="1"/>
          <p:nvPr/>
        </p:nvSpPr>
        <p:spPr>
          <a:xfrm>
            <a:off x="6903720" y="1814792"/>
            <a:ext cx="2011680" cy="438912"/>
          </a:xfrm>
          <a:prstGeom prst="rect">
            <a:avLst/>
          </a:prstGeom>
          <a:noFill/>
        </p:spPr>
        <p:txBody>
          <a:bodyPr wrap="square">
            <a:spAutoFit/>
          </a:bodyPr>
          <a:lstStyle/>
          <a:p>
            <a:pPr algn="l"/>
            <a:r>
              <a:rPr sz="1300" b="0">
                <a:solidFill>
                  <a:srgbClr val="B8C0CC"/>
                </a:solidFill>
                <a:latin typeface="Calibri"/>
              </a:rPr>
              <a:t>—</a:t>
            </a:r>
          </a:p>
        </p:txBody>
      </p:sp>
      <p:sp>
        <p:nvSpPr>
          <p:cNvPr id="15" name="TextBox 14"/>
          <p:cNvSpPr txBox="1"/>
          <p:nvPr/>
        </p:nvSpPr>
        <p:spPr>
          <a:xfrm>
            <a:off x="9006840" y="1814792"/>
            <a:ext cx="2011680" cy="438912"/>
          </a:xfrm>
          <a:prstGeom prst="rect">
            <a:avLst/>
          </a:prstGeom>
          <a:noFill/>
        </p:spPr>
        <p:txBody>
          <a:bodyPr wrap="square">
            <a:spAutoFit/>
          </a:bodyPr>
          <a:lstStyle/>
          <a:p>
            <a:pPr algn="l"/>
            <a:r>
              <a:rPr sz="1300" b="0">
                <a:solidFill>
                  <a:srgbClr val="B8C0CC"/>
                </a:solidFill>
                <a:latin typeface="Calibri"/>
              </a:rPr>
              <a:t>Dataset pequeño o usuarios con pocos posts</a:t>
            </a:r>
          </a:p>
        </p:txBody>
      </p:sp>
      <p:sp>
        <p:nvSpPr>
          <p:cNvPr id="16" name="Rectangle 15"/>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253704"/>
            <a:ext cx="2011680" cy="438912"/>
          </a:xfrm>
          <a:prstGeom prst="rect">
            <a:avLst/>
          </a:prstGeom>
          <a:noFill/>
        </p:spPr>
        <p:txBody>
          <a:bodyPr wrap="square">
            <a:spAutoFit/>
          </a:bodyPr>
          <a:lstStyle/>
          <a:p>
            <a:pPr algn="l"/>
            <a:r>
              <a:rPr sz="1300" b="0">
                <a:solidFill>
                  <a:srgbClr val="B8C0CC"/>
                </a:solidFill>
                <a:latin typeface="Calibri"/>
              </a:rPr>
              <a:t>B — full centroid</a:t>
            </a:r>
          </a:p>
        </p:txBody>
      </p:sp>
      <p:sp>
        <p:nvSpPr>
          <p:cNvPr id="18" name="TextBox 17"/>
          <p:cNvSpPr txBox="1"/>
          <p:nvPr/>
        </p:nvSpPr>
        <p:spPr>
          <a:xfrm>
            <a:off x="2697480" y="2253704"/>
            <a:ext cx="2011680" cy="438912"/>
          </a:xfrm>
          <a:prstGeom prst="rect">
            <a:avLst/>
          </a:prstGeom>
          <a:noFill/>
        </p:spPr>
        <p:txBody>
          <a:bodyPr wrap="square">
            <a:spAutoFit/>
          </a:bodyPr>
          <a:lstStyle/>
          <a:p>
            <a:pPr algn="l"/>
            <a:r>
              <a:rPr sz="1300" b="0">
                <a:solidFill>
                  <a:srgbClr val="B8C0CC"/>
                </a:solidFill>
                <a:latin typeface="Calibri"/>
              </a:rPr>
              <a:t>todos</a:t>
            </a:r>
          </a:p>
        </p:txBody>
      </p:sp>
      <p:sp>
        <p:nvSpPr>
          <p:cNvPr id="19" name="TextBox 18"/>
          <p:cNvSpPr txBox="1"/>
          <p:nvPr/>
        </p:nvSpPr>
        <p:spPr>
          <a:xfrm>
            <a:off x="4800600" y="2253704"/>
            <a:ext cx="2011680" cy="438912"/>
          </a:xfrm>
          <a:prstGeom prst="rect">
            <a:avLst/>
          </a:prstGeom>
          <a:noFill/>
        </p:spPr>
        <p:txBody>
          <a:bodyPr wrap="square">
            <a:spAutoFit/>
          </a:bodyPr>
          <a:lstStyle/>
          <a:p>
            <a:pPr algn="l"/>
            <a:r>
              <a:rPr sz="1300" b="0">
                <a:solidFill>
                  <a:srgbClr val="B8C0CC"/>
                </a:solidFill>
                <a:latin typeface="Calibri"/>
              </a:rPr>
              <a:t>~9 h</a:t>
            </a:r>
          </a:p>
        </p:txBody>
      </p:sp>
      <p:sp>
        <p:nvSpPr>
          <p:cNvPr id="20" name="TextBox 19"/>
          <p:cNvSpPr txBox="1"/>
          <p:nvPr/>
        </p:nvSpPr>
        <p:spPr>
          <a:xfrm>
            <a:off x="6903720" y="2253704"/>
            <a:ext cx="2011680" cy="438912"/>
          </a:xfrm>
          <a:prstGeom prst="rect">
            <a:avLst/>
          </a:prstGeom>
          <a:noFill/>
        </p:spPr>
        <p:txBody>
          <a:bodyPr wrap="square">
            <a:spAutoFit/>
          </a:bodyPr>
          <a:lstStyle/>
          <a:p>
            <a:pPr algn="l"/>
            <a:r>
              <a:rPr sz="1300" b="0">
                <a:solidFill>
                  <a:srgbClr val="B8C0CC"/>
                </a:solidFill>
                <a:latin typeface="Calibri"/>
              </a:rPr>
              <a:t>1.000</a:t>
            </a:r>
          </a:p>
        </p:txBody>
      </p:sp>
      <p:sp>
        <p:nvSpPr>
          <p:cNvPr id="21" name="TextBox 20"/>
          <p:cNvSpPr txBox="1"/>
          <p:nvPr/>
        </p:nvSpPr>
        <p:spPr>
          <a:xfrm>
            <a:off x="9006840" y="2253704"/>
            <a:ext cx="2011680" cy="438912"/>
          </a:xfrm>
          <a:prstGeom prst="rect">
            <a:avLst/>
          </a:prstGeom>
          <a:noFill/>
        </p:spPr>
        <p:txBody>
          <a:bodyPr wrap="square">
            <a:spAutoFit/>
          </a:bodyPr>
          <a:lstStyle/>
          <a:p>
            <a:pPr algn="l"/>
            <a:r>
              <a:rPr sz="1300" b="0">
                <a:solidFill>
                  <a:srgbClr val="B8C0CC"/>
                </a:solidFill>
                <a:latin typeface="Calibri"/>
              </a:rPr>
              <a:t>Solo como referencia — inviable en producción</a:t>
            </a:r>
          </a:p>
        </p:txBody>
      </p:sp>
      <p:sp>
        <p:nvSpPr>
          <p:cNvPr id="22" name="Rectangle 21"/>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2692616"/>
            <a:ext cx="2011680" cy="438912"/>
          </a:xfrm>
          <a:prstGeom prst="rect">
            <a:avLst/>
          </a:prstGeom>
          <a:noFill/>
        </p:spPr>
        <p:txBody>
          <a:bodyPr wrap="square">
            <a:spAutoFit/>
          </a:bodyPr>
          <a:lstStyle/>
          <a:p>
            <a:pPr algn="l"/>
            <a:r>
              <a:rPr sz="1300" b="0">
                <a:solidFill>
                  <a:srgbClr val="B8C0CC"/>
                </a:solidFill>
                <a:latin typeface="Calibri"/>
              </a:rPr>
              <a:t>C — top-50</a:t>
            </a:r>
          </a:p>
        </p:txBody>
      </p:sp>
      <p:sp>
        <p:nvSpPr>
          <p:cNvPr id="24" name="TextBox 23"/>
          <p:cNvSpPr txBox="1"/>
          <p:nvPr/>
        </p:nvSpPr>
        <p:spPr>
          <a:xfrm>
            <a:off x="2697480" y="2692616"/>
            <a:ext cx="2011680" cy="438912"/>
          </a:xfrm>
          <a:prstGeom prst="rect">
            <a:avLst/>
          </a:prstGeom>
          <a:noFill/>
        </p:spPr>
        <p:txBody>
          <a:bodyPr wrap="square">
            <a:spAutoFit/>
          </a:bodyPr>
          <a:lstStyle/>
          <a:p>
            <a:pPr algn="l"/>
            <a:r>
              <a:rPr sz="1300" b="0">
                <a:solidFill>
                  <a:srgbClr val="B8C0CC"/>
                </a:solidFill>
                <a:latin typeface="Calibri"/>
              </a:rPr>
              <a:t>50 más largos</a:t>
            </a:r>
          </a:p>
        </p:txBody>
      </p:sp>
      <p:sp>
        <p:nvSpPr>
          <p:cNvPr id="25" name="TextBox 24"/>
          <p:cNvSpPr txBox="1"/>
          <p:nvPr/>
        </p:nvSpPr>
        <p:spPr>
          <a:xfrm>
            <a:off x="4800600" y="2692616"/>
            <a:ext cx="2011680" cy="438912"/>
          </a:xfrm>
          <a:prstGeom prst="rect">
            <a:avLst/>
          </a:prstGeom>
          <a:noFill/>
        </p:spPr>
        <p:txBody>
          <a:bodyPr wrap="square">
            <a:spAutoFit/>
          </a:bodyPr>
          <a:lstStyle/>
          <a:p>
            <a:pPr algn="l"/>
            <a:r>
              <a:rPr sz="1300" b="0">
                <a:solidFill>
                  <a:srgbClr val="B8C0CC"/>
                </a:solidFill>
                <a:latin typeface="Calibri"/>
              </a:rPr>
              <a:t>2h 35min</a:t>
            </a:r>
          </a:p>
        </p:txBody>
      </p:sp>
      <p:sp>
        <p:nvSpPr>
          <p:cNvPr id="26" name="TextBox 25"/>
          <p:cNvSpPr txBox="1"/>
          <p:nvPr/>
        </p:nvSpPr>
        <p:spPr>
          <a:xfrm>
            <a:off x="6903720" y="2692616"/>
            <a:ext cx="2011680" cy="438912"/>
          </a:xfrm>
          <a:prstGeom prst="rect">
            <a:avLst/>
          </a:prstGeom>
          <a:noFill/>
        </p:spPr>
        <p:txBody>
          <a:bodyPr wrap="square">
            <a:spAutoFit/>
          </a:bodyPr>
          <a:lstStyle/>
          <a:p>
            <a:pPr algn="l"/>
            <a:r>
              <a:rPr sz="1300" b="0">
                <a:solidFill>
                  <a:srgbClr val="B8C0CC"/>
                </a:solidFill>
                <a:latin typeface="Calibri"/>
              </a:rPr>
              <a:t>0.799</a:t>
            </a:r>
          </a:p>
        </p:txBody>
      </p:sp>
      <p:sp>
        <p:nvSpPr>
          <p:cNvPr id="27" name="TextBox 26"/>
          <p:cNvSpPr txBox="1"/>
          <p:nvPr/>
        </p:nvSpPr>
        <p:spPr>
          <a:xfrm>
            <a:off x="9006840" y="2692616"/>
            <a:ext cx="2011680" cy="438912"/>
          </a:xfrm>
          <a:prstGeom prst="rect">
            <a:avLst/>
          </a:prstGeom>
          <a:noFill/>
        </p:spPr>
        <p:txBody>
          <a:bodyPr wrap="square">
            <a:spAutoFit/>
          </a:bodyPr>
          <a:lstStyle/>
          <a:p>
            <a:pPr algn="l"/>
            <a:r>
              <a:rPr sz="1300" b="0">
                <a:solidFill>
                  <a:srgbClr val="B8C0CC"/>
                </a:solidFill>
                <a:latin typeface="Calibri"/>
              </a:rPr>
              <a:t>GPU limitada o usuarios con &lt;100 posts típicos</a:t>
            </a:r>
          </a:p>
        </p:txBody>
      </p:sp>
      <p:sp>
        <p:nvSpPr>
          <p:cNvPr id="28" name="Rectangle 27"/>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131528"/>
            <a:ext cx="2011680" cy="438912"/>
          </a:xfrm>
          <a:prstGeom prst="rect">
            <a:avLst/>
          </a:prstGeom>
          <a:noFill/>
        </p:spPr>
        <p:txBody>
          <a:bodyPr wrap="square">
            <a:spAutoFit/>
          </a:bodyPr>
          <a:lstStyle/>
          <a:p>
            <a:pPr algn="l"/>
            <a:r>
              <a:rPr sz="1300" b="0">
                <a:solidFill>
                  <a:srgbClr val="B8C0CC"/>
                </a:solidFill>
                <a:latin typeface="Calibri"/>
              </a:rPr>
              <a:t>D — top-100</a:t>
            </a:r>
          </a:p>
        </p:txBody>
      </p:sp>
      <p:sp>
        <p:nvSpPr>
          <p:cNvPr id="30" name="TextBox 29"/>
          <p:cNvSpPr txBox="1"/>
          <p:nvPr/>
        </p:nvSpPr>
        <p:spPr>
          <a:xfrm>
            <a:off x="2697480" y="3131528"/>
            <a:ext cx="2011680" cy="438912"/>
          </a:xfrm>
          <a:prstGeom prst="rect">
            <a:avLst/>
          </a:prstGeom>
          <a:noFill/>
        </p:spPr>
        <p:txBody>
          <a:bodyPr wrap="square">
            <a:spAutoFit/>
          </a:bodyPr>
          <a:lstStyle/>
          <a:p>
            <a:pPr algn="l"/>
            <a:r>
              <a:rPr sz="1300" b="0">
                <a:solidFill>
                  <a:srgbClr val="B8C0CC"/>
                </a:solidFill>
                <a:latin typeface="Calibri"/>
              </a:rPr>
              <a:t>100 más largos</a:t>
            </a:r>
          </a:p>
        </p:txBody>
      </p:sp>
      <p:sp>
        <p:nvSpPr>
          <p:cNvPr id="31" name="TextBox 30"/>
          <p:cNvSpPr txBox="1"/>
          <p:nvPr/>
        </p:nvSpPr>
        <p:spPr>
          <a:xfrm>
            <a:off x="4800600" y="3131528"/>
            <a:ext cx="2011680" cy="438912"/>
          </a:xfrm>
          <a:prstGeom prst="rect">
            <a:avLst/>
          </a:prstGeom>
          <a:noFill/>
        </p:spPr>
        <p:txBody>
          <a:bodyPr wrap="square">
            <a:spAutoFit/>
          </a:bodyPr>
          <a:lstStyle/>
          <a:p>
            <a:pPr algn="l"/>
            <a:r>
              <a:rPr sz="1300" b="0">
                <a:solidFill>
                  <a:srgbClr val="B8C0CC"/>
                </a:solidFill>
                <a:latin typeface="Calibri"/>
              </a:rPr>
              <a:t>3h 33min</a:t>
            </a:r>
          </a:p>
        </p:txBody>
      </p:sp>
      <p:sp>
        <p:nvSpPr>
          <p:cNvPr id="32" name="TextBox 31"/>
          <p:cNvSpPr txBox="1"/>
          <p:nvPr/>
        </p:nvSpPr>
        <p:spPr>
          <a:xfrm>
            <a:off x="6903720" y="3131528"/>
            <a:ext cx="2011680" cy="438912"/>
          </a:xfrm>
          <a:prstGeom prst="rect">
            <a:avLst/>
          </a:prstGeom>
          <a:noFill/>
        </p:spPr>
        <p:txBody>
          <a:bodyPr wrap="square">
            <a:spAutoFit/>
          </a:bodyPr>
          <a:lstStyle/>
          <a:p>
            <a:pPr algn="l"/>
            <a:r>
              <a:rPr sz="1300" b="0">
                <a:solidFill>
                  <a:srgbClr val="B8C0CC"/>
                </a:solidFill>
                <a:latin typeface="Calibri"/>
              </a:rPr>
              <a:t>0.860</a:t>
            </a:r>
          </a:p>
        </p:txBody>
      </p:sp>
      <p:sp>
        <p:nvSpPr>
          <p:cNvPr id="33" name="TextBox 32"/>
          <p:cNvSpPr txBox="1"/>
          <p:nvPr/>
        </p:nvSpPr>
        <p:spPr>
          <a:xfrm>
            <a:off x="9006840" y="3131528"/>
            <a:ext cx="2011680" cy="438912"/>
          </a:xfrm>
          <a:prstGeom prst="rect">
            <a:avLst/>
          </a:prstGeom>
          <a:noFill/>
        </p:spPr>
        <p:txBody>
          <a:bodyPr wrap="square">
            <a:spAutoFit/>
          </a:bodyPr>
          <a:lstStyle/>
          <a:p>
            <a:pPr algn="l"/>
            <a:r>
              <a:rPr sz="1300" b="0">
                <a:solidFill>
                  <a:srgbClr val="B8C0CC"/>
                </a:solidFill>
                <a:latin typeface="Calibri"/>
              </a:rPr>
              <a:t>Caso general — mejor ratio fidelidad/coste</a:t>
            </a:r>
          </a:p>
        </p:txBody>
      </p:sp>
      <p:sp>
        <p:nvSpPr>
          <p:cNvPr id="34" name="Rectangle 33"/>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3570440"/>
            <a:ext cx="2011680" cy="438912"/>
          </a:xfrm>
          <a:prstGeom prst="rect">
            <a:avLst/>
          </a:prstGeom>
          <a:noFill/>
        </p:spPr>
        <p:txBody>
          <a:bodyPr wrap="square">
            <a:spAutoFit/>
          </a:bodyPr>
          <a:lstStyle/>
          <a:p>
            <a:pPr algn="l"/>
            <a:r>
              <a:rPr sz="1300" b="0">
                <a:solidFill>
                  <a:srgbClr val="B8C0CC"/>
                </a:solidFill>
                <a:latin typeface="Calibri"/>
              </a:rPr>
              <a:t>E — top-150</a:t>
            </a:r>
          </a:p>
        </p:txBody>
      </p:sp>
      <p:sp>
        <p:nvSpPr>
          <p:cNvPr id="36" name="TextBox 35"/>
          <p:cNvSpPr txBox="1"/>
          <p:nvPr/>
        </p:nvSpPr>
        <p:spPr>
          <a:xfrm>
            <a:off x="2697480" y="3570440"/>
            <a:ext cx="2011680" cy="438912"/>
          </a:xfrm>
          <a:prstGeom prst="rect">
            <a:avLst/>
          </a:prstGeom>
          <a:noFill/>
        </p:spPr>
        <p:txBody>
          <a:bodyPr wrap="square">
            <a:spAutoFit/>
          </a:bodyPr>
          <a:lstStyle/>
          <a:p>
            <a:pPr algn="l"/>
            <a:r>
              <a:rPr sz="1300" b="0">
                <a:solidFill>
                  <a:srgbClr val="B8C0CC"/>
                </a:solidFill>
                <a:latin typeface="Calibri"/>
              </a:rPr>
              <a:t>150 más largos</a:t>
            </a:r>
          </a:p>
        </p:txBody>
      </p:sp>
      <p:sp>
        <p:nvSpPr>
          <p:cNvPr id="37" name="TextBox 36"/>
          <p:cNvSpPr txBox="1"/>
          <p:nvPr/>
        </p:nvSpPr>
        <p:spPr>
          <a:xfrm>
            <a:off x="4800600" y="3570440"/>
            <a:ext cx="2011680" cy="438912"/>
          </a:xfrm>
          <a:prstGeom prst="rect">
            <a:avLst/>
          </a:prstGeom>
          <a:noFill/>
        </p:spPr>
        <p:txBody>
          <a:bodyPr wrap="square">
            <a:spAutoFit/>
          </a:bodyPr>
          <a:lstStyle/>
          <a:p>
            <a:pPr algn="l"/>
            <a:r>
              <a:rPr sz="1300" b="0">
                <a:solidFill>
                  <a:srgbClr val="B8C0CC"/>
                </a:solidFill>
                <a:latin typeface="Calibri"/>
              </a:rPr>
              <a:t>4h 12min</a:t>
            </a:r>
          </a:p>
        </p:txBody>
      </p:sp>
      <p:sp>
        <p:nvSpPr>
          <p:cNvPr id="38" name="TextBox 37"/>
          <p:cNvSpPr txBox="1"/>
          <p:nvPr/>
        </p:nvSpPr>
        <p:spPr>
          <a:xfrm>
            <a:off x="6903720" y="3570440"/>
            <a:ext cx="2011680" cy="438912"/>
          </a:xfrm>
          <a:prstGeom prst="rect">
            <a:avLst/>
          </a:prstGeom>
          <a:noFill/>
        </p:spPr>
        <p:txBody>
          <a:bodyPr wrap="square">
            <a:spAutoFit/>
          </a:bodyPr>
          <a:lstStyle/>
          <a:p>
            <a:pPr algn="l"/>
            <a:r>
              <a:rPr sz="1300" b="0">
                <a:solidFill>
                  <a:srgbClr val="B8C0CC"/>
                </a:solidFill>
                <a:latin typeface="Calibri"/>
              </a:rPr>
              <a:t>0.896</a:t>
            </a:r>
          </a:p>
        </p:txBody>
      </p:sp>
      <p:sp>
        <p:nvSpPr>
          <p:cNvPr id="39" name="TextBox 38"/>
          <p:cNvSpPr txBox="1"/>
          <p:nvPr/>
        </p:nvSpPr>
        <p:spPr>
          <a:xfrm>
            <a:off x="9006840" y="3570440"/>
            <a:ext cx="2011680" cy="438912"/>
          </a:xfrm>
          <a:prstGeom prst="rect">
            <a:avLst/>
          </a:prstGeom>
          <a:noFill/>
        </p:spPr>
        <p:txBody>
          <a:bodyPr wrap="square">
            <a:spAutoFit/>
          </a:bodyPr>
          <a:lstStyle/>
          <a:p>
            <a:pPr algn="l"/>
            <a:r>
              <a:rPr sz="1300" b="0">
                <a:solidFill>
                  <a:srgbClr val="B8C0CC"/>
                </a:solidFill>
                <a:latin typeface="Calibri"/>
              </a:rPr>
              <a:t>Máxima fidelidad con presupuesto de tiempo</a:t>
            </a:r>
          </a:p>
        </p:txBody>
      </p:sp>
      <p:sp>
        <p:nvSpPr>
          <p:cNvPr id="40" name="TextBox 39"/>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Regla práctica: mirar el percentil 90 de posts/usuario. Si P90 &lt; 50 → C=D=E (no hay suficientes posts). Si P90 &gt; 100 → D es el punto óptimo.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¿Cuándo NO usar D?</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Usuarios con pocos posts: si el 90% tiene menos de 50 posts → C, D y E dan el mismo resultado</a:t>
            </a:r>
          </a:p>
          <a:p>
            <a:pPr algn="l" marL="0" indent="-228600"/>
            <a:r>
              <a:rPr sz="2000" b="0">
                <a:solidFill>
                  <a:srgbClr val="B8C0CC"/>
                </a:solidFill>
                <a:latin typeface="Calibri"/>
              </a:rPr>
              <a:t>▸  Dataset muy grande (&gt;50K usuarios): C puede ser suficiente para reducir coste de GPU a la mitad</a:t>
            </a:r>
          </a:p>
          <a:p>
            <a:pPr algn="l" marL="0" indent="-228600"/>
            <a:r>
              <a:rPr sz="2000" b="0">
                <a:solidFill>
                  <a:srgbClr val="B8C0CC"/>
                </a:solidFill>
                <a:latin typeface="Calibri"/>
              </a:rPr>
              <a:t>▸  Exploración rápida: A (concat truncado) es el más rápido y sin muestreo — bueno para iterar</a:t>
            </a:r>
          </a:p>
          <a:p>
            <a:pPr algn="l" marL="0" indent="-228600"/>
            <a:r>
              <a:rPr sz="2000" b="0">
                <a:solidFill>
                  <a:srgbClr val="B8C0CC"/>
                </a:solidFill>
                <a:latin typeface="Calibri"/>
              </a:rPr>
              <a:t>▸  Corpus muy corto por usuario (tweets, mensajes de chat): A es mejor porque hay poco que muestrear</a:t>
            </a:r>
          </a:p>
          <a:p>
            <a:pPr algn="l" marL="0" indent="-228600"/>
            <a:r>
              <a:rPr sz="2000" b="0">
                <a:solidFill>
                  <a:srgbClr val="B8C0CC"/>
                </a:solidFill>
                <a:latin typeface="Calibri"/>
              </a:rPr>
              <a:t>▸  Regla: siempre revisar la distribución de posts/usuario ANTES de elegir estrategia (notebook 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LLMs locales y NER en dominio específico</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Privacidad no negociable con datos sensibles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La regla es simple: datos sensibles → modelo local</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Nunca se mandan leaks a APIs externas — ni OpenAI, ni Anthropic, ni Google</a:t>
            </a:r>
          </a:p>
          <a:p>
            <a:pPr algn="l" marL="0" indent="-228600"/>
            <a:r>
              <a:rPr sz="2000" b="0">
                <a:solidFill>
                  <a:srgbClr val="B8C0CC"/>
                </a:solidFill>
                <a:latin typeface="Calibri"/>
              </a:rPr>
              <a:t>▸  Ollama: corre modelos cuantizados (Q4/Q8) en hardware modesto sin salida de datos</a:t>
            </a:r>
          </a:p>
          <a:p>
            <a:pPr algn="l" marL="0" indent="-228600"/>
            <a:r>
              <a:rPr sz="2000" b="0">
                <a:solidFill>
                  <a:srgbClr val="B8C0CC"/>
                </a:solidFill>
                <a:latin typeface="Calibri"/>
              </a:rPr>
              <a:t>▸  qwen2.5:14b con Q4 → 16GB RAM, respuestas en segundos, sin nube</a:t>
            </a:r>
          </a:p>
          <a:p>
            <a:pPr algn="l" marL="0" indent="-228600"/>
            <a:r>
              <a:rPr sz="2000" b="0">
                <a:solidFill>
                  <a:srgbClr val="B8C0CC"/>
                </a:solidFill>
                <a:latin typeface="Calibri"/>
              </a:rPr>
              <a:t>▸  El tradeoff: latencia local vs. riesgo de fuga de datos de personas reales</a:t>
            </a:r>
          </a:p>
          <a:p>
            <a:pPr algn="l" marL="0" indent="-228600"/>
            <a:r>
              <a:rPr sz="2000" b="0">
                <a:solidFill>
                  <a:srgbClr val="B8C0CC"/>
                </a:solidFill>
                <a:latin typeface="Calibri"/>
              </a:rPr>
              <a:t>▸  Con datos underground, el riesgo supera siempre al coste de latencia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NER zero-shot en dominio underground</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NER estándar (spaCy, BERT) falla: no fue entrenado con texto underground</a:t>
            </a:r>
          </a:p>
          <a:p>
            <a:pPr algn="l" marL="0" indent="-228600"/>
            <a:r>
              <a:rPr sz="2000" b="0">
                <a:solidFill>
                  <a:srgbClr val="B8C0CC"/>
                </a:solidFill>
                <a:latin typeface="Calibri"/>
              </a:rPr>
              <a:t>▸  Zero-shot con LLM local: describir el tipo de entidad en el prompt, extraer directamente</a:t>
            </a:r>
          </a:p>
          <a:p>
            <a:pPr algn="l" marL="0" indent="-228600"/>
            <a:r>
              <a:rPr sz="2000" b="0">
                <a:solidFill>
                  <a:srgbClr val="B8C0CC"/>
                </a:solidFill>
                <a:latin typeface="Calibri"/>
              </a:rPr>
              <a:t>▸  Tipos de entidad útiles en este dominio: ALIAS, TOOL, MALWARE, CVE, MARKETPLACE, WALLET</a:t>
            </a:r>
          </a:p>
          <a:p>
            <a:pPr algn="l" marL="0" indent="-228600"/>
            <a:r>
              <a:rPr sz="2000" b="0">
                <a:solidFill>
                  <a:srgbClr val="B8C0CC"/>
                </a:solidFill>
                <a:latin typeface="Calibri"/>
              </a:rPr>
              <a:t>▸  Estrategia: muestra de top-N usuarios × top-M posts más largos + checkpoint automático</a:t>
            </a:r>
          </a:p>
          <a:p>
            <a:pPr algn="l" marL="0" indent="-228600"/>
            <a:r>
              <a:rPr sz="2000" b="0">
                <a:solidFill>
                  <a:srgbClr val="B8C0CC"/>
                </a:solidFill>
                <a:latin typeface="Calibri"/>
              </a:rPr>
              <a:t>▸  Para texto no inglés: el LLM rinde mejor en inglés → traducir el texto primero es aceptable</a:t>
            </a:r>
          </a:p>
          <a:p>
            <a:pPr algn="l" marL="0" indent="-228600"/>
            <a:r>
              <a:rPr sz="2000" b="0">
                <a:solidFill>
                  <a:srgbClr val="B8C0CC"/>
                </a:solidFill>
                <a:latin typeface="Calibri"/>
              </a:rPr>
              <a:t>▸  ¿Por qué es aceptable aquí? Para NER no importa el estilo, solo las entidades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Idioma original vs. traducción — regla según técnica</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2537460" cy="438912"/>
          </a:xfrm>
          <a:prstGeom prst="rect">
            <a:avLst/>
          </a:prstGeom>
          <a:noFill/>
        </p:spPr>
        <p:txBody>
          <a:bodyPr wrap="square">
            <a:spAutoFit/>
          </a:bodyPr>
          <a:lstStyle/>
          <a:p>
            <a:pPr algn="l"/>
            <a:r>
              <a:rPr sz="1400" b="1">
                <a:solidFill>
                  <a:srgbClr val="FFFFFF"/>
                </a:solidFill>
                <a:latin typeface="Calibri"/>
              </a:rPr>
              <a:t>Técnica</a:t>
            </a:r>
          </a:p>
        </p:txBody>
      </p:sp>
      <p:sp>
        <p:nvSpPr>
          <p:cNvPr id="6" name="TextBox 5"/>
          <p:cNvSpPr txBox="1"/>
          <p:nvPr/>
        </p:nvSpPr>
        <p:spPr>
          <a:xfrm>
            <a:off x="3223260" y="1385880"/>
            <a:ext cx="2537460" cy="438912"/>
          </a:xfrm>
          <a:prstGeom prst="rect">
            <a:avLst/>
          </a:prstGeom>
          <a:noFill/>
        </p:spPr>
        <p:txBody>
          <a:bodyPr wrap="square">
            <a:spAutoFit/>
          </a:bodyPr>
          <a:lstStyle/>
          <a:p>
            <a:pPr algn="l"/>
            <a:r>
              <a:rPr sz="1400" b="1">
                <a:solidFill>
                  <a:srgbClr val="FFFFFF"/>
                </a:solidFill>
                <a:latin typeface="Calibri"/>
              </a:rPr>
              <a:t>Original</a:t>
            </a:r>
          </a:p>
        </p:txBody>
      </p:sp>
      <p:sp>
        <p:nvSpPr>
          <p:cNvPr id="7" name="TextBox 6"/>
          <p:cNvSpPr txBox="1"/>
          <p:nvPr/>
        </p:nvSpPr>
        <p:spPr>
          <a:xfrm>
            <a:off x="5852160" y="1385880"/>
            <a:ext cx="2537460" cy="438912"/>
          </a:xfrm>
          <a:prstGeom prst="rect">
            <a:avLst/>
          </a:prstGeom>
          <a:noFill/>
        </p:spPr>
        <p:txBody>
          <a:bodyPr wrap="square">
            <a:spAutoFit/>
          </a:bodyPr>
          <a:lstStyle/>
          <a:p>
            <a:pPr algn="l"/>
            <a:r>
              <a:rPr sz="1400" b="1">
                <a:solidFill>
                  <a:srgbClr val="FFFFFF"/>
                </a:solidFill>
                <a:latin typeface="Calibri"/>
              </a:rPr>
              <a:t>Traducción</a:t>
            </a:r>
          </a:p>
        </p:txBody>
      </p:sp>
      <p:sp>
        <p:nvSpPr>
          <p:cNvPr id="8" name="TextBox 7"/>
          <p:cNvSpPr txBox="1"/>
          <p:nvPr/>
        </p:nvSpPr>
        <p:spPr>
          <a:xfrm>
            <a:off x="8481060" y="1385880"/>
            <a:ext cx="2537460" cy="438912"/>
          </a:xfrm>
          <a:prstGeom prst="rect">
            <a:avLst/>
          </a:prstGeom>
          <a:noFill/>
        </p:spPr>
        <p:txBody>
          <a:bodyPr wrap="square">
            <a:spAutoFit/>
          </a:bodyPr>
          <a:lstStyle/>
          <a:p>
            <a:pPr algn="l"/>
            <a:r>
              <a:rPr sz="1400" b="1">
                <a:solidFill>
                  <a:srgbClr val="FFFFFF"/>
                </a:solidFill>
                <a:latin typeface="Calibri"/>
              </a:rPr>
              <a:t>Por qué</a:t>
            </a:r>
          </a:p>
        </p:txBody>
      </p:sp>
      <p:sp>
        <p:nvSpPr>
          <p:cNvPr id="9" name="Rectangle 8"/>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14792"/>
            <a:ext cx="2537460" cy="438912"/>
          </a:xfrm>
          <a:prstGeom prst="rect">
            <a:avLst/>
          </a:prstGeom>
          <a:noFill/>
        </p:spPr>
        <p:txBody>
          <a:bodyPr wrap="square">
            <a:spAutoFit/>
          </a:bodyPr>
          <a:lstStyle/>
          <a:p>
            <a:pPr algn="l"/>
            <a:r>
              <a:rPr sz="1300" b="0">
                <a:solidFill>
                  <a:srgbClr val="B8C0CC"/>
                </a:solidFill>
                <a:latin typeface="Calibri"/>
              </a:rPr>
              <a:t>Embeddings</a:t>
            </a:r>
          </a:p>
        </p:txBody>
      </p:sp>
      <p:sp>
        <p:nvSpPr>
          <p:cNvPr id="11" name="TextBox 10"/>
          <p:cNvSpPr txBox="1"/>
          <p:nvPr/>
        </p:nvSpPr>
        <p:spPr>
          <a:xfrm>
            <a:off x="3223260" y="1814792"/>
            <a:ext cx="2537460" cy="438912"/>
          </a:xfrm>
          <a:prstGeom prst="rect">
            <a:avLst/>
          </a:prstGeom>
          <a:noFill/>
        </p:spPr>
        <p:txBody>
          <a:bodyPr wrap="square">
            <a:spAutoFit/>
          </a:bodyPr>
          <a:lstStyle/>
          <a:p>
            <a:pPr algn="l"/>
            <a:r>
              <a:rPr sz="1300" b="0">
                <a:solidFill>
                  <a:srgbClr val="B8C0CC"/>
                </a:solidFill>
                <a:latin typeface="Calibri"/>
              </a:rPr>
              <a:t>✓ SIEMPRE</a:t>
            </a:r>
          </a:p>
        </p:txBody>
      </p:sp>
      <p:sp>
        <p:nvSpPr>
          <p:cNvPr id="12" name="TextBox 11"/>
          <p:cNvSpPr txBox="1"/>
          <p:nvPr/>
        </p:nvSpPr>
        <p:spPr>
          <a:xfrm>
            <a:off x="5852160" y="1814792"/>
            <a:ext cx="2537460" cy="438912"/>
          </a:xfrm>
          <a:prstGeom prst="rect">
            <a:avLst/>
          </a:prstGeom>
          <a:noFill/>
        </p:spPr>
        <p:txBody>
          <a:bodyPr wrap="square">
            <a:spAutoFit/>
          </a:bodyPr>
          <a:lstStyle/>
          <a:p>
            <a:pPr algn="l"/>
            <a:r>
              <a:rPr sz="1300" b="0">
                <a:solidFill>
                  <a:srgbClr val="B8C0CC"/>
                </a:solidFill>
                <a:latin typeface="Calibri"/>
              </a:rPr>
              <a:t>✗ nunca</a:t>
            </a:r>
          </a:p>
        </p:txBody>
      </p:sp>
      <p:sp>
        <p:nvSpPr>
          <p:cNvPr id="13" name="TextBox 12"/>
          <p:cNvSpPr txBox="1"/>
          <p:nvPr/>
        </p:nvSpPr>
        <p:spPr>
          <a:xfrm>
            <a:off x="8481060" y="1814792"/>
            <a:ext cx="2537460" cy="438912"/>
          </a:xfrm>
          <a:prstGeom prst="rect">
            <a:avLst/>
          </a:prstGeom>
          <a:noFill/>
        </p:spPr>
        <p:txBody>
          <a:bodyPr wrap="square">
            <a:spAutoFit/>
          </a:bodyPr>
          <a:lstStyle/>
          <a:p>
            <a:pPr algn="l"/>
            <a:r>
              <a:rPr sz="1300" b="0">
                <a:solidFill>
                  <a:srgbClr val="B8C0CC"/>
                </a:solidFill>
                <a:latin typeface="Calibri"/>
              </a:rPr>
              <a:t>Traducir destruye la huella estilométrica del autor</a:t>
            </a:r>
          </a:p>
        </p:txBody>
      </p:sp>
      <p:sp>
        <p:nvSpPr>
          <p:cNvPr id="14" name="Rectangle 13"/>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253704"/>
            <a:ext cx="2537460" cy="438912"/>
          </a:xfrm>
          <a:prstGeom prst="rect">
            <a:avLst/>
          </a:prstGeom>
          <a:noFill/>
        </p:spPr>
        <p:txBody>
          <a:bodyPr wrap="square">
            <a:spAutoFit/>
          </a:bodyPr>
          <a:lstStyle/>
          <a:p>
            <a:pPr algn="l"/>
            <a:r>
              <a:rPr sz="1300" b="0">
                <a:solidFill>
                  <a:srgbClr val="B8C0CC"/>
                </a:solidFill>
                <a:latin typeface="Calibri"/>
              </a:rPr>
              <a:t>Estilometría</a:t>
            </a:r>
          </a:p>
        </p:txBody>
      </p:sp>
      <p:sp>
        <p:nvSpPr>
          <p:cNvPr id="16" name="TextBox 15"/>
          <p:cNvSpPr txBox="1"/>
          <p:nvPr/>
        </p:nvSpPr>
        <p:spPr>
          <a:xfrm>
            <a:off x="3223260" y="2253704"/>
            <a:ext cx="2537460" cy="438912"/>
          </a:xfrm>
          <a:prstGeom prst="rect">
            <a:avLst/>
          </a:prstGeom>
          <a:noFill/>
        </p:spPr>
        <p:txBody>
          <a:bodyPr wrap="square">
            <a:spAutoFit/>
          </a:bodyPr>
          <a:lstStyle/>
          <a:p>
            <a:pPr algn="l"/>
            <a:r>
              <a:rPr sz="1300" b="0">
                <a:solidFill>
                  <a:srgbClr val="B8C0CC"/>
                </a:solidFill>
                <a:latin typeface="Calibri"/>
              </a:rPr>
              <a:t>✓ SIEMPRE</a:t>
            </a:r>
          </a:p>
        </p:txBody>
      </p:sp>
      <p:sp>
        <p:nvSpPr>
          <p:cNvPr id="17" name="TextBox 16"/>
          <p:cNvSpPr txBox="1"/>
          <p:nvPr/>
        </p:nvSpPr>
        <p:spPr>
          <a:xfrm>
            <a:off x="5852160" y="2253704"/>
            <a:ext cx="2537460" cy="438912"/>
          </a:xfrm>
          <a:prstGeom prst="rect">
            <a:avLst/>
          </a:prstGeom>
          <a:noFill/>
        </p:spPr>
        <p:txBody>
          <a:bodyPr wrap="square">
            <a:spAutoFit/>
          </a:bodyPr>
          <a:lstStyle/>
          <a:p>
            <a:pPr algn="l"/>
            <a:r>
              <a:rPr sz="1300" b="0">
                <a:solidFill>
                  <a:srgbClr val="B8C0CC"/>
                </a:solidFill>
                <a:latin typeface="Calibri"/>
              </a:rPr>
              <a:t>✗ nunca</a:t>
            </a:r>
          </a:p>
        </p:txBody>
      </p:sp>
      <p:sp>
        <p:nvSpPr>
          <p:cNvPr id="18" name="TextBox 17"/>
          <p:cNvSpPr txBox="1"/>
          <p:nvPr/>
        </p:nvSpPr>
        <p:spPr>
          <a:xfrm>
            <a:off x="8481060" y="2253704"/>
            <a:ext cx="2537460" cy="438912"/>
          </a:xfrm>
          <a:prstGeom prst="rect">
            <a:avLst/>
          </a:prstGeom>
          <a:noFill/>
        </p:spPr>
        <p:txBody>
          <a:bodyPr wrap="square">
            <a:spAutoFit/>
          </a:bodyPr>
          <a:lstStyle/>
          <a:p>
            <a:pPr algn="l"/>
            <a:r>
              <a:rPr sz="1300" b="0">
                <a:solidFill>
                  <a:srgbClr val="B8C0CC"/>
                </a:solidFill>
                <a:latin typeface="Calibri"/>
              </a:rPr>
              <a:t>La señal ES el estilo — no sobrevive la traducción</a:t>
            </a:r>
          </a:p>
        </p:txBody>
      </p:sp>
      <p:sp>
        <p:nvSpPr>
          <p:cNvPr id="19" name="Rectangle 18"/>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692616"/>
            <a:ext cx="2537460" cy="438912"/>
          </a:xfrm>
          <a:prstGeom prst="rect">
            <a:avLst/>
          </a:prstGeom>
          <a:noFill/>
        </p:spPr>
        <p:txBody>
          <a:bodyPr wrap="square">
            <a:spAutoFit/>
          </a:bodyPr>
          <a:lstStyle/>
          <a:p>
            <a:pPr algn="l"/>
            <a:r>
              <a:rPr sz="1300" b="0">
                <a:solidFill>
                  <a:srgbClr val="B8C0CC"/>
                </a:solidFill>
                <a:latin typeface="Calibri"/>
              </a:rPr>
              <a:t>NER con LLM</a:t>
            </a:r>
          </a:p>
        </p:txBody>
      </p:sp>
      <p:sp>
        <p:nvSpPr>
          <p:cNvPr id="21" name="TextBox 20"/>
          <p:cNvSpPr txBox="1"/>
          <p:nvPr/>
        </p:nvSpPr>
        <p:spPr>
          <a:xfrm>
            <a:off x="3223260" y="2692616"/>
            <a:ext cx="2537460" cy="438912"/>
          </a:xfrm>
          <a:prstGeom prst="rect">
            <a:avLst/>
          </a:prstGeom>
          <a:noFill/>
        </p:spPr>
        <p:txBody>
          <a:bodyPr wrap="square">
            <a:spAutoFit/>
          </a:bodyPr>
          <a:lstStyle/>
          <a:p>
            <a:pPr algn="l"/>
            <a:r>
              <a:rPr sz="1300" b="0">
                <a:solidFill>
                  <a:srgbClr val="B8C0CC"/>
                </a:solidFill>
                <a:latin typeface="Calibri"/>
              </a:rPr>
              <a:t>Si el modelo lo soporta bien</a:t>
            </a:r>
          </a:p>
        </p:txBody>
      </p:sp>
      <p:sp>
        <p:nvSpPr>
          <p:cNvPr id="22" name="TextBox 21"/>
          <p:cNvSpPr txBox="1"/>
          <p:nvPr/>
        </p:nvSpPr>
        <p:spPr>
          <a:xfrm>
            <a:off x="5852160" y="2692616"/>
            <a:ext cx="2537460" cy="438912"/>
          </a:xfrm>
          <a:prstGeom prst="rect">
            <a:avLst/>
          </a:prstGeom>
          <a:noFill/>
        </p:spPr>
        <p:txBody>
          <a:bodyPr wrap="square">
            <a:spAutoFit/>
          </a:bodyPr>
          <a:lstStyle/>
          <a:p>
            <a:pPr algn="l"/>
            <a:r>
              <a:rPr sz="1300" b="0">
                <a:solidFill>
                  <a:srgbClr val="B8C0CC"/>
                </a:solidFill>
                <a:latin typeface="Calibri"/>
              </a:rPr>
              <a:t>✓ si el modelo base es inglés</a:t>
            </a:r>
          </a:p>
        </p:txBody>
      </p:sp>
      <p:sp>
        <p:nvSpPr>
          <p:cNvPr id="23" name="TextBox 22"/>
          <p:cNvSpPr txBox="1"/>
          <p:nvPr/>
        </p:nvSpPr>
        <p:spPr>
          <a:xfrm>
            <a:off x="8481060" y="2692616"/>
            <a:ext cx="2537460" cy="438912"/>
          </a:xfrm>
          <a:prstGeom prst="rect">
            <a:avLst/>
          </a:prstGeom>
          <a:noFill/>
        </p:spPr>
        <p:txBody>
          <a:bodyPr wrap="square">
            <a:spAutoFit/>
          </a:bodyPr>
          <a:lstStyle/>
          <a:p>
            <a:pPr algn="l"/>
            <a:r>
              <a:rPr sz="1300" b="0">
                <a:solidFill>
                  <a:srgbClr val="B8C0CC"/>
                </a:solidFill>
                <a:latin typeface="Calibri"/>
              </a:rPr>
              <a:t>Para NER importa la entidad, no el estilo</a:t>
            </a:r>
          </a:p>
        </p:txBody>
      </p:sp>
      <p:sp>
        <p:nvSpPr>
          <p:cNvPr id="24" name="Rectangle 23"/>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131528"/>
            <a:ext cx="2537460" cy="438912"/>
          </a:xfrm>
          <a:prstGeom prst="rect">
            <a:avLst/>
          </a:prstGeom>
          <a:noFill/>
        </p:spPr>
        <p:txBody>
          <a:bodyPr wrap="square">
            <a:spAutoFit/>
          </a:bodyPr>
          <a:lstStyle/>
          <a:p>
            <a:pPr algn="l"/>
            <a:r>
              <a:rPr sz="1300" b="0">
                <a:solidFill>
                  <a:srgbClr val="B8C0CC"/>
                </a:solidFill>
                <a:latin typeface="Calibri"/>
              </a:rPr>
              <a:t>Topic modeling</a:t>
            </a:r>
          </a:p>
        </p:txBody>
      </p:sp>
      <p:sp>
        <p:nvSpPr>
          <p:cNvPr id="26" name="TextBox 25"/>
          <p:cNvSpPr txBox="1"/>
          <p:nvPr/>
        </p:nvSpPr>
        <p:spPr>
          <a:xfrm>
            <a:off x="3223260" y="3131528"/>
            <a:ext cx="2537460" cy="438912"/>
          </a:xfrm>
          <a:prstGeom prst="rect">
            <a:avLst/>
          </a:prstGeom>
          <a:noFill/>
        </p:spPr>
        <p:txBody>
          <a:bodyPr wrap="square">
            <a:spAutoFit/>
          </a:bodyPr>
          <a:lstStyle/>
          <a:p>
            <a:pPr algn="l"/>
            <a:r>
              <a:rPr sz="1300" b="0">
                <a:solidFill>
                  <a:srgbClr val="B8C0CC"/>
                </a:solidFill>
                <a:latin typeface="Calibri"/>
              </a:rPr>
              <a:t>Con modelo multilingüe</a:t>
            </a:r>
          </a:p>
        </p:txBody>
      </p:sp>
      <p:sp>
        <p:nvSpPr>
          <p:cNvPr id="27" name="TextBox 26"/>
          <p:cNvSpPr txBox="1"/>
          <p:nvPr/>
        </p:nvSpPr>
        <p:spPr>
          <a:xfrm>
            <a:off x="5852160" y="3131528"/>
            <a:ext cx="2537460" cy="438912"/>
          </a:xfrm>
          <a:prstGeom prst="rect">
            <a:avLst/>
          </a:prstGeom>
          <a:noFill/>
        </p:spPr>
        <p:txBody>
          <a:bodyPr wrap="square">
            <a:spAutoFit/>
          </a:bodyPr>
          <a:lstStyle/>
          <a:p>
            <a:pPr algn="l"/>
            <a:r>
              <a:rPr sz="1300" b="0">
                <a:solidFill>
                  <a:srgbClr val="B8C0CC"/>
                </a:solidFill>
                <a:latin typeface="Calibri"/>
              </a:rPr>
              <a:t>✓ si no hay modelo del idioma</a:t>
            </a:r>
          </a:p>
        </p:txBody>
      </p:sp>
      <p:sp>
        <p:nvSpPr>
          <p:cNvPr id="28" name="TextBox 27"/>
          <p:cNvSpPr txBox="1"/>
          <p:nvPr/>
        </p:nvSpPr>
        <p:spPr>
          <a:xfrm>
            <a:off x="8481060" y="3131528"/>
            <a:ext cx="2537460" cy="438912"/>
          </a:xfrm>
          <a:prstGeom prst="rect">
            <a:avLst/>
          </a:prstGeom>
          <a:noFill/>
        </p:spPr>
        <p:txBody>
          <a:bodyPr wrap="square">
            <a:spAutoFit/>
          </a:bodyPr>
          <a:lstStyle/>
          <a:p>
            <a:pPr algn="l"/>
            <a:r>
              <a:rPr sz="1300" b="0">
                <a:solidFill>
                  <a:srgbClr val="B8C0CC"/>
                </a:solidFill>
                <a:latin typeface="Calibri"/>
              </a:rPr>
              <a:t>Los topics son semánticos, no estilísticos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4</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Estilometría computacional</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La huella digital del escritor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Burrows' Delta — el estándar de atribución de autoría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Mide la distribución de frecuencias de las N palabras más comunes, normalizada por z-score</a:t>
            </a:r>
          </a:p>
          <a:p>
            <a:pPr algn="l" marL="0" indent="-228600"/>
            <a:r>
              <a:rPr sz="2000" b="0">
                <a:solidFill>
                  <a:srgbClr val="B8C0CC"/>
                </a:solidFill>
                <a:latin typeface="Calibri"/>
              </a:rPr>
              <a:t>▸  Esas palabras son las 'funcionales': artículos, preposiciones, conjunciones — difíciles de suprimir</a:t>
            </a:r>
          </a:p>
          <a:p>
            <a:pPr algn="l" marL="0" indent="-228600"/>
            <a:r>
              <a:rPr sz="2000" b="0">
                <a:solidFill>
                  <a:srgbClr val="B8C0CC"/>
                </a:solidFill>
                <a:latin typeface="Calibri"/>
              </a:rPr>
              <a:t>▸  Delta bajo entre dos textos → mismo perfil de frecuencias → mismo autor probable</a:t>
            </a:r>
          </a:p>
          <a:p>
            <a:pPr algn="l" marL="0" indent="-228600"/>
            <a:r>
              <a:rPr sz="2000" b="0">
                <a:solidFill>
                  <a:srgbClr val="B8C0CC"/>
                </a:solidFill>
                <a:latin typeface="Calibri"/>
              </a:rPr>
              <a:t>▸  No depende del tema — solo del estilo de escritura</a:t>
            </a:r>
          </a:p>
          <a:p>
            <a:pPr algn="l" marL="0" indent="-228600"/>
            <a:r>
              <a:rPr sz="2000" b="0">
                <a:solidFill>
                  <a:srgbClr val="B8C0CC"/>
                </a:solidFill>
                <a:latin typeface="Calibri"/>
              </a:rPr>
              <a:t>▸  Limitación: en corpus ideológicamente homogéneo el poder discriminante baja (vocabulario compartido)</a:t>
            </a:r>
          </a:p>
          <a:p>
            <a:pPr algn="l" marL="0" indent="-228600"/>
            <a:r>
              <a:rPr sz="2000" b="0">
                <a:solidFill>
                  <a:srgbClr val="B8C0CC"/>
                </a:solidFill>
                <a:latin typeface="Calibri"/>
              </a:rPr>
              <a:t>▸  Complementar siempre con señales independientes: temporal, red, handle matching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Convergencia de señales — el principio de atribución</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Ninguna señal sola es evidencia de identidad — la convergencia sí lo es</a:t>
            </a:r>
          </a:p>
          <a:p>
            <a:pPr algn="l" marL="0" indent="-228600"/>
            <a:r>
              <a:rPr sz="2000" b="0">
                <a:solidFill>
                  <a:srgbClr val="B8C0CC"/>
                </a:solidFill>
                <a:latin typeface="Calibri"/>
              </a:rPr>
              <a:t>▸  Handle exacto o fuzzy: fácil de cambiar, pero mucha gente no lo hace</a:t>
            </a:r>
          </a:p>
          <a:p>
            <a:pPr algn="l" marL="0" indent="-228600"/>
            <a:r>
              <a:rPr sz="2000" b="0">
                <a:solidFill>
                  <a:srgbClr val="B8C0CC"/>
                </a:solidFill>
                <a:latin typeface="Calibri"/>
              </a:rPr>
              <a:t>▸  Similitud coseno de embeddings: captura estilo aunque cambie el vocabulario deliberadamente</a:t>
            </a:r>
          </a:p>
          <a:p>
            <a:pPr algn="l" marL="0" indent="-228600"/>
            <a:r>
              <a:rPr sz="2000" b="0">
                <a:solidFill>
                  <a:srgbClr val="B8C0CC"/>
                </a:solidFill>
                <a:latin typeface="Calibri"/>
              </a:rPr>
              <a:t>▸  Burrows' Delta: captura palabras función que el autor no controla conscientemente</a:t>
            </a:r>
          </a:p>
          <a:p>
            <a:pPr algn="l" marL="0" indent="-228600"/>
            <a:r>
              <a:rPr sz="2000" b="0">
                <a:solidFill>
                  <a:srgbClr val="B8C0CC"/>
                </a:solidFill>
                <a:latin typeface="Calibri"/>
              </a:rPr>
              <a:t>▸  Análisis temporal: el timezone real es muy difícil de falsificar de forma consistente</a:t>
            </a:r>
          </a:p>
          <a:p>
            <a:pPr algn="l" marL="0" indent="-228600"/>
            <a:r>
              <a:rPr sz="2000" b="0">
                <a:solidFill>
                  <a:srgbClr val="B8C0CC"/>
                </a:solidFill>
                <a:latin typeface="Calibri"/>
              </a:rPr>
              <a:t>▸  Regla práctica: ≥3 señales convergentes → candidato que merece investigación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embeddings y clustering de usuarios</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CardingForums/01_carding_forums.ipynb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Generar embeddings de usuarios (precomputado, mostrar código)</a:t>
            </a:r>
          </a:p>
          <a:p>
            <a:r>
              <a:rPr sz="1900">
                <a:solidFill>
                  <a:srgbClr val="B8C0CC"/>
                </a:solidFill>
                <a:latin typeface="Calibri"/>
              </a:rPr>
              <a:t>2.  UMAP: reducir 4096D → 2D preservando estructura de vecindad</a:t>
            </a:r>
          </a:p>
          <a:p>
            <a:r>
              <a:rPr sz="1900">
                <a:solidFill>
                  <a:srgbClr val="B8C0CC"/>
                </a:solidFill>
                <a:latin typeface="Calibri"/>
              </a:rPr>
              <a:t>3.  HDBSCAN: detectar clusters sin fijar K — ver grupos emergentes</a:t>
            </a:r>
          </a:p>
          <a:p>
            <a:r>
              <a:rPr sz="1900">
                <a:solidFill>
                  <a:srgbClr val="B8C0CC"/>
                </a:solidFill>
                <a:latin typeface="Calibri"/>
              </a:rPr>
              <a:t>4.  Hover en visualización Plotly: identificar patrones por cluster</a:t>
            </a:r>
          </a:p>
          <a:p>
            <a:r>
              <a:rPr sz="1900">
                <a:solidFill>
                  <a:srgbClr val="B8C0CC"/>
                </a:solidFill>
                <a:latin typeface="Calibri"/>
              </a:rPr>
              <a:t>5.  Calcular similitud coseno entre pares → candidatos a misma identidad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