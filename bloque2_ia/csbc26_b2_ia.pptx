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Bienvenida: IA en análisis forense</a:t>
            </a:r>
          </a:p>
          <a:p>
            <a:r>
              <a:t>Tres herramientas: embeddings, LLMs locales, estilometría</a:t>
            </a:r>
          </a:p>
          <a:p>
            <a:r>
              <a:t>Hilo conductor: identificar al mismo actor</a:t>
            </a:r>
          </a:p>
          <a:p>
            <a:r>
              <a:t>→ todo corre en local, cero datos a APIs externas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Arrancamos con el problema, no la solución</a:t>
            </a:r>
          </a:p>
          <a:p>
            <a:r>
              <a:t>Text mining clásico se queda corto aquí</a:t>
            </a:r>
          </a:p>
          <a:p>
            <a:r>
              <a:t>→ por qué fallan TF-IDF y LDA con vocabulario cambiante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Pregunta: mismo tema, cero palabras compartidas</a:t>
            </a:r>
          </a:p>
          <a:p>
            <a:r>
              <a:t>TF-IDF los ve como completamente distintos</a:t>
            </a:r>
          </a:p>
          <a:p>
            <a:r>
              <a:t>Leetspeak y eufemismos: diseño, no ruido</a:t>
            </a:r>
          </a:p>
          <a:p>
            <a:r>
              <a:t>→ sigue: embeddings, significado no símbolos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Sección 2: embeddings</a:t>
            </a:r>
          </a:p>
          <a:p>
            <a:r>
              <a:t>Significado = posición en espacio vectorial</a:t>
            </a:r>
          </a:p>
          <a:p>
            <a:r>
              <a:t>→ clustering, similitud, atribución = geometría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'rat' y 'trojan' cercanos, sin compartir letras</a:t>
            </a:r>
          </a:p>
          <a:p>
            <a:r>
              <a:t>Contexto de uso, no ortografía</a:t>
            </a:r>
          </a:p>
          <a:p>
            <a:r>
              <a:t>'password'/'contraseña' cercanos (modelo multilingüe)</a:t>
            </a:r>
          </a:p>
          <a:p>
            <a:r>
              <a:t>→ puerta de entrada a clustering y estilometría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Elección de modelo = decisión de diseño</a:t>
            </a:r>
          </a:p>
          <a:p>
            <a:r>
              <a:t>Foros reales: mezcla constante de idiomas</a:t>
            </a:r>
          </a:p>
          <a:p>
            <a:r>
              <a:t>Monolingüe con mezcla → se pierde información</a:t>
            </a:r>
          </a:p>
          <a:p>
            <a:r>
              <a:t>→ regla del curso: mezcla de idiomas → multilingüe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 más importante de la sesión</a:t>
            </a:r>
          </a:p>
          <a:p>
            <a:r>
              <a:t>Embeddings/estilometría: nunca traducir antes</a:t>
            </a:r>
          </a:p>
          <a:p>
            <a:r>
              <a:t>Traducción homogeniza sintaxis, destruye la huella</a:t>
            </a:r>
          </a:p>
          <a:p>
            <a:r>
              <a:t>→ ojo: en NER la regla se invierte (próxima sección)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 medidos en IronMarch, no de un paper</a:t>
            </a:r>
          </a:p>
          <a:p>
            <a:r>
              <a:t>Full centroid (9h) vs top-100 (3h33): solo +14 puntos</a:t>
            </a:r>
          </a:p>
          <a:p>
            <a:r>
              <a:t>Casi nunca se justifica el coste extra</a:t>
            </a:r>
          </a:p>
          <a:p>
            <a:r>
              <a:t>Pregunta clave: ¿posts por usuario típico?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Reverso de la diapositiva anterior</a:t>
            </a:r>
          </a:p>
          <a:p>
            <a:r>
              <a:t>Exploración rápida → usar A, iterar</a:t>
            </a:r>
          </a:p>
          <a:p>
            <a:r>
              <a:t>Pocos posts por usuario → C=D=E, sin diferencia</a:t>
            </a:r>
          </a:p>
          <a:p>
            <a:r>
              <a:t>Regla general: medir antes de decidir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Cambio de tema: LLMs locales</a:t>
            </a:r>
          </a:p>
          <a:p>
            <a:r>
              <a:t>Palabra clave: 'local'</a:t>
            </a:r>
          </a:p>
          <a:p>
            <a:r>
              <a:t>Datos reales de personas → línea roja con APIs externas</a:t>
            </a:r>
          </a:p>
          <a:p>
            <a:r>
              <a:t>→ sigue: NER de dominio específico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Tradeoff honesto: local es más lento que API</a:t>
            </a:r>
          </a:p>
          <a:p>
            <a:r>
              <a:t>La pregunta es riesgo, no velocidad</a:t>
            </a:r>
          </a:p>
          <a:p>
            <a:r>
              <a:t>Fuga de dato de víctima real: sin marcha atrás</a:t>
            </a:r>
          </a:p>
          <a:p>
            <a:r>
              <a:t>16GB RAM y segundos de espera: precio bajo</a:t>
            </a:r>
          </a:p>
          <a:p>
            <a:r>
              <a:t>→ sigue: usar el modelo local para extraer entidades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Contraste con embeddings: aquí SÍ traducir</a:t>
            </a:r>
          </a:p>
          <a:p>
            <a:r>
              <a:t>NER busca la entidad, no el estilo</a:t>
            </a:r>
          </a:p>
          <a:p>
            <a:r>
              <a:t>Cada técnica mide una señal distinta</a:t>
            </a:r>
          </a:p>
          <a:p>
            <a:r>
              <a:t>Checkpoint automático: evita perder horas de GPU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Resumen de todo lo visto — dejar en pantalla</a:t>
            </a:r>
          </a:p>
          <a:p>
            <a:r>
              <a:t>Pregunta clave: ¿señal en estilo o en contenido?</a:t>
            </a:r>
          </a:p>
          <a:p>
            <a:r>
              <a:t>Estilo → nunca traducir</a:t>
            </a:r>
          </a:p>
          <a:p>
            <a:r>
              <a:t>Contenido → traducción puede ayudar</a:t>
            </a:r>
          </a:p>
          <a:p>
            <a:r>
              <a:t>→ sigue: estilometría computacional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Última sección antes de la demo</a:t>
            </a:r>
          </a:p>
          <a:p>
            <a:r>
              <a:t>Estilometría: donde todo converge</a:t>
            </a:r>
          </a:p>
          <a:p>
            <a:r>
              <a:t>Burrows' Delta + embeddings para atribución</a:t>
            </a:r>
          </a:p>
          <a:p>
            <a:r>
              <a:t>Pregunta de fondo: ¿mismo actor, distinto handle?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Mide lo que el autor no controla: 'de', 'que', 'para'</a:t>
            </a:r>
          </a:p>
          <a:p>
            <a:r>
              <a:t>Nadie disimula conscientemente sus preposiciones</a:t>
            </a:r>
          </a:p>
          <a:p>
            <a:r>
              <a:t>Limitación: jerga compartida reduce el poder discriminante</a:t>
            </a:r>
          </a:p>
          <a:p>
            <a:r>
              <a:t>→ nunca usar Delta solo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conceptual del bloque</a:t>
            </a:r>
          </a:p>
          <a:p>
            <a:r>
              <a:t>Ninguna señal aislada es prueba de identidad</a:t>
            </a:r>
          </a:p>
          <a:p>
            <a:r>
              <a:t>Handle parecido: puede ser coincidencia</a:t>
            </a:r>
          </a:p>
          <a:p>
            <a:r>
              <a:t>Embeddings similares: puede ser tema, no autor</a:t>
            </a:r>
          </a:p>
          <a:p>
            <a:r>
              <a:t>→ convergencia de señales da fuerza al análisis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la práctica: notebook en vivo, CardingForums</a:t>
            </a:r>
          </a:p>
          <a:p>
            <a:r>
              <a:t>Pipeline: embeddings → UMAP → HDBSCAN → coseno</a:t>
            </a:r>
          </a:p>
          <a:p>
            <a:r>
              <a:t>Clusters emergen solos, sin fijar K</a:t>
            </a:r>
          </a:p>
          <a:p>
            <a:r>
              <a:t>Dudas: parar aquí antes de seguir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Técnicas de análisis: IA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Embeddings, LLMs locales y estilometría computacional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2 · 1h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Por qué los métodos clásicos no son suficientes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El vocabulario underground es opaco por diseño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Las limitaciones del text mining clásico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TF-IDF y LDA tratan palabras como símbolos independientes</a:t>
            </a:r>
          </a:p>
          <a:p>
            <a:r>
              <a:t>En underground el lenguaje es opaco: abreviaciones, leetspeak, eufemismos que cambian semana a semana</a:t>
            </a:r>
          </a:p>
          <a:p>
            <a:r>
              <a:t>Dos posts sobre lo mismo pueden no compartir ni una sola palabra</a:t>
            </a:r>
          </a:p>
          <a:p>
            <a:r>
              <a:t>Un actor que cambia de handle también puede cambiar de vocabulario deliberadamente</a:t>
            </a:r>
          </a:p>
          <a:p>
            <a:r>
              <a:t>Necesitamos representaciones que capturen significado más allá de la frecuencia de tokens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Embeddings — representaciones densas de significado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La geometría del texto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es un embedding?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Transforma texto en vector numérico donde distancia geométrica = similitud semántica</a:t>
            </a:r>
          </a:p>
          <a:p>
            <a:r>
              <a:t>'rat' y 'trojan' en contexto underground quedan cerca aunque no compartan letras</a:t>
            </a:r>
          </a:p>
          <a:p>
            <a:r>
              <a:t>'password' y 'contraseña' quedan cerca aunque sean idiomas distintos (modelos multilingües)</a:t>
            </a:r>
          </a:p>
          <a:p>
            <a:r>
              <a:t>Permite clustering de usuarios por comportamiento de escritura sin depender del vocabulario exacto</a:t>
            </a:r>
          </a:p>
          <a:p>
            <a:r>
              <a:t>Base de la estilometría computacional: la huella digital del escritor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Modelos de embedding — elección crítica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Modelos monolingües (inglés)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Mejor rendimiento en inglés puro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Fallan con texto mixto o multilingüe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text-embedding-ada-002, nomic-embed-text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Requieren traducción previa para otros idiomas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Modelos multilingües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Espacio vectorial compartido entre idiomas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Un post en ruso y uno en inglés sobre lo mismo → cercanos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qwen3-embedding (4096D), multilingual-e5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Regla: si hay mezcla de idiomas, siempre multilingüe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 regla del idioma original en embeddings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Para embeddings y estilometría: SIEMPRE trabajar en el idioma original</a:t>
            </a:r>
          </a:p>
          <a:p>
            <a:r>
              <a:t>Traducir antes de embedear destruye la huella lingüística del autor</a:t>
            </a:r>
          </a:p>
          <a:p>
            <a:r>
              <a:t>La huella es precisamente lo que queremos preservar para atribución de autoría</a:t>
            </a:r>
          </a:p>
          <a:p>
            <a:r>
              <a:t>Un actor que escribe en ruso con ciertos tics sintácticos → esos tics desaparecen al traducir</a:t>
            </a:r>
          </a:p>
          <a:p>
            <a:r>
              <a:t>Contraste con NER/topic modeling: ahí la traducción puede mejorar resultados (ver siguiente sección)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¿Cuántos posts embedear por usuario? — comparativa de estrategias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65176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706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Estrategia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2706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Posts por usuario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2706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GPU (IronMarch)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2706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Spearman ρ vs. full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27067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Cuándo usarla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3017520"/>
            <a:ext cx="10058400" cy="615315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05752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A — concat 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05752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todos (máx. 50K chars)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05752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~12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05752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05752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Dataset pequeño o usuarios con pocos posts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632835"/>
            <a:ext cx="10058400" cy="6153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67283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B — full centroid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67283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todos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67283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~9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67283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1.000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367283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Solo como referencia — inviable en producción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4248150"/>
            <a:ext cx="10058400" cy="615315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8815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 — top-50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428815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50 más largos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428815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2h 35min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428815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0.799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428815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GPU limitada o usuarios con &lt;100 posts típicos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51560" y="4863465"/>
            <a:ext cx="10058400" cy="6153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97280" y="490346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D — top-100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490346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100 más largos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20640" y="490346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3h 33min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0" y="490346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0.860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4903465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Caso general — mejor ratio fidelidad/coste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51560" y="5478780"/>
            <a:ext cx="10058400" cy="615315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51878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E — top-150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08960" y="551878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150 más largos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20640" y="551878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4h 12min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551878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0.896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5518780"/>
            <a:ext cx="192024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Máxima fidelidad con presupuesto de tiempo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6231255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07888"/>
                </a:solidFill>
                <a:latin typeface="Arial"/>
              </a:rPr>
              <a:t>ℹ  Regla práctica: mirar el percentil 90 de posts/usuario. Si P90 &lt; 50 → C=D=E (no hay suficientes posts). Si P90 &gt; 100 → D es el punto óptimo.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¿Cuándo NO usar D?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 wrap="square"/>
          <a:lstStyle/>
          <a:p>
            <a:r>
              <a:t>Usuarios con pocos posts: si el 90% tiene menos de 50 posts → C, D y E dan el mismo resultado</a:t>
            </a:r>
          </a:p>
          <a:p>
            <a:r>
              <a:t>Dataset muy grande (&gt;50K usuarios): C puede ser suficiente para reducir coste de GPU a la mitad</a:t>
            </a:r>
          </a:p>
          <a:p>
            <a:r>
              <a:t>Exploración rápida: A (concat truncado) es el más rápido y sin muestreo — bueno para iterar</a:t>
            </a:r>
          </a:p>
          <a:p>
            <a:r>
              <a:t>Corpus muy corto por usuario (tweets, mensajes de chat): A es mejor porque hay poco que muestrear</a:t>
            </a:r>
          </a:p>
          <a:p>
            <a:r>
              <a:t>Regla: siempre revisar la distribución de posts/usuario ANTES de elegir estrategia (notebook 00)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LLMs locales y NER en dominio específico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Privacidad no negociable con datos sensibles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La regla es simple: datos sensibles → modelo local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Nunca se mandan leaks a APIs externas — ni OpenAI, ni Anthropic, ni Google</a:t>
            </a:r>
          </a:p>
          <a:p>
            <a:r>
              <a:t>Ollama: corre modelos cuantizados (Q4/Q8) en hardware modesto sin salida de datos</a:t>
            </a:r>
          </a:p>
          <a:p>
            <a:r>
              <a:t>qwen2.5:14b con Q4 → 16GB RAM, respuestas en segundos, sin nube</a:t>
            </a:r>
          </a:p>
          <a:p>
            <a:r>
              <a:t>El tradeoff: latencia local vs. riesgo de fuga de datos de personas reales</a:t>
            </a:r>
          </a:p>
          <a:p>
            <a:r>
              <a:t>Con datos underground, el riesgo supera siempre al coste de latencia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NER zero-shot en dominio underground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NER estándar (spaCy, BERT) falla: no fue entrenado con texto underground</a:t>
            </a:r>
          </a:p>
          <a:p>
            <a:r>
              <a:t>Zero-shot con LLM local: describir el tipo de entidad en el prompt, extraer directamente</a:t>
            </a:r>
          </a:p>
          <a:p>
            <a:r>
              <a:t>Tipos de entidad útiles en este dominio: ALIAS, TOOL, MALWARE, CVE, MARKETPLACE, WALLET</a:t>
            </a:r>
          </a:p>
          <a:p>
            <a:r>
              <a:t>Estrategia: muestra de top-N usuarios × top-M posts más largos + checkpoint automático</a:t>
            </a:r>
          </a:p>
          <a:p>
            <a:r>
              <a:t>Para texto no inglés: el LLM rinde mejor en inglés → traducir el texto primero es aceptable</a:t>
            </a:r>
          </a:p>
          <a:p>
            <a:r>
              <a:t>¿Por qué es aceptable aquí? Para NER no importa el estilo, solo las entidades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Idioma original vs. traducción — regla según técnica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65176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7067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27067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7067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Traducción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7067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Por qué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3017520"/>
            <a:ext cx="10058400" cy="615315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5752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Embeddings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05752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 SIEMPRE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05752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✗ nunca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05752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Traducir destruye la huella estilométrica del autor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632835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67283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Estilometría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7283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 SIEMPRE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67283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✗ nunca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367283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La señal ES el estilo — no sobrevive la traducción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4073525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11352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NER con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411352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Si el modelo lo soporta bien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11352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 si el modelo base es inglés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411352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Para NER importa la entidad, no el estilo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514215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5421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Topic modeling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455421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Con modelo multilingüe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55421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 si no hay modelo del idioma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55421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Los topics son semánticos, no estilísticos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4</a:t>
            </a:r>
          </a:p>
          <a:p>
            <a:pPr algn="ctr"/>
            <a:r>
              <a:t>Estilometría computacional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La huella digital del escritor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Burrows' Delta — el estándar de atribución de autoría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Mide la distribución de frecuencias de las N palabras más comunes, normalizada por z-score</a:t>
            </a:r>
          </a:p>
          <a:p>
            <a:r>
              <a:t>Esas palabras son las 'funcionales': artículos, preposiciones, conjunciones — difíciles de suprimir</a:t>
            </a:r>
          </a:p>
          <a:p>
            <a:r>
              <a:t>Delta bajo entre dos textos → mismo perfil de frecuencias → mismo autor probable</a:t>
            </a:r>
          </a:p>
          <a:p>
            <a:r>
              <a:t>No depende del tema — solo del estilo de escritura</a:t>
            </a:r>
          </a:p>
          <a:p>
            <a:r>
              <a:t>Limitación: en corpus ideológicamente homogéneo el poder discriminante baja (vocabulario compartido)</a:t>
            </a:r>
          </a:p>
          <a:p>
            <a:r>
              <a:t>Complementar siempre con señales independientes: temporal, red, handle matching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Convergencia de señales — el principio de atribución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Ninguna señal sola es evidencia de identidad — la convergencia sí lo es</a:t>
            </a:r>
          </a:p>
          <a:p>
            <a:r>
              <a:t>Handle exacto o fuzzy: fácil de cambiar, pero mucha gente no lo hace</a:t>
            </a:r>
          </a:p>
          <a:p>
            <a:r>
              <a:t>Similitud coseno de embeddings: captura estilo aunque cambie el vocabulario deliberadamente</a:t>
            </a:r>
          </a:p>
          <a:p>
            <a:r>
              <a:t>Burrows' Delta: captura palabras función que el autor no controla conscientemente</a:t>
            </a:r>
          </a:p>
          <a:p>
            <a:r>
              <a:t>Análisis temporal: el timezone real es muy difícil de falsificar de forma consistente</a:t>
            </a:r>
          </a:p>
          <a:p>
            <a:r>
              <a:t>Regla práctica: ≥3 señales convergentes → candidato que merece investigación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embeddings y clustering de usuarios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CardingForums/01_carding_forums.ipynb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Generar embeddings de usuarios (precomputado, mostrar código)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UMAP: reducir 4096D → 2D preservando estructura de vecindad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HDBSCAN: detectar clusters sin fijar K — ver grupos emergentes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Hover en visualización Plotly: identificar patrones por cluster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5.  Calcular similitud coseno entre pares → candidatos a misma identidad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