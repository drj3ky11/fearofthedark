
<file path=[Content_Types].xml><?xml version="1.0" encoding="utf-8"?>
<Types xmlns="http://schemas.openxmlformats.org/package/2006/content-types">
  <Default Extension="gif" ContentType="image/gif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</p:sldMasterIdLst>
  <p:handoutMasterIdLst>
    <p:handoutMasterId r:id="rId10"/>
  </p:handoutMasterIdLst>
  <p:sldIdLst>
    <p:sldId id="256" r:id="rId9"/>
    <p:sldId id="257" r:id="rId7"/>
    <p:sldId id="258" r:id="rId6"/>
    <p:sldId id="259" r:id="rId5"/>
    <p:sldId id="260" r:id="rId15"/>
    <p:sldId id="261" r:id="rId16"/>
    <p:sldId id="262" r:id="rId17"/>
    <p:sldId id="263" r:id="rId18"/>
    <p:sldId id="264" r:id="rId19"/>
    <p:sldId id="265" r:id="rId20"/>
    <p:sldId id="266" r:id="rId21"/>
    <p:sldId id="267" r:id="rId22"/>
    <p:sldId id="268" r:id="rId23"/>
    <p:sldId id="269" r:id="rId24"/>
    <p:sldId id="270" r:id="rId25"/>
    <p:sldId id="271" r:id="rId26"/>
    <p:sldId id="272" r:id="rId27"/>
  </p:sldIdLst>
  <p:sldSz cx="12192000" cy="6858000"/>
  <p:notesSz cx="6858000" cy="9144000"/>
  <p:defaultTextStyle>
    <a:defPPr>
      <a:defRPr lang="es-E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24305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2521" autoAdjust="0"/>
    <p:restoredTop sz="94660"/>
  </p:normalViewPr>
  <p:slideViewPr>
    <p:cSldViewPr snapToGrid="0">
      <p:cViewPr varScale="1">
        <p:scale>
          <a:sx n="103" d="100"/>
          <a:sy n="103" d="100"/>
        </p:scale>
        <p:origin x="176" y="5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90" d="100"/>
          <a:sy n="90" d="100"/>
        </p:scale>
        <p:origin x="4075" y="58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" Target="slides/slide4.xml"/><Relationship Id="rId6" Type="http://schemas.openxmlformats.org/officeDocument/2006/relationships/slide" Target="slides/slide3.xml"/><Relationship Id="rId7" Type="http://schemas.openxmlformats.org/officeDocument/2006/relationships/slide" Target="slides/slide2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1.xml"/><Relationship Id="rId10" Type="http://schemas.openxmlformats.org/officeDocument/2006/relationships/handoutMaster" Target="handoutMasters/handout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Relationship Id="rId15" Type="http://schemas.openxmlformats.org/officeDocument/2006/relationships/slide" Target="slides/slide5.xml"/><Relationship Id="rId16" Type="http://schemas.openxmlformats.org/officeDocument/2006/relationships/slide" Target="slides/slide6.xml"/><Relationship Id="rId17" Type="http://schemas.openxmlformats.org/officeDocument/2006/relationships/slide" Target="slides/slide7.xml"/><Relationship Id="rId18" Type="http://schemas.openxmlformats.org/officeDocument/2006/relationships/slide" Target="slides/slide8.xml"/><Relationship Id="rId19" Type="http://schemas.openxmlformats.org/officeDocument/2006/relationships/slide" Target="slides/slide9.xml"/><Relationship Id="rId20" Type="http://schemas.openxmlformats.org/officeDocument/2006/relationships/slide" Target="slides/slide10.xml"/><Relationship Id="rId21" Type="http://schemas.openxmlformats.org/officeDocument/2006/relationships/slide" Target="slides/slide11.xml"/><Relationship Id="rId22" Type="http://schemas.openxmlformats.org/officeDocument/2006/relationships/slide" Target="slides/slide12.xml"/><Relationship Id="rId23" Type="http://schemas.openxmlformats.org/officeDocument/2006/relationships/slide" Target="slides/slide13.xml"/><Relationship Id="rId24" Type="http://schemas.openxmlformats.org/officeDocument/2006/relationships/slide" Target="slides/slide14.xml"/><Relationship Id="rId25" Type="http://schemas.openxmlformats.org/officeDocument/2006/relationships/slide" Target="slides/slide15.xml"/><Relationship Id="rId26" Type="http://schemas.openxmlformats.org/officeDocument/2006/relationships/slide" Target="slides/slide16.xml"/><Relationship Id="rId27" Type="http://schemas.openxmlformats.org/officeDocument/2006/relationships/slide" Target="slides/slide17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>
            <a:extLst>
              <a:ext uri="{FF2B5EF4-FFF2-40B4-BE49-F238E27FC236}">
                <a16:creationId xmlns:a16="http://schemas.microsoft.com/office/drawing/2014/main" id="{6CE21EB7-A449-C9A7-B083-33970A869E22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FA1C30A0-AB18-FF58-1BBF-A835B7EF1321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254A67E-5C62-4248-8E27-543754807F34}" type="datetimeFigureOut">
              <a:rPr lang="es-ES" smtClean="0"/>
              <a:t>24/4/26</a:t>
            </a:fld>
            <a:endParaRPr lang="es-ES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BC513B9E-52A1-7905-7509-F51EFE4E4A3A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80B344FA-FDBF-1F60-8936-278AE3F81316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DC90A6A-A667-4942-BEA4-D0EB8CB80A57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266975588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Bienvenida: IA en análisis forense</a:t>
            </a:r>
          </a:p>
          <a:p>
            <a:r>
              <a:t>Tres herramientas: embeddings, LLMs locales, estilometría</a:t>
            </a:r>
          </a:p>
          <a:p>
            <a:r>
              <a:t>Hilo conductor: identificar al mismo actor</a:t>
            </a:r>
          </a:p>
          <a:p>
            <a:r>
              <a:t>→ todo corre en local, cero datos a APIs externas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Arrancamos con el problema, no la solución</a:t>
            </a:r>
          </a:p>
          <a:p>
            <a:r>
              <a:t>Text mining clásico se queda corto aquí</a:t>
            </a:r>
          </a:p>
          <a:p>
            <a:r>
              <a:t>→ por qué fallan TF-IDF y LDA con vocabulario cambiante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Pregunta: mismo tema, cero palabras compartidas</a:t>
            </a:r>
          </a:p>
          <a:p>
            <a:r>
              <a:t>TF-IDF los ve como completamente distintos</a:t>
            </a:r>
          </a:p>
          <a:p>
            <a:r>
              <a:t>Leetspeak y eufemismos: diseño, no ruido</a:t>
            </a:r>
          </a:p>
          <a:p>
            <a:r>
              <a:t>→ sigue: embeddings, significado no símbolos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Sección 2: embeddings</a:t>
            </a:r>
          </a:p>
          <a:p>
            <a:r>
              <a:t>Significado = posición en espacio vectorial</a:t>
            </a:r>
          </a:p>
          <a:p>
            <a:r>
              <a:t>→ clustering, similitud, atribución = geometría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'rat' y 'trojan' cercanos, sin compartir letras</a:t>
            </a:r>
          </a:p>
          <a:p>
            <a:r>
              <a:t>Contexto de uso, no ortografía</a:t>
            </a:r>
          </a:p>
          <a:p>
            <a:r>
              <a:t>'password'/'contraseña' cercanos (modelo multilingüe)</a:t>
            </a:r>
          </a:p>
          <a:p>
            <a:r>
              <a:t>→ puerta de entrada a clustering y estilometría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Elección de modelo = decisión de diseño</a:t>
            </a:r>
          </a:p>
          <a:p>
            <a:r>
              <a:t>Foros reales: mezcla constante de idiomas</a:t>
            </a:r>
          </a:p>
          <a:p>
            <a:r>
              <a:t>Monolingüe con mezcla → se pierde información</a:t>
            </a:r>
          </a:p>
          <a:p>
            <a:r>
              <a:t>→ regla del curso: mezcla de idiomas → multilingüe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Regla más importante de la sesión</a:t>
            </a:r>
          </a:p>
          <a:p>
            <a:r>
              <a:t>Embeddings/estilometría: nunca traducir antes</a:t>
            </a:r>
          </a:p>
          <a:p>
            <a:r>
              <a:t>Traducción homogeniza sintaxis, destruye la huella</a:t>
            </a:r>
          </a:p>
          <a:p>
            <a:r>
              <a:t>→ ojo: en NER la regla se invierte (próxima sección)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Datos medidos en IronMarch, no de un paper</a:t>
            </a:r>
          </a:p>
          <a:p>
            <a:r>
              <a:t>Full centroid (9h) vs top-100 (3h33): solo +14 puntos</a:t>
            </a:r>
          </a:p>
          <a:p>
            <a:r>
              <a:t>Casi nunca se justifica el coste extra</a:t>
            </a:r>
          </a:p>
          <a:p>
            <a:r>
              <a:t>Pregunta clave: ¿posts por usuario típico?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Reverso de la diapositiva anterior</a:t>
            </a:r>
          </a:p>
          <a:p>
            <a:r>
              <a:t>Exploración rápida → usar A, iterar</a:t>
            </a:r>
          </a:p>
          <a:p>
            <a:r>
              <a:t>Pocos posts por usuario → C=D=E, sin diferencia</a:t>
            </a:r>
          </a:p>
          <a:p>
            <a:r>
              <a:t>Regla general: medir antes de decidir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Cambio de tema: LLMs locales</a:t>
            </a:r>
          </a:p>
          <a:p>
            <a:r>
              <a:t>Palabra clave: 'local'</a:t>
            </a:r>
          </a:p>
          <a:p>
            <a:r>
              <a:t>Datos reales de personas → línea roja con APIs externas</a:t>
            </a:r>
          </a:p>
          <a:p>
            <a:r>
              <a:t>→ sigue: NER de dominio específico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Tradeoff honesto: local es más lento que API</a:t>
            </a:r>
          </a:p>
          <a:p>
            <a:r>
              <a:t>La pregunta es riesgo, no velocidad</a:t>
            </a:r>
          </a:p>
          <a:p>
            <a:r>
              <a:t>Fuga de dato de víctima real: sin marcha atrás</a:t>
            </a:r>
          </a:p>
          <a:p>
            <a:r>
              <a:t>16GB RAM y segundos de espera: precio bajo</a:t>
            </a:r>
          </a:p>
          <a:p>
            <a:r>
              <a:t>→ sigue: usar el modelo local para extraer entidades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Contraste con embeddings: aquí SÍ traducir</a:t>
            </a:r>
          </a:p>
          <a:p>
            <a:r>
              <a:t>NER busca la entidad, no el estilo</a:t>
            </a:r>
          </a:p>
          <a:p>
            <a:r>
              <a:t>Cada técnica mide una señal distinta</a:t>
            </a:r>
          </a:p>
          <a:p>
            <a:r>
              <a:t>Checkpoint automático: evita perder horas de GPU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Resumen de todo lo visto — dejar en pantalla</a:t>
            </a:r>
          </a:p>
          <a:p>
            <a:r>
              <a:t>Pregunta clave: ¿señal en estilo o en contenido?</a:t>
            </a:r>
          </a:p>
          <a:p>
            <a:r>
              <a:t>Estilo → nunca traducir</a:t>
            </a:r>
          </a:p>
          <a:p>
            <a:r>
              <a:t>Contenido → traducción puede ayudar</a:t>
            </a:r>
          </a:p>
          <a:p>
            <a:r>
              <a:t>→ sigue: estilometría computacional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Última sección antes de la demo</a:t>
            </a:r>
          </a:p>
          <a:p>
            <a:r>
              <a:t>Estilometría: donde todo converge</a:t>
            </a:r>
          </a:p>
          <a:p>
            <a:r>
              <a:t>Burrows' Delta + embeddings para atribución</a:t>
            </a:r>
          </a:p>
          <a:p>
            <a:r>
              <a:t>Pregunta de fondo: ¿mismo actor, distinto handle?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Mide lo que el autor no controla: 'de', 'que', 'para'</a:t>
            </a:r>
          </a:p>
          <a:p>
            <a:r>
              <a:t>Nadie disimula conscientemente sus preposiciones</a:t>
            </a:r>
          </a:p>
          <a:p>
            <a:r>
              <a:t>Limitación: jerga compartida reduce el poder discriminante</a:t>
            </a:r>
          </a:p>
          <a:p>
            <a:r>
              <a:t>→ nunca usar Delta solo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Cierre conceptual del bloque</a:t>
            </a:r>
          </a:p>
          <a:p>
            <a:r>
              <a:t>Ninguna señal aislada es prueba de identidad</a:t>
            </a:r>
          </a:p>
          <a:p>
            <a:r>
              <a:t>Handle parecido: puede ser coincidencia</a:t>
            </a:r>
          </a:p>
          <a:p>
            <a:r>
              <a:t>Embeddings similares: puede ser tema, no autor</a:t>
            </a:r>
          </a:p>
          <a:p>
            <a:r>
              <a:t>→ convergencia de señales da fuerza al análisis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la práctica: notebook en vivo, CardingForums</a:t>
            </a:r>
          </a:p>
          <a:p>
            <a:r>
              <a:t>Pipeline: embeddings → UMAP → HDBSCAN → coseno</a:t>
            </a:r>
          </a:p>
          <a:p>
            <a:r>
              <a:t>Clusters emergen solos, sin fijar K</a:t>
            </a:r>
          </a:p>
          <a:p>
            <a:r>
              <a:t>Dudas: parar aquí antes de seguir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g"/><Relationship Id="rId3" Type="http://schemas.openxmlformats.org/officeDocument/2006/relationships/image" Target="../media/image4.gif"/><Relationship Id="rId4" Type="http://schemas.openxmlformats.org/officeDocument/2006/relationships/image" Target="../media/image5.gif"/><Relationship Id="rId5" Type="http://schemas.openxmlformats.org/officeDocument/2006/relationships/image" Target="../media/image6.gif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g"/><Relationship Id="rId3" Type="http://schemas.openxmlformats.org/officeDocument/2006/relationships/image" Target="../media/image5.gif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g"/><Relationship Id="rId3" Type="http://schemas.openxmlformats.org/officeDocument/2006/relationships/image" Target="../media/image5.gif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g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jp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ortada presentación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Marcador de texto 12">
            <a:extLst>
              <a:ext uri="{FF2B5EF4-FFF2-40B4-BE49-F238E27FC236}">
                <a16:creationId xmlns:a16="http://schemas.microsoft.com/office/drawing/2014/main" id="{9C55D48E-29CC-44DC-AF42-41191B622C2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832860" y="1440430"/>
            <a:ext cx="5029563" cy="1380392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FontTx/>
              <a:buNone/>
              <a:defRPr sz="4800" b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Título de la Presentación</a:t>
            </a:r>
          </a:p>
        </p:txBody>
      </p:sp>
    </p:spTree>
    <p:extLst>
      <p:ext uri="{BB962C8B-B14F-4D97-AF65-F5344CB8AC3E}">
        <p14:creationId xmlns:p14="http://schemas.microsoft.com/office/powerpoint/2010/main" val="245091652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ortada sección 1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Marcador de texto 12">
            <a:extLst>
              <a:ext uri="{FF2B5EF4-FFF2-40B4-BE49-F238E27FC236}">
                <a16:creationId xmlns:a16="http://schemas.microsoft.com/office/drawing/2014/main" id="{1C0BD042-7BE4-41D3-933E-4B59E0E64711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08914" y="2048608"/>
            <a:ext cx="7174172" cy="1380392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 algn="ctr">
              <a:buFontTx/>
              <a:buNone/>
              <a:defRPr sz="3600" b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Título de la sección</a:t>
            </a:r>
          </a:p>
        </p:txBody>
      </p:sp>
    </p:spTree>
    <p:extLst>
      <p:ext uri="{BB962C8B-B14F-4D97-AF65-F5344CB8AC3E}">
        <p14:creationId xmlns:p14="http://schemas.microsoft.com/office/powerpoint/2010/main" val="29802240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Índic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Marcador de texto 25">
            <a:extLst>
              <a:ext uri="{FF2B5EF4-FFF2-40B4-BE49-F238E27FC236}">
                <a16:creationId xmlns:a16="http://schemas.microsoft.com/office/drawing/2014/main" id="{C235A4E8-EC80-41A2-A234-6A1DB2EED589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073427" y="778468"/>
            <a:ext cx="6819223" cy="522794"/>
          </a:xfrm>
          <a:prstGeom prst="rect">
            <a:avLst/>
          </a:prstGeom>
        </p:spPr>
        <p:txBody>
          <a:bodyPr lIns="36000" tIns="0" rIns="0" bIns="0"/>
          <a:lstStyle>
            <a:lvl1pPr marL="0" indent="0">
              <a:lnSpc>
                <a:spcPct val="100000"/>
              </a:lnSpc>
              <a:buFontTx/>
              <a:buNone/>
              <a:defRPr sz="4000" b="1">
                <a:solidFill>
                  <a:srgbClr val="CD2D37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ÍNDICE</a:t>
            </a:r>
          </a:p>
          <a:p>
            <a:pPr lvl="0"/>
            <a:endParaRPr lang="es-ES" dirty="0"/>
          </a:p>
        </p:txBody>
      </p:sp>
      <p:sp>
        <p:nvSpPr>
          <p:cNvPr id="6" name="Marcador de texto 2">
            <a:extLst>
              <a:ext uri="{FF2B5EF4-FFF2-40B4-BE49-F238E27FC236}">
                <a16:creationId xmlns:a16="http://schemas.microsoft.com/office/drawing/2014/main" id="{A8F17752-9230-46BD-B02B-330D1C9AB76B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073427" y="1575582"/>
            <a:ext cx="10071652" cy="3981156"/>
          </a:xfrm>
          <a:prstGeom prst="rect">
            <a:avLst/>
          </a:prstGeom>
        </p:spPr>
        <p:txBody>
          <a:bodyPr>
            <a:normAutofit/>
          </a:bodyPr>
          <a:lstStyle>
            <a:lvl1pPr marL="228600" indent="-228600">
              <a:buFontTx/>
              <a:buBlip>
                <a:blip r:embed="rId3"/>
              </a:buBlip>
              <a:defRPr sz="2800" b="1">
                <a:solidFill>
                  <a:srgbClr val="CD2D37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685800" indent="-228600">
              <a:buClr>
                <a:srgbClr val="465461"/>
              </a:buClr>
              <a:buFontTx/>
              <a:buBlip>
                <a:blip r:embed="rId4"/>
              </a:buBlip>
              <a:defRPr sz="2400" b="0">
                <a:solidFill>
                  <a:srgbClr val="CD2D37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buFontTx/>
              <a:buBlip>
                <a:blip r:embed="rId5"/>
              </a:buBlip>
              <a:defRPr>
                <a:solidFill>
                  <a:srgbClr val="46546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</a:lstStyle>
          <a:p>
            <a:pPr lvl="0"/>
            <a:r>
              <a:rPr lang="es-ES" dirty="0"/>
              <a:t>01. Título</a:t>
            </a:r>
          </a:p>
          <a:p>
            <a:pPr lvl="1"/>
            <a:r>
              <a:rPr lang="es-ES" dirty="0"/>
              <a:t>01.1. Subtítulo</a:t>
            </a:r>
          </a:p>
          <a:p>
            <a:pPr lvl="2"/>
            <a:r>
              <a:rPr lang="es-ES" dirty="0"/>
              <a:t>01.1.1. Subtítulo 2</a:t>
            </a:r>
          </a:p>
          <a:p>
            <a:pPr lvl="0"/>
            <a:r>
              <a:rPr lang="es-ES" dirty="0"/>
              <a:t>02. Esta diapositiva puede llevar imagen de fondo o no.</a:t>
            </a:r>
          </a:p>
        </p:txBody>
      </p:sp>
    </p:spTree>
    <p:extLst>
      <p:ext uri="{BB962C8B-B14F-4D97-AF65-F5344CB8AC3E}">
        <p14:creationId xmlns:p14="http://schemas.microsoft.com/office/powerpoint/2010/main" val="150555036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ubtítulo/Texto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Marcador de texto 25">
            <a:extLst>
              <a:ext uri="{FF2B5EF4-FFF2-40B4-BE49-F238E27FC236}">
                <a16:creationId xmlns:a16="http://schemas.microsoft.com/office/drawing/2014/main" id="{C235A4E8-EC80-41A2-A234-6A1DB2EED589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073426" y="742507"/>
            <a:ext cx="6819223" cy="522794"/>
          </a:xfrm>
          <a:prstGeom prst="rect">
            <a:avLst/>
          </a:prstGeom>
        </p:spPr>
        <p:txBody>
          <a:bodyPr lIns="36000" tIns="0" rIns="0" bIns="0"/>
          <a:lstStyle>
            <a:lvl1pPr marL="0" indent="0">
              <a:lnSpc>
                <a:spcPct val="100000"/>
              </a:lnSpc>
              <a:buFontTx/>
              <a:buNone/>
              <a:defRPr sz="4000" b="1">
                <a:solidFill>
                  <a:srgbClr val="CD2D37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01. Título sección</a:t>
            </a:r>
          </a:p>
          <a:p>
            <a:pPr lvl="0"/>
            <a:endParaRPr lang="es-ES" dirty="0"/>
          </a:p>
        </p:txBody>
      </p:sp>
      <p:sp>
        <p:nvSpPr>
          <p:cNvPr id="10" name="Marcador de texto 2">
            <a:extLst>
              <a:ext uri="{FF2B5EF4-FFF2-40B4-BE49-F238E27FC236}">
                <a16:creationId xmlns:a16="http://schemas.microsoft.com/office/drawing/2014/main" id="{38ABC99D-D808-4839-8939-9FCE8A2AB37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073426" y="2195539"/>
            <a:ext cx="10058400" cy="3403404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 algn="just">
              <a:buFontTx/>
              <a:buNone/>
              <a:defRPr sz="1800">
                <a:solidFill>
                  <a:srgbClr val="46546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INFO</a:t>
            </a:r>
          </a:p>
        </p:txBody>
      </p:sp>
      <p:sp>
        <p:nvSpPr>
          <p:cNvPr id="5" name="Marcador de texto 4">
            <a:extLst>
              <a:ext uri="{FF2B5EF4-FFF2-40B4-BE49-F238E27FC236}">
                <a16:creationId xmlns:a16="http://schemas.microsoft.com/office/drawing/2014/main" id="{02BF20B6-2093-4128-869E-BC14787FF1B8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1073427" y="1528716"/>
            <a:ext cx="10045148" cy="459680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>
              <a:buFontTx/>
              <a:buNone/>
              <a:defRPr sz="2400" b="1">
                <a:solidFill>
                  <a:srgbClr val="46546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Subtítulo</a:t>
            </a:r>
          </a:p>
        </p:txBody>
      </p:sp>
    </p:spTree>
    <p:extLst>
      <p:ext uri="{BB962C8B-B14F-4D97-AF65-F5344CB8AC3E}">
        <p14:creationId xmlns:p14="http://schemas.microsoft.com/office/powerpoint/2010/main" val="240538987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ubtítulo/Texto/Imagen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Marcador de texto 25">
            <a:extLst>
              <a:ext uri="{FF2B5EF4-FFF2-40B4-BE49-F238E27FC236}">
                <a16:creationId xmlns:a16="http://schemas.microsoft.com/office/drawing/2014/main" id="{C235A4E8-EC80-41A2-A234-6A1DB2EED589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073426" y="742508"/>
            <a:ext cx="6819223" cy="522794"/>
          </a:xfrm>
          <a:prstGeom prst="rect">
            <a:avLst/>
          </a:prstGeom>
        </p:spPr>
        <p:txBody>
          <a:bodyPr lIns="36000" tIns="0" rIns="0" bIns="0"/>
          <a:lstStyle>
            <a:lvl1pPr marL="0" indent="0">
              <a:lnSpc>
                <a:spcPct val="100000"/>
              </a:lnSpc>
              <a:buFontTx/>
              <a:buNone/>
              <a:defRPr sz="4000" b="1">
                <a:solidFill>
                  <a:srgbClr val="CD2D37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01. Título sección</a:t>
            </a:r>
          </a:p>
          <a:p>
            <a:pPr lvl="0"/>
            <a:endParaRPr lang="es-ES" dirty="0"/>
          </a:p>
        </p:txBody>
      </p:sp>
      <p:sp>
        <p:nvSpPr>
          <p:cNvPr id="10" name="Marcador de texto 2">
            <a:extLst>
              <a:ext uri="{FF2B5EF4-FFF2-40B4-BE49-F238E27FC236}">
                <a16:creationId xmlns:a16="http://schemas.microsoft.com/office/drawing/2014/main" id="{38ABC99D-D808-4839-8939-9FCE8A2AB37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073426" y="2308079"/>
            <a:ext cx="6467061" cy="3262727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 algn="just">
              <a:buFontTx/>
              <a:buNone/>
              <a:defRPr sz="1800">
                <a:solidFill>
                  <a:srgbClr val="46546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INFO</a:t>
            </a:r>
          </a:p>
        </p:txBody>
      </p:sp>
      <p:sp>
        <p:nvSpPr>
          <p:cNvPr id="5" name="Marcador de texto 4">
            <a:extLst>
              <a:ext uri="{FF2B5EF4-FFF2-40B4-BE49-F238E27FC236}">
                <a16:creationId xmlns:a16="http://schemas.microsoft.com/office/drawing/2014/main" id="{02BF20B6-2093-4128-869E-BC14787FF1B8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1073427" y="1556851"/>
            <a:ext cx="10045148" cy="459680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>
              <a:buFontTx/>
              <a:buNone/>
              <a:defRPr sz="2400" b="1">
                <a:solidFill>
                  <a:srgbClr val="46546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Subtítulo</a:t>
            </a:r>
          </a:p>
        </p:txBody>
      </p:sp>
      <p:sp>
        <p:nvSpPr>
          <p:cNvPr id="6" name="Marcador de posición de imagen 3">
            <a:extLst>
              <a:ext uri="{FF2B5EF4-FFF2-40B4-BE49-F238E27FC236}">
                <a16:creationId xmlns:a16="http://schemas.microsoft.com/office/drawing/2014/main" id="{5C62E7EF-E2A7-488C-875F-A809E9D7DCE2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7892649" y="2308079"/>
            <a:ext cx="3225925" cy="3262727"/>
          </a:xfrm>
          <a:prstGeom prst="rect">
            <a:avLst/>
          </a:prstGeom>
        </p:spPr>
        <p:txBody>
          <a:bodyPr/>
          <a:lstStyle/>
          <a:p>
            <a:r>
              <a:rPr lang="es-ES"/>
              <a:t>Haga clic en el icono para agregar una imagen</a:t>
            </a:r>
          </a:p>
        </p:txBody>
      </p:sp>
    </p:spTree>
    <p:extLst>
      <p:ext uri="{BB962C8B-B14F-4D97-AF65-F5344CB8AC3E}">
        <p14:creationId xmlns:p14="http://schemas.microsoft.com/office/powerpoint/2010/main" val="265240207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ubtítulo/Texto/Imagen2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Marcador de texto 25">
            <a:extLst>
              <a:ext uri="{FF2B5EF4-FFF2-40B4-BE49-F238E27FC236}">
                <a16:creationId xmlns:a16="http://schemas.microsoft.com/office/drawing/2014/main" id="{C235A4E8-EC80-41A2-A234-6A1DB2EED589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073426" y="742502"/>
            <a:ext cx="6819223" cy="522794"/>
          </a:xfrm>
          <a:prstGeom prst="rect">
            <a:avLst/>
          </a:prstGeom>
        </p:spPr>
        <p:txBody>
          <a:bodyPr lIns="36000" tIns="0" rIns="0" bIns="0"/>
          <a:lstStyle>
            <a:lvl1pPr marL="0" indent="0">
              <a:lnSpc>
                <a:spcPct val="100000"/>
              </a:lnSpc>
              <a:buFontTx/>
              <a:buNone/>
              <a:defRPr sz="4000" b="1">
                <a:solidFill>
                  <a:srgbClr val="CD2D37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01. Título sección</a:t>
            </a:r>
          </a:p>
          <a:p>
            <a:pPr lvl="0"/>
            <a:endParaRPr lang="es-ES" dirty="0"/>
          </a:p>
        </p:txBody>
      </p:sp>
      <p:sp>
        <p:nvSpPr>
          <p:cNvPr id="10" name="Marcador de texto 2">
            <a:extLst>
              <a:ext uri="{FF2B5EF4-FFF2-40B4-BE49-F238E27FC236}">
                <a16:creationId xmlns:a16="http://schemas.microsoft.com/office/drawing/2014/main" id="{38ABC99D-D808-4839-8939-9FCE8A2AB37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073426" y="2308073"/>
            <a:ext cx="3591339" cy="3290869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 algn="just">
              <a:buFontTx/>
              <a:buNone/>
              <a:defRPr sz="1800">
                <a:solidFill>
                  <a:srgbClr val="46546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INFO</a:t>
            </a:r>
          </a:p>
        </p:txBody>
      </p:sp>
      <p:sp>
        <p:nvSpPr>
          <p:cNvPr id="5" name="Marcador de texto 4">
            <a:extLst>
              <a:ext uri="{FF2B5EF4-FFF2-40B4-BE49-F238E27FC236}">
                <a16:creationId xmlns:a16="http://schemas.microsoft.com/office/drawing/2014/main" id="{02BF20B6-2093-4128-869E-BC14787FF1B8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1073427" y="1556845"/>
            <a:ext cx="10045148" cy="459680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>
              <a:buFontTx/>
              <a:buNone/>
              <a:defRPr sz="2400" b="1">
                <a:solidFill>
                  <a:srgbClr val="46546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Subtítulo</a:t>
            </a:r>
          </a:p>
        </p:txBody>
      </p:sp>
      <p:sp>
        <p:nvSpPr>
          <p:cNvPr id="6" name="Marcador de posición de imagen 3">
            <a:extLst>
              <a:ext uri="{FF2B5EF4-FFF2-40B4-BE49-F238E27FC236}">
                <a16:creationId xmlns:a16="http://schemas.microsoft.com/office/drawing/2014/main" id="{5C62E7EF-E2A7-488C-875F-A809E9D7DCE2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5380383" y="2308073"/>
            <a:ext cx="5738191" cy="3290869"/>
          </a:xfrm>
          <a:prstGeom prst="rect">
            <a:avLst/>
          </a:prstGeom>
        </p:spPr>
        <p:txBody>
          <a:bodyPr/>
          <a:lstStyle/>
          <a:p>
            <a:r>
              <a:rPr lang="es-ES"/>
              <a:t>Haga clic en el icono para agregar una imagen</a:t>
            </a:r>
          </a:p>
        </p:txBody>
      </p:sp>
    </p:spTree>
    <p:extLst>
      <p:ext uri="{BB962C8B-B14F-4D97-AF65-F5344CB8AC3E}">
        <p14:creationId xmlns:p14="http://schemas.microsoft.com/office/powerpoint/2010/main" val="342502844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ubtítulo/Imagen/Texto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Marcador de texto 25">
            <a:extLst>
              <a:ext uri="{FF2B5EF4-FFF2-40B4-BE49-F238E27FC236}">
                <a16:creationId xmlns:a16="http://schemas.microsoft.com/office/drawing/2014/main" id="{C235A4E8-EC80-41A2-A234-6A1DB2EED589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073426" y="742503"/>
            <a:ext cx="6819223" cy="522794"/>
          </a:xfrm>
          <a:prstGeom prst="rect">
            <a:avLst/>
          </a:prstGeom>
        </p:spPr>
        <p:txBody>
          <a:bodyPr lIns="36000" tIns="0" rIns="0" bIns="0"/>
          <a:lstStyle>
            <a:lvl1pPr marL="0" indent="0">
              <a:lnSpc>
                <a:spcPct val="100000"/>
              </a:lnSpc>
              <a:buFontTx/>
              <a:buNone/>
              <a:defRPr sz="4000" b="1">
                <a:solidFill>
                  <a:srgbClr val="CD2D37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01. Título sección</a:t>
            </a:r>
          </a:p>
          <a:p>
            <a:pPr lvl="0"/>
            <a:endParaRPr lang="es-ES" dirty="0"/>
          </a:p>
        </p:txBody>
      </p:sp>
      <p:sp>
        <p:nvSpPr>
          <p:cNvPr id="10" name="Marcador de texto 2">
            <a:extLst>
              <a:ext uri="{FF2B5EF4-FFF2-40B4-BE49-F238E27FC236}">
                <a16:creationId xmlns:a16="http://schemas.microsoft.com/office/drawing/2014/main" id="{38ABC99D-D808-4839-8939-9FCE8A2AB37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714812" y="2213517"/>
            <a:ext cx="6453809" cy="3385424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 algn="just">
              <a:buFontTx/>
              <a:buNone/>
              <a:defRPr sz="1800">
                <a:solidFill>
                  <a:srgbClr val="46546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INFO</a:t>
            </a:r>
          </a:p>
        </p:txBody>
      </p:sp>
      <p:sp>
        <p:nvSpPr>
          <p:cNvPr id="5" name="Marcador de posición de imagen 3">
            <a:extLst>
              <a:ext uri="{FF2B5EF4-FFF2-40B4-BE49-F238E27FC236}">
                <a16:creationId xmlns:a16="http://schemas.microsoft.com/office/drawing/2014/main" id="{CD063F19-9FFD-4E6B-80EA-302B98B23E8D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1073426" y="2213518"/>
            <a:ext cx="3225925" cy="3385424"/>
          </a:xfrm>
          <a:prstGeom prst="rect">
            <a:avLst/>
          </a:prstGeom>
        </p:spPr>
        <p:txBody>
          <a:bodyPr/>
          <a:lstStyle/>
          <a:p>
            <a:r>
              <a:rPr lang="es-ES"/>
              <a:t>Haga clic en el icono para agregar una imagen</a:t>
            </a:r>
            <a:endParaRPr lang="es-ES" dirty="0"/>
          </a:p>
        </p:txBody>
      </p:sp>
      <p:sp>
        <p:nvSpPr>
          <p:cNvPr id="6" name="Marcador de texto 4">
            <a:extLst>
              <a:ext uri="{FF2B5EF4-FFF2-40B4-BE49-F238E27FC236}">
                <a16:creationId xmlns:a16="http://schemas.microsoft.com/office/drawing/2014/main" id="{5D3E1EB6-CB68-4AD5-A0BA-9B5DE1C02ADC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1073427" y="1556846"/>
            <a:ext cx="10045148" cy="459680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>
              <a:buFontTx/>
              <a:buNone/>
              <a:defRPr sz="2400" b="1">
                <a:solidFill>
                  <a:srgbClr val="46546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Subtítulo</a:t>
            </a:r>
          </a:p>
        </p:txBody>
      </p:sp>
    </p:spTree>
    <p:extLst>
      <p:ext uri="{BB962C8B-B14F-4D97-AF65-F5344CB8AC3E}">
        <p14:creationId xmlns:p14="http://schemas.microsoft.com/office/powerpoint/2010/main" val="206592593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ubtítulo/Bullets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Marcador de texto 25">
            <a:extLst>
              <a:ext uri="{FF2B5EF4-FFF2-40B4-BE49-F238E27FC236}">
                <a16:creationId xmlns:a16="http://schemas.microsoft.com/office/drawing/2014/main" id="{C235A4E8-EC80-41A2-A234-6A1DB2EED589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073426" y="742509"/>
            <a:ext cx="6819223" cy="522794"/>
          </a:xfrm>
          <a:prstGeom prst="rect">
            <a:avLst/>
          </a:prstGeom>
        </p:spPr>
        <p:txBody>
          <a:bodyPr lIns="36000" tIns="0" rIns="0" bIns="0"/>
          <a:lstStyle>
            <a:lvl1pPr marL="0" indent="0">
              <a:lnSpc>
                <a:spcPct val="100000"/>
              </a:lnSpc>
              <a:buFontTx/>
              <a:buNone/>
              <a:defRPr sz="4000" b="1">
                <a:solidFill>
                  <a:srgbClr val="CD2D37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01. Título sección</a:t>
            </a:r>
          </a:p>
          <a:p>
            <a:pPr lvl="0"/>
            <a:endParaRPr lang="es-ES" dirty="0"/>
          </a:p>
        </p:txBody>
      </p:sp>
      <p:sp>
        <p:nvSpPr>
          <p:cNvPr id="6" name="Marcador de texto 2">
            <a:extLst>
              <a:ext uri="{FF2B5EF4-FFF2-40B4-BE49-F238E27FC236}">
                <a16:creationId xmlns:a16="http://schemas.microsoft.com/office/drawing/2014/main" id="{D42AF7A5-9638-451B-BDAF-F2599D25AF43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073427" y="2213523"/>
            <a:ext cx="10084904" cy="3371351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228600" indent="-228600">
              <a:buFontTx/>
              <a:buBlip>
                <a:blip r:embed="rId3"/>
              </a:buBlip>
              <a:defRPr sz="1800">
                <a:solidFill>
                  <a:srgbClr val="46546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 err="1"/>
              <a:t>Bullets</a:t>
            </a:r>
            <a:r>
              <a:rPr lang="es-ES" dirty="0"/>
              <a:t> opción 1</a:t>
            </a:r>
          </a:p>
        </p:txBody>
      </p:sp>
      <p:sp>
        <p:nvSpPr>
          <p:cNvPr id="5" name="Marcador de texto 4">
            <a:extLst>
              <a:ext uri="{FF2B5EF4-FFF2-40B4-BE49-F238E27FC236}">
                <a16:creationId xmlns:a16="http://schemas.microsoft.com/office/drawing/2014/main" id="{40BB3744-8949-403C-8160-58A45DFEE94E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1073427" y="1556852"/>
            <a:ext cx="10045148" cy="459680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>
              <a:buFontTx/>
              <a:buNone/>
              <a:defRPr sz="2400" b="1">
                <a:solidFill>
                  <a:srgbClr val="46546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Subtítulo</a:t>
            </a:r>
          </a:p>
        </p:txBody>
      </p:sp>
    </p:spTree>
    <p:extLst>
      <p:ext uri="{BB962C8B-B14F-4D97-AF65-F5344CB8AC3E}">
        <p14:creationId xmlns:p14="http://schemas.microsoft.com/office/powerpoint/2010/main" val="290007181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ubtítulo/Textos/Imágenes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Marcador de texto 25">
            <a:extLst>
              <a:ext uri="{FF2B5EF4-FFF2-40B4-BE49-F238E27FC236}">
                <a16:creationId xmlns:a16="http://schemas.microsoft.com/office/drawing/2014/main" id="{C235A4E8-EC80-41A2-A234-6A1DB2EED589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073426" y="742507"/>
            <a:ext cx="6819223" cy="522794"/>
          </a:xfrm>
          <a:prstGeom prst="rect">
            <a:avLst/>
          </a:prstGeom>
        </p:spPr>
        <p:txBody>
          <a:bodyPr lIns="36000" tIns="0" rIns="0" bIns="0"/>
          <a:lstStyle>
            <a:lvl1pPr marL="0" indent="0">
              <a:lnSpc>
                <a:spcPct val="100000"/>
              </a:lnSpc>
              <a:buFontTx/>
              <a:buNone/>
              <a:defRPr sz="4000" b="1">
                <a:solidFill>
                  <a:srgbClr val="CD2D37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01. Título sección</a:t>
            </a:r>
          </a:p>
          <a:p>
            <a:pPr lvl="0"/>
            <a:endParaRPr lang="es-ES" dirty="0"/>
          </a:p>
        </p:txBody>
      </p:sp>
      <p:sp>
        <p:nvSpPr>
          <p:cNvPr id="5" name="Marcador de texto 4">
            <a:extLst>
              <a:ext uri="{FF2B5EF4-FFF2-40B4-BE49-F238E27FC236}">
                <a16:creationId xmlns:a16="http://schemas.microsoft.com/office/drawing/2014/main" id="{40BB3744-8949-403C-8160-58A45DFEE94E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1073427" y="1556850"/>
            <a:ext cx="10045148" cy="459680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>
              <a:buFontTx/>
              <a:buNone/>
              <a:defRPr sz="2400" b="1">
                <a:solidFill>
                  <a:srgbClr val="46546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Subtítulo</a:t>
            </a:r>
          </a:p>
        </p:txBody>
      </p:sp>
      <p:sp>
        <p:nvSpPr>
          <p:cNvPr id="7" name="Marcador de texto 2">
            <a:extLst>
              <a:ext uri="{FF2B5EF4-FFF2-40B4-BE49-F238E27FC236}">
                <a16:creationId xmlns:a16="http://schemas.microsoft.com/office/drawing/2014/main" id="{42830782-65CF-4B35-B7AD-2DCDE86A9CD5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087563" y="2244315"/>
            <a:ext cx="3179637" cy="1184686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 algn="just">
              <a:buFontTx/>
              <a:buNone/>
              <a:defRPr sz="1800">
                <a:solidFill>
                  <a:srgbClr val="46546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INFO</a:t>
            </a:r>
          </a:p>
        </p:txBody>
      </p:sp>
      <p:sp>
        <p:nvSpPr>
          <p:cNvPr id="8" name="Marcador de posición de imagen 3">
            <a:extLst>
              <a:ext uri="{FF2B5EF4-FFF2-40B4-BE49-F238E27FC236}">
                <a16:creationId xmlns:a16="http://schemas.microsoft.com/office/drawing/2014/main" id="{9E493630-8364-4307-AF71-ABB0195A687C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1090378" y="3563715"/>
            <a:ext cx="3179637" cy="2035227"/>
          </a:xfrm>
          <a:prstGeom prst="rect">
            <a:avLst/>
          </a:prstGeom>
        </p:spPr>
        <p:txBody>
          <a:bodyPr/>
          <a:lstStyle/>
          <a:p>
            <a:r>
              <a:rPr lang="es-ES"/>
              <a:t>Haga clic en el icono para agregar una imagen</a:t>
            </a:r>
          </a:p>
        </p:txBody>
      </p:sp>
      <p:sp>
        <p:nvSpPr>
          <p:cNvPr id="10" name="Marcador de texto 2">
            <a:extLst>
              <a:ext uri="{FF2B5EF4-FFF2-40B4-BE49-F238E27FC236}">
                <a16:creationId xmlns:a16="http://schemas.microsoft.com/office/drawing/2014/main" id="{AB954431-C521-4129-ACDE-549CF6B556B4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655568" y="2244315"/>
            <a:ext cx="3179637" cy="1184686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 algn="just">
              <a:buFontTx/>
              <a:buNone/>
              <a:defRPr sz="1800">
                <a:solidFill>
                  <a:srgbClr val="46546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INFO</a:t>
            </a:r>
          </a:p>
        </p:txBody>
      </p:sp>
      <p:sp>
        <p:nvSpPr>
          <p:cNvPr id="11" name="Marcador de posición de imagen 3">
            <a:extLst>
              <a:ext uri="{FF2B5EF4-FFF2-40B4-BE49-F238E27FC236}">
                <a16:creationId xmlns:a16="http://schemas.microsoft.com/office/drawing/2014/main" id="{F203F820-6648-46A2-A54A-DCC8C4AB4966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4658383" y="3563715"/>
            <a:ext cx="3179637" cy="2035227"/>
          </a:xfrm>
          <a:prstGeom prst="rect">
            <a:avLst/>
          </a:prstGeom>
        </p:spPr>
        <p:txBody>
          <a:bodyPr/>
          <a:lstStyle/>
          <a:p>
            <a:r>
              <a:rPr lang="es-ES"/>
              <a:t>Haga clic en el icono para agregar una imagen</a:t>
            </a:r>
          </a:p>
        </p:txBody>
      </p:sp>
      <p:sp>
        <p:nvSpPr>
          <p:cNvPr id="12" name="Marcador de texto 2">
            <a:extLst>
              <a:ext uri="{FF2B5EF4-FFF2-40B4-BE49-F238E27FC236}">
                <a16:creationId xmlns:a16="http://schemas.microsoft.com/office/drawing/2014/main" id="{61533F47-9201-4351-8A64-706F23355621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8253270" y="2244315"/>
            <a:ext cx="3179637" cy="1184686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 algn="just">
              <a:buFontTx/>
              <a:buNone/>
              <a:defRPr sz="1800">
                <a:solidFill>
                  <a:srgbClr val="46546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INFO</a:t>
            </a:r>
          </a:p>
        </p:txBody>
      </p:sp>
      <p:sp>
        <p:nvSpPr>
          <p:cNvPr id="13" name="Marcador de posición de imagen 3">
            <a:extLst>
              <a:ext uri="{FF2B5EF4-FFF2-40B4-BE49-F238E27FC236}">
                <a16:creationId xmlns:a16="http://schemas.microsoft.com/office/drawing/2014/main" id="{A06B10CE-635F-4975-A971-D25FE7907968}"/>
              </a:ext>
            </a:extLst>
          </p:cNvPr>
          <p:cNvSpPr>
            <a:spLocks noGrp="1"/>
          </p:cNvSpPr>
          <p:nvPr>
            <p:ph type="pic" sz="quarter" idx="21"/>
          </p:nvPr>
        </p:nvSpPr>
        <p:spPr>
          <a:xfrm>
            <a:off x="8253271" y="3563715"/>
            <a:ext cx="3179637" cy="2035227"/>
          </a:xfrm>
          <a:prstGeom prst="rect">
            <a:avLst/>
          </a:prstGeom>
        </p:spPr>
        <p:txBody>
          <a:bodyPr/>
          <a:lstStyle/>
          <a:p>
            <a:r>
              <a:rPr lang="es-ES"/>
              <a:t>Haga clic en el icono para agregar una imagen</a:t>
            </a:r>
          </a:p>
        </p:txBody>
      </p:sp>
    </p:spTree>
    <p:extLst>
      <p:ext uri="{BB962C8B-B14F-4D97-AF65-F5344CB8AC3E}">
        <p14:creationId xmlns:p14="http://schemas.microsoft.com/office/powerpoint/2010/main" val="243308522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o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Marcador de texto 25">
            <a:extLst>
              <a:ext uri="{FF2B5EF4-FFF2-40B4-BE49-F238E27FC236}">
                <a16:creationId xmlns:a16="http://schemas.microsoft.com/office/drawing/2014/main" id="{C235A4E8-EC80-41A2-A234-6A1DB2EED589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073426" y="742506"/>
            <a:ext cx="6819223" cy="481395"/>
          </a:xfrm>
          <a:prstGeom prst="rect">
            <a:avLst/>
          </a:prstGeom>
        </p:spPr>
        <p:txBody>
          <a:bodyPr lIns="36000" tIns="0" rIns="0" bIns="0"/>
          <a:lstStyle>
            <a:lvl1pPr marL="0" indent="0">
              <a:lnSpc>
                <a:spcPct val="100000"/>
              </a:lnSpc>
              <a:buFontTx/>
              <a:buNone/>
              <a:defRPr sz="4000" b="1">
                <a:solidFill>
                  <a:srgbClr val="CD2D37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01. Título sección</a:t>
            </a:r>
          </a:p>
          <a:p>
            <a:pPr lvl="0"/>
            <a:endParaRPr lang="es-ES" dirty="0"/>
          </a:p>
        </p:txBody>
      </p:sp>
      <p:sp>
        <p:nvSpPr>
          <p:cNvPr id="10" name="Marcador de texto 2">
            <a:extLst>
              <a:ext uri="{FF2B5EF4-FFF2-40B4-BE49-F238E27FC236}">
                <a16:creationId xmlns:a16="http://schemas.microsoft.com/office/drawing/2014/main" id="{38ABC99D-D808-4839-8939-9FCE8A2AB37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073426" y="1746933"/>
            <a:ext cx="10058400" cy="3809805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 algn="just">
              <a:buFontTx/>
              <a:buNone/>
              <a:defRPr sz="1800">
                <a:solidFill>
                  <a:srgbClr val="46546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INFO</a:t>
            </a:r>
          </a:p>
        </p:txBody>
      </p:sp>
    </p:spTree>
    <p:extLst>
      <p:ext uri="{BB962C8B-B14F-4D97-AF65-F5344CB8AC3E}">
        <p14:creationId xmlns:p14="http://schemas.microsoft.com/office/powerpoint/2010/main" val="34779184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o/Imagen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Marcador de texto 25">
            <a:extLst>
              <a:ext uri="{FF2B5EF4-FFF2-40B4-BE49-F238E27FC236}">
                <a16:creationId xmlns:a16="http://schemas.microsoft.com/office/drawing/2014/main" id="{C235A4E8-EC80-41A2-A234-6A1DB2EED589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073426" y="742505"/>
            <a:ext cx="6819223" cy="522794"/>
          </a:xfrm>
          <a:prstGeom prst="rect">
            <a:avLst/>
          </a:prstGeom>
        </p:spPr>
        <p:txBody>
          <a:bodyPr lIns="36000" tIns="0" rIns="0" bIns="0"/>
          <a:lstStyle>
            <a:lvl1pPr marL="0" indent="0">
              <a:lnSpc>
                <a:spcPct val="100000"/>
              </a:lnSpc>
              <a:buFontTx/>
              <a:buNone/>
              <a:defRPr sz="4000" b="1">
                <a:solidFill>
                  <a:srgbClr val="CD2D37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01. Título sección</a:t>
            </a:r>
          </a:p>
          <a:p>
            <a:pPr lvl="0"/>
            <a:endParaRPr lang="es-ES" dirty="0"/>
          </a:p>
        </p:txBody>
      </p:sp>
      <p:sp>
        <p:nvSpPr>
          <p:cNvPr id="10" name="Marcador de texto 2">
            <a:extLst>
              <a:ext uri="{FF2B5EF4-FFF2-40B4-BE49-F238E27FC236}">
                <a16:creationId xmlns:a16="http://schemas.microsoft.com/office/drawing/2014/main" id="{38ABC99D-D808-4839-8939-9FCE8A2AB37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073426" y="1746932"/>
            <a:ext cx="6453809" cy="3823874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 algn="just">
              <a:buFontTx/>
              <a:buNone/>
              <a:defRPr sz="1800">
                <a:solidFill>
                  <a:srgbClr val="46546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INFO</a:t>
            </a:r>
          </a:p>
        </p:txBody>
      </p:sp>
      <p:sp>
        <p:nvSpPr>
          <p:cNvPr id="5" name="Marcador de posición de imagen 3">
            <a:extLst>
              <a:ext uri="{FF2B5EF4-FFF2-40B4-BE49-F238E27FC236}">
                <a16:creationId xmlns:a16="http://schemas.microsoft.com/office/drawing/2014/main" id="{CD063F19-9FFD-4E6B-80EA-302B98B23E8D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7892649" y="1746932"/>
            <a:ext cx="3225925" cy="3823874"/>
          </a:xfrm>
          <a:prstGeom prst="rect">
            <a:avLst/>
          </a:prstGeom>
        </p:spPr>
        <p:txBody>
          <a:bodyPr/>
          <a:lstStyle/>
          <a:p>
            <a:r>
              <a:rPr lang="es-ES"/>
              <a:t>Haga clic en el icono para agregar una imagen</a:t>
            </a:r>
          </a:p>
        </p:txBody>
      </p:sp>
    </p:spTree>
    <p:extLst>
      <p:ext uri="{BB962C8B-B14F-4D97-AF65-F5344CB8AC3E}">
        <p14:creationId xmlns:p14="http://schemas.microsoft.com/office/powerpoint/2010/main" val="28433797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o/Imagen2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Marcador de texto 25">
            <a:extLst>
              <a:ext uri="{FF2B5EF4-FFF2-40B4-BE49-F238E27FC236}">
                <a16:creationId xmlns:a16="http://schemas.microsoft.com/office/drawing/2014/main" id="{C235A4E8-EC80-41A2-A234-6A1DB2EED589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073426" y="742503"/>
            <a:ext cx="6819223" cy="522794"/>
          </a:xfrm>
          <a:prstGeom prst="rect">
            <a:avLst/>
          </a:prstGeom>
        </p:spPr>
        <p:txBody>
          <a:bodyPr lIns="36000" tIns="0" rIns="0" bIns="0"/>
          <a:lstStyle>
            <a:lvl1pPr marL="0" indent="0">
              <a:lnSpc>
                <a:spcPct val="100000"/>
              </a:lnSpc>
              <a:buFontTx/>
              <a:buNone/>
              <a:defRPr sz="4000" b="1">
                <a:solidFill>
                  <a:srgbClr val="CD2D37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01. Título sección</a:t>
            </a:r>
          </a:p>
          <a:p>
            <a:pPr lvl="0"/>
            <a:endParaRPr lang="es-ES" dirty="0"/>
          </a:p>
        </p:txBody>
      </p:sp>
      <p:sp>
        <p:nvSpPr>
          <p:cNvPr id="10" name="Marcador de texto 2">
            <a:extLst>
              <a:ext uri="{FF2B5EF4-FFF2-40B4-BE49-F238E27FC236}">
                <a16:creationId xmlns:a16="http://schemas.microsoft.com/office/drawing/2014/main" id="{38ABC99D-D808-4839-8939-9FCE8A2AB37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073426" y="1577415"/>
            <a:ext cx="3591339" cy="3993392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 algn="just">
              <a:buFontTx/>
              <a:buNone/>
              <a:defRPr sz="1800">
                <a:solidFill>
                  <a:srgbClr val="46546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INFO</a:t>
            </a:r>
          </a:p>
        </p:txBody>
      </p:sp>
      <p:sp>
        <p:nvSpPr>
          <p:cNvPr id="6" name="Marcador de posición de imagen 3">
            <a:extLst>
              <a:ext uri="{FF2B5EF4-FFF2-40B4-BE49-F238E27FC236}">
                <a16:creationId xmlns:a16="http://schemas.microsoft.com/office/drawing/2014/main" id="{5C62E7EF-E2A7-488C-875F-A809E9D7DCE2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5380383" y="1577414"/>
            <a:ext cx="5738191" cy="3993392"/>
          </a:xfrm>
          <a:prstGeom prst="rect">
            <a:avLst/>
          </a:prstGeom>
        </p:spPr>
        <p:txBody>
          <a:bodyPr/>
          <a:lstStyle/>
          <a:p>
            <a:r>
              <a:rPr lang="es-ES"/>
              <a:t>Haga clic en el icono para agregar una imagen</a:t>
            </a:r>
          </a:p>
        </p:txBody>
      </p:sp>
    </p:spTree>
    <p:extLst>
      <p:ext uri="{BB962C8B-B14F-4D97-AF65-F5344CB8AC3E}">
        <p14:creationId xmlns:p14="http://schemas.microsoft.com/office/powerpoint/2010/main" val="1448481060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n/Texto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Marcador de texto 25">
            <a:extLst>
              <a:ext uri="{FF2B5EF4-FFF2-40B4-BE49-F238E27FC236}">
                <a16:creationId xmlns:a16="http://schemas.microsoft.com/office/drawing/2014/main" id="{C235A4E8-EC80-41A2-A234-6A1DB2EED589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073426" y="742504"/>
            <a:ext cx="6819223" cy="522794"/>
          </a:xfrm>
          <a:prstGeom prst="rect">
            <a:avLst/>
          </a:prstGeom>
        </p:spPr>
        <p:txBody>
          <a:bodyPr lIns="36000" tIns="0" rIns="0" bIns="0"/>
          <a:lstStyle>
            <a:lvl1pPr marL="0" indent="0">
              <a:lnSpc>
                <a:spcPct val="100000"/>
              </a:lnSpc>
              <a:buFontTx/>
              <a:buNone/>
              <a:defRPr sz="4000" b="1">
                <a:solidFill>
                  <a:srgbClr val="CD2D37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01. Título sección</a:t>
            </a:r>
          </a:p>
          <a:p>
            <a:pPr lvl="0"/>
            <a:endParaRPr lang="es-ES" dirty="0"/>
          </a:p>
        </p:txBody>
      </p:sp>
      <p:sp>
        <p:nvSpPr>
          <p:cNvPr id="10" name="Marcador de texto 2">
            <a:extLst>
              <a:ext uri="{FF2B5EF4-FFF2-40B4-BE49-F238E27FC236}">
                <a16:creationId xmlns:a16="http://schemas.microsoft.com/office/drawing/2014/main" id="{38ABC99D-D808-4839-8939-9FCE8A2AB37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714812" y="1767845"/>
            <a:ext cx="6453809" cy="3817029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 algn="just">
              <a:buFontTx/>
              <a:buNone/>
              <a:defRPr sz="1800">
                <a:solidFill>
                  <a:srgbClr val="46546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INFO</a:t>
            </a:r>
          </a:p>
        </p:txBody>
      </p:sp>
      <p:sp>
        <p:nvSpPr>
          <p:cNvPr id="5" name="Marcador de posición de imagen 3">
            <a:extLst>
              <a:ext uri="{FF2B5EF4-FFF2-40B4-BE49-F238E27FC236}">
                <a16:creationId xmlns:a16="http://schemas.microsoft.com/office/drawing/2014/main" id="{CD063F19-9FFD-4E6B-80EA-302B98B23E8D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1073426" y="1767845"/>
            <a:ext cx="3225925" cy="3817029"/>
          </a:xfrm>
          <a:prstGeom prst="rect">
            <a:avLst/>
          </a:prstGeom>
        </p:spPr>
        <p:txBody>
          <a:bodyPr/>
          <a:lstStyle/>
          <a:p>
            <a:r>
              <a:rPr lang="es-ES"/>
              <a:t>Haga clic en el icono para agregar una imagen</a:t>
            </a:r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159693423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ullets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Marcador de texto 25">
            <a:extLst>
              <a:ext uri="{FF2B5EF4-FFF2-40B4-BE49-F238E27FC236}">
                <a16:creationId xmlns:a16="http://schemas.microsoft.com/office/drawing/2014/main" id="{C235A4E8-EC80-41A2-A234-6A1DB2EED589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073426" y="742506"/>
            <a:ext cx="6819223" cy="522794"/>
          </a:xfrm>
          <a:prstGeom prst="rect">
            <a:avLst/>
          </a:prstGeom>
        </p:spPr>
        <p:txBody>
          <a:bodyPr lIns="36000" tIns="0" rIns="0" bIns="0"/>
          <a:lstStyle>
            <a:lvl1pPr marL="0" indent="0">
              <a:lnSpc>
                <a:spcPct val="100000"/>
              </a:lnSpc>
              <a:buFontTx/>
              <a:buNone/>
              <a:defRPr sz="4000" b="1">
                <a:solidFill>
                  <a:srgbClr val="CD2D37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01. Título sección</a:t>
            </a:r>
          </a:p>
          <a:p>
            <a:pPr lvl="0"/>
            <a:endParaRPr lang="es-ES" dirty="0"/>
          </a:p>
        </p:txBody>
      </p:sp>
      <p:sp>
        <p:nvSpPr>
          <p:cNvPr id="6" name="Marcador de texto 2">
            <a:extLst>
              <a:ext uri="{FF2B5EF4-FFF2-40B4-BE49-F238E27FC236}">
                <a16:creationId xmlns:a16="http://schemas.microsoft.com/office/drawing/2014/main" id="{D42AF7A5-9638-451B-BDAF-F2599D25AF43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073427" y="1574656"/>
            <a:ext cx="10084904" cy="4010218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228600" indent="-228600">
              <a:buFontTx/>
              <a:buBlip>
                <a:blip r:embed="rId3"/>
              </a:buBlip>
              <a:defRPr sz="1800">
                <a:solidFill>
                  <a:srgbClr val="46546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 err="1"/>
              <a:t>Bullets</a:t>
            </a:r>
            <a:r>
              <a:rPr lang="es-ES" dirty="0"/>
              <a:t> opción 1</a:t>
            </a:r>
          </a:p>
        </p:txBody>
      </p:sp>
    </p:spTree>
    <p:extLst>
      <p:ext uri="{BB962C8B-B14F-4D97-AF65-F5344CB8AC3E}">
        <p14:creationId xmlns:p14="http://schemas.microsoft.com/office/powerpoint/2010/main" val="855867720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os/Imágenes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Marcador de texto 25">
            <a:extLst>
              <a:ext uri="{FF2B5EF4-FFF2-40B4-BE49-F238E27FC236}">
                <a16:creationId xmlns:a16="http://schemas.microsoft.com/office/drawing/2014/main" id="{C235A4E8-EC80-41A2-A234-6A1DB2EED589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073426" y="742507"/>
            <a:ext cx="6819223" cy="522794"/>
          </a:xfrm>
          <a:prstGeom prst="rect">
            <a:avLst/>
          </a:prstGeom>
        </p:spPr>
        <p:txBody>
          <a:bodyPr lIns="36000" tIns="0" rIns="0" bIns="0"/>
          <a:lstStyle>
            <a:lvl1pPr marL="0" indent="0">
              <a:lnSpc>
                <a:spcPct val="100000"/>
              </a:lnSpc>
              <a:buFontTx/>
              <a:buNone/>
              <a:defRPr sz="4000" b="1">
                <a:solidFill>
                  <a:srgbClr val="CD2D37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01. Título sección</a:t>
            </a:r>
          </a:p>
          <a:p>
            <a:pPr lvl="0"/>
            <a:endParaRPr lang="es-ES" dirty="0"/>
          </a:p>
        </p:txBody>
      </p:sp>
      <p:sp>
        <p:nvSpPr>
          <p:cNvPr id="8" name="Marcador de posición de imagen 3">
            <a:extLst>
              <a:ext uri="{FF2B5EF4-FFF2-40B4-BE49-F238E27FC236}">
                <a16:creationId xmlns:a16="http://schemas.microsoft.com/office/drawing/2014/main" id="{9E493630-8364-4307-AF71-ABB0195A687C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1090378" y="3412147"/>
            <a:ext cx="3179637" cy="2306105"/>
          </a:xfrm>
          <a:prstGeom prst="rect">
            <a:avLst/>
          </a:prstGeom>
        </p:spPr>
        <p:txBody>
          <a:bodyPr/>
          <a:lstStyle/>
          <a:p>
            <a:r>
              <a:rPr lang="es-ES"/>
              <a:t>Haga clic en el icono para agregar una imagen</a:t>
            </a:r>
          </a:p>
        </p:txBody>
      </p:sp>
      <p:sp>
        <p:nvSpPr>
          <p:cNvPr id="11" name="Marcador de posición de imagen 3">
            <a:extLst>
              <a:ext uri="{FF2B5EF4-FFF2-40B4-BE49-F238E27FC236}">
                <a16:creationId xmlns:a16="http://schemas.microsoft.com/office/drawing/2014/main" id="{F203F820-6648-46A2-A54A-DCC8C4AB4966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4658383" y="3412147"/>
            <a:ext cx="3179637" cy="2306105"/>
          </a:xfrm>
          <a:prstGeom prst="rect">
            <a:avLst/>
          </a:prstGeom>
        </p:spPr>
        <p:txBody>
          <a:bodyPr/>
          <a:lstStyle/>
          <a:p>
            <a:r>
              <a:rPr lang="es-ES"/>
              <a:t>Haga clic en el icono para agregar una imagen</a:t>
            </a:r>
          </a:p>
        </p:txBody>
      </p:sp>
      <p:sp>
        <p:nvSpPr>
          <p:cNvPr id="12" name="Marcador de texto 2">
            <a:extLst>
              <a:ext uri="{FF2B5EF4-FFF2-40B4-BE49-F238E27FC236}">
                <a16:creationId xmlns:a16="http://schemas.microsoft.com/office/drawing/2014/main" id="{61533F47-9201-4351-8A64-706F23355621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8253270" y="1526120"/>
            <a:ext cx="3179637" cy="1638380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 algn="just">
              <a:buFontTx/>
              <a:buNone/>
              <a:defRPr sz="1800">
                <a:solidFill>
                  <a:srgbClr val="46546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INFO</a:t>
            </a:r>
          </a:p>
        </p:txBody>
      </p:sp>
      <p:sp>
        <p:nvSpPr>
          <p:cNvPr id="13" name="Marcador de posición de imagen 3">
            <a:extLst>
              <a:ext uri="{FF2B5EF4-FFF2-40B4-BE49-F238E27FC236}">
                <a16:creationId xmlns:a16="http://schemas.microsoft.com/office/drawing/2014/main" id="{A06B10CE-635F-4975-A971-D25FE7907968}"/>
              </a:ext>
            </a:extLst>
          </p:cNvPr>
          <p:cNvSpPr>
            <a:spLocks noGrp="1"/>
          </p:cNvSpPr>
          <p:nvPr>
            <p:ph type="pic" sz="quarter" idx="21"/>
          </p:nvPr>
        </p:nvSpPr>
        <p:spPr>
          <a:xfrm>
            <a:off x="8253271" y="3412147"/>
            <a:ext cx="3179637" cy="2306105"/>
          </a:xfrm>
          <a:prstGeom prst="rect">
            <a:avLst/>
          </a:prstGeom>
        </p:spPr>
        <p:txBody>
          <a:bodyPr/>
          <a:lstStyle/>
          <a:p>
            <a:r>
              <a:rPr lang="es-ES"/>
              <a:t>Haga clic en el icono para agregar una imagen</a:t>
            </a:r>
          </a:p>
        </p:txBody>
      </p:sp>
      <p:sp>
        <p:nvSpPr>
          <p:cNvPr id="10" name="Marcador de texto 2">
            <a:extLst>
              <a:ext uri="{FF2B5EF4-FFF2-40B4-BE49-F238E27FC236}">
                <a16:creationId xmlns:a16="http://schemas.microsoft.com/office/drawing/2014/main" id="{2BBD0A9D-1BFD-A053-6A15-CE05D9D92861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1090378" y="1526120"/>
            <a:ext cx="3179637" cy="1638380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 algn="just">
              <a:buFontTx/>
              <a:buNone/>
              <a:defRPr sz="1800">
                <a:solidFill>
                  <a:srgbClr val="46546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INFO</a:t>
            </a:r>
          </a:p>
        </p:txBody>
      </p:sp>
      <p:sp>
        <p:nvSpPr>
          <p:cNvPr id="16" name="Marcador de texto 2">
            <a:extLst>
              <a:ext uri="{FF2B5EF4-FFF2-40B4-BE49-F238E27FC236}">
                <a16:creationId xmlns:a16="http://schemas.microsoft.com/office/drawing/2014/main" id="{43D92F3C-706C-DDDB-E34C-F1A36AD8221F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4658383" y="1526120"/>
            <a:ext cx="3179637" cy="1638380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 algn="just">
              <a:buFontTx/>
              <a:buNone/>
              <a:defRPr sz="1800">
                <a:solidFill>
                  <a:srgbClr val="46546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INFO</a:t>
            </a:r>
          </a:p>
        </p:txBody>
      </p:sp>
    </p:spTree>
    <p:extLst>
      <p:ext uri="{BB962C8B-B14F-4D97-AF65-F5344CB8AC3E}">
        <p14:creationId xmlns:p14="http://schemas.microsoft.com/office/powerpoint/2010/main" val="3566977421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ierr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83131714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93562689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2" r:id="rId2"/>
    <p:sldLayoutId id="2147483661" r:id="rId3"/>
    <p:sldLayoutId id="2147483662" r:id="rId4"/>
    <p:sldLayoutId id="2147483663" r:id="rId5"/>
    <p:sldLayoutId id="2147483665" r:id="rId6"/>
    <p:sldLayoutId id="2147483667" r:id="rId7"/>
    <p:sldLayoutId id="2147483669" r:id="rId8"/>
    <p:sldLayoutId id="2147483670" r:id="rId9"/>
    <p:sldLayoutId id="2147483650" r:id="rId10"/>
    <p:sldLayoutId id="2147483660" r:id="rId11"/>
    <p:sldLayoutId id="2147483666" r:id="rId12"/>
    <p:sldLayoutId id="2147483664" r:id="rId13"/>
    <p:sldLayoutId id="2147483668" r:id="rId14"/>
    <p:sldLayoutId id="2147483671" r:id="rId15"/>
    <p:sldLayoutId id="2147483651" r:id="rId16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E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 wrap="square"/>
          <a:lstStyle/>
          <a:p>
            <a:r>
              <a:t>Técnicas de análisis: IA</a:t>
            </a:r>
          </a:p>
          <a:p>
            <a:r>
              <a:rPr sz="1800">
                <a:solidFill>
                  <a:srgbClr val="D6DAE2"/>
                </a:solidFill>
                <a:latin typeface="Arial"/>
              </a:rPr>
              <a:t>Embeddings, LLMs locales y estilometría computacional</a:t>
            </a:r>
          </a:p>
          <a:p>
            <a:r>
              <a:rPr sz="1200" b="1">
                <a:solidFill>
                  <a:srgbClr val="9AA3B5"/>
                </a:solidFill>
                <a:latin typeface="Arial"/>
              </a:rPr>
              <a:t>CSBC26 · Bloque 2 · 1h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 wrap="square"/>
          <a:lstStyle/>
          <a:p>
            <a:pPr algn="ctr"/>
            <a:r>
              <a:rPr sz="1300" b="1">
                <a:solidFill>
                  <a:srgbClr val="CD2D37"/>
                </a:solidFill>
                <a:latin typeface="Arial"/>
              </a:rPr>
              <a:t>SECCIÓN 1</a:t>
            </a:r>
          </a:p>
          <a:p>
            <a:pPr algn="ctr"/>
            <a:r>
              <a:t>Por qué los métodos clásicos no son suficientes</a:t>
            </a:r>
          </a:p>
          <a:p>
            <a:pPr algn="ctr"/>
            <a:r>
              <a:rPr sz="1600">
                <a:solidFill>
                  <a:srgbClr val="D6DAE2"/>
                </a:solidFill>
                <a:latin typeface="Arial"/>
              </a:rPr>
              <a:t>El vocabulario underground es opaco por diseño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 wrap="square"/>
          <a:lstStyle/>
          <a:p>
            <a:r>
              <a:t>Las limitaciones del text mining clásico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6" sz="quarter"/>
          </p:nvPr>
        </p:nvSpPr>
        <p:spPr>
          <a:xfrm>
            <a:off x="1073427" y="2077576"/>
            <a:ext cx="10084904" cy="3507298"/>
          </a:xfrm>
        </p:spPr>
        <p:txBody>
          <a:bodyPr wrap="square"/>
          <a:lstStyle/>
          <a:p>
            <a:r>
              <a:t>TF-IDF y LDA tratan palabras como símbolos independientes</a:t>
            </a:r>
          </a:p>
          <a:p>
            <a:r>
              <a:t>En underground el lenguaje es opaco: abreviaciones, leetspeak, eufemismos que cambian semana a semana</a:t>
            </a:r>
          </a:p>
          <a:p>
            <a:r>
              <a:t>Dos posts sobre lo mismo pueden no compartir ni una sola palabra</a:t>
            </a:r>
          </a:p>
          <a:p>
            <a:r>
              <a:t>Un actor que cambia de handle también puede cambiar de vocabulario deliberadamente</a:t>
            </a:r>
          </a:p>
          <a:p>
            <a:r>
              <a:t>Necesitamos representaciones que capturen significado más allá de la frecuencia de tokens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 wrap="square"/>
          <a:lstStyle/>
          <a:p>
            <a:pPr algn="ctr"/>
            <a:r>
              <a:rPr sz="1300" b="1">
                <a:solidFill>
                  <a:srgbClr val="CD2D37"/>
                </a:solidFill>
                <a:latin typeface="Arial"/>
              </a:rPr>
              <a:t>SECCIÓN 2</a:t>
            </a:r>
          </a:p>
          <a:p>
            <a:pPr algn="ctr"/>
            <a:r>
              <a:t>Embeddings — representaciones densas de significado</a:t>
            </a:r>
          </a:p>
          <a:p>
            <a:pPr algn="ctr"/>
            <a:r>
              <a:rPr sz="1600">
                <a:solidFill>
                  <a:srgbClr val="D6DAE2"/>
                </a:solidFill>
                <a:latin typeface="Arial"/>
              </a:rPr>
              <a:t>La geometría del texto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 wrap="square"/>
          <a:lstStyle/>
          <a:p>
            <a:r>
              <a:t>¿Qué es un embedding?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6" sz="quarter"/>
          </p:nvPr>
        </p:nvSpPr>
        <p:spPr/>
        <p:txBody>
          <a:bodyPr wrap="square"/>
          <a:lstStyle/>
          <a:p>
            <a:r>
              <a:t>Transforma texto en vector numérico donde distancia geométrica = similitud semántica</a:t>
            </a:r>
          </a:p>
          <a:p>
            <a:r>
              <a:t>'rat' y 'trojan' en contexto underground quedan cerca aunque no compartan letras</a:t>
            </a:r>
          </a:p>
          <a:p>
            <a:r>
              <a:t>'password' y 'contraseña' quedan cerca aunque sean idiomas distintos (modelos multilingües)</a:t>
            </a:r>
          </a:p>
          <a:p>
            <a:r>
              <a:t>Permite clustering de usuarios por comportamiento de escritura sin depender del vocabulario exacto</a:t>
            </a:r>
          </a:p>
          <a:p>
            <a:r>
              <a:t>Base de la estilometría computacional: la huella digital del escritor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 wrap="square"/>
          <a:lstStyle/>
          <a:p>
            <a:r>
              <a:t>Modelos de embedding — elección crítica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1051560" y="2194560"/>
            <a:ext cx="4846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CD2D37"/>
                </a:solidFill>
                <a:latin typeface="Arial"/>
              </a:rPr>
              <a:t>Modelos monolingües (inglés)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2651760"/>
            <a:ext cx="4846320" cy="3337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>
                <a:solidFill>
                  <a:srgbClr val="465461"/>
                </a:solidFill>
                <a:latin typeface="Arial"/>
              </a:rPr>
              <a:t>▸  Mejor rendimiento en inglés puro</a:t>
            </a:r>
          </a:p>
          <a:p>
            <a:r>
              <a:rPr sz="1600">
                <a:solidFill>
                  <a:srgbClr val="465461"/>
                </a:solidFill>
                <a:latin typeface="Arial"/>
              </a:rPr>
              <a:t>▸  Fallan con texto mixto o multilingüe</a:t>
            </a:r>
          </a:p>
          <a:p>
            <a:r>
              <a:rPr sz="1600">
                <a:solidFill>
                  <a:srgbClr val="465461"/>
                </a:solidFill>
                <a:latin typeface="Arial"/>
              </a:rPr>
              <a:t>▸  text-embedding-ada-002, nomic-embed-text</a:t>
            </a:r>
          </a:p>
          <a:p>
            <a:r>
              <a:rPr sz="1600">
                <a:solidFill>
                  <a:srgbClr val="465461"/>
                </a:solidFill>
                <a:latin typeface="Arial"/>
              </a:rPr>
              <a:t>▸  Requieren traducción previa para otros idiomas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0" y="2194560"/>
            <a:ext cx="4846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CD2D37"/>
                </a:solidFill>
                <a:latin typeface="Arial"/>
              </a:rPr>
              <a:t>Modelos multilingües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2651760"/>
            <a:ext cx="4846320" cy="3337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>
                <a:solidFill>
                  <a:srgbClr val="465461"/>
                </a:solidFill>
                <a:latin typeface="Arial"/>
              </a:rPr>
              <a:t>▸  Espacio vectorial compartido entre idiomas</a:t>
            </a:r>
          </a:p>
          <a:p>
            <a:r>
              <a:rPr sz="1600">
                <a:solidFill>
                  <a:srgbClr val="465461"/>
                </a:solidFill>
                <a:latin typeface="Arial"/>
              </a:rPr>
              <a:t>▸  Un post en ruso y uno en inglés sobre lo mismo → cercanos</a:t>
            </a:r>
          </a:p>
          <a:p>
            <a:r>
              <a:rPr sz="1600">
                <a:solidFill>
                  <a:srgbClr val="465461"/>
                </a:solidFill>
                <a:latin typeface="Arial"/>
              </a:rPr>
              <a:t>▸  qwen3-embedding (4096D), multilingual-e5</a:t>
            </a:r>
          </a:p>
          <a:p>
            <a:r>
              <a:rPr sz="1600">
                <a:solidFill>
                  <a:srgbClr val="465461"/>
                </a:solidFill>
                <a:latin typeface="Arial"/>
              </a:rPr>
              <a:t>▸  Regla: si hay mezcla de idiomas, siempre multilingüe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 wrap="square"/>
          <a:lstStyle/>
          <a:p>
            <a:r>
              <a:t>La regla del idioma original en embeddings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6" sz="quarter"/>
          </p:nvPr>
        </p:nvSpPr>
        <p:spPr>
          <a:xfrm>
            <a:off x="1073427" y="2077576"/>
            <a:ext cx="10084904" cy="3507298"/>
          </a:xfrm>
        </p:spPr>
        <p:txBody>
          <a:bodyPr wrap="square"/>
          <a:lstStyle/>
          <a:p>
            <a:r>
              <a:t>Para embeddings y estilometría: SIEMPRE trabajar en el idioma original</a:t>
            </a:r>
          </a:p>
          <a:p>
            <a:r>
              <a:t>Traducir antes de embedear destruye la huella lingüística del autor</a:t>
            </a:r>
          </a:p>
          <a:p>
            <a:r>
              <a:t>La huella es precisamente lo que queremos preservar para atribución de autoría</a:t>
            </a:r>
          </a:p>
          <a:p>
            <a:r>
              <a:t>Un actor que escribe en ruso con ciertos tics sintácticos → esos tics desaparecen al traducir</a:t>
            </a:r>
          </a:p>
          <a:p>
            <a:r>
              <a:t>Contraste con NER/topic modeling: ahí la traducción puede mejorar resultados (ver siguiente sección)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 wrap="square"/>
          <a:lstStyle/>
          <a:p>
            <a:r>
              <a:t>¿Cuántos posts embedear por usuario? — comparativa de estrategias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/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051560" y="2651760"/>
          <a:ext cx="10058400" cy="219456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011680"/>
                <a:gridCol w="2011680"/>
                <a:gridCol w="2011680"/>
                <a:gridCol w="2011680"/>
                <a:gridCol w="2011680"/>
              </a:tblGrid>
              <a:tr h="36576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Estrategia</a:t>
                      </a:r>
                    </a:p>
                  </a:txBody>
                  <a:tcPr marL="45000" marR="45000" marT="25000" marB="25000" anchor="ctr">
                    <a:solidFill>
                      <a:srgbClr val="CD2D3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Posts por usuario</a:t>
                      </a:r>
                    </a:p>
                  </a:txBody>
                  <a:tcPr marL="45000" marR="45000" marT="25000" marB="25000" anchor="ctr">
                    <a:solidFill>
                      <a:srgbClr val="CD2D3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GPU (IronMarch)</a:t>
                      </a:r>
                    </a:p>
                  </a:txBody>
                  <a:tcPr marL="45000" marR="45000" marT="25000" marB="25000" anchor="ctr">
                    <a:solidFill>
                      <a:srgbClr val="CD2D3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Spearman ρ vs. full</a:t>
                      </a:r>
                    </a:p>
                  </a:txBody>
                  <a:tcPr marL="45000" marR="45000" marT="25000" marB="25000" anchor="ctr">
                    <a:solidFill>
                      <a:srgbClr val="CD2D3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Cuándo usarla</a:t>
                      </a:r>
                    </a:p>
                  </a:txBody>
                  <a:tcPr marL="45000" marR="45000" marT="25000" marB="25000" anchor="ctr">
                    <a:solidFill>
                      <a:srgbClr val="CD2D3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65461"/>
                          </a:solidFill>
                          <a:latin typeface="Arial"/>
                        </a:rPr>
                        <a:t>A — concat todo</a:t>
                      </a:r>
                    </a:p>
                  </a:txBody>
                  <a:tcPr marL="45000" marR="45000" marT="25000" marB="25000" anchor="ctr">
                    <a:solidFill>
                      <a:srgbClr val="F1F2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65461"/>
                          </a:solidFill>
                          <a:latin typeface="Arial"/>
                        </a:rPr>
                        <a:t>todos (máx. 50K chars)</a:t>
                      </a:r>
                    </a:p>
                  </a:txBody>
                  <a:tcPr marL="45000" marR="45000" marT="25000" marB="25000" anchor="ctr">
                    <a:solidFill>
                      <a:srgbClr val="F1F2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65461"/>
                          </a:solidFill>
                          <a:latin typeface="Arial"/>
                        </a:rPr>
                        <a:t>~12 min</a:t>
                      </a:r>
                    </a:p>
                  </a:txBody>
                  <a:tcPr marL="45000" marR="45000" marT="25000" marB="25000" anchor="ctr">
                    <a:solidFill>
                      <a:srgbClr val="F1F2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65461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45000" marR="45000" marT="25000" marB="25000" anchor="ctr">
                    <a:solidFill>
                      <a:srgbClr val="F1F2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65461"/>
                          </a:solidFill>
                          <a:latin typeface="Arial"/>
                        </a:rPr>
                        <a:t>Dataset pequeño o usuarios con pocos posts</a:t>
                      </a:r>
                    </a:p>
                  </a:txBody>
                  <a:tcPr marL="45000" marR="45000" marT="25000" marB="25000" anchor="ctr">
                    <a:solidFill>
                      <a:srgbClr val="F1F2F6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65461"/>
                          </a:solidFill>
                          <a:latin typeface="Arial"/>
                        </a:rPr>
                        <a:t>B — full centroid</a:t>
                      </a:r>
                    </a:p>
                  </a:txBody>
                  <a:tcPr marL="45000" marR="45000" marT="25000" marB="25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65461"/>
                          </a:solidFill>
                          <a:latin typeface="Arial"/>
                        </a:rPr>
                        <a:t>todos</a:t>
                      </a:r>
                    </a:p>
                  </a:txBody>
                  <a:tcPr marL="45000" marR="45000" marT="25000" marB="25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65461"/>
                          </a:solidFill>
                          <a:latin typeface="Arial"/>
                        </a:rPr>
                        <a:t>~9 h</a:t>
                      </a:r>
                    </a:p>
                  </a:txBody>
                  <a:tcPr marL="45000" marR="45000" marT="25000" marB="25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65461"/>
                          </a:solidFill>
                          <a:latin typeface="Arial"/>
                        </a:rPr>
                        <a:t>1.000</a:t>
                      </a:r>
                    </a:p>
                  </a:txBody>
                  <a:tcPr marL="45000" marR="45000" marT="25000" marB="25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65461"/>
                          </a:solidFill>
                          <a:latin typeface="Arial"/>
                        </a:rPr>
                        <a:t>Solo como referencia — inviable en producción</a:t>
                      </a:r>
                    </a:p>
                  </a:txBody>
                  <a:tcPr marL="45000" marR="45000" marT="25000" marB="25000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65461"/>
                          </a:solidFill>
                          <a:latin typeface="Arial"/>
                        </a:rPr>
                        <a:t>C — top-50</a:t>
                      </a:r>
                    </a:p>
                  </a:txBody>
                  <a:tcPr marL="45000" marR="45000" marT="25000" marB="25000" anchor="ctr">
                    <a:solidFill>
                      <a:srgbClr val="F1F2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65461"/>
                          </a:solidFill>
                          <a:latin typeface="Arial"/>
                        </a:rPr>
                        <a:t>50 más largos</a:t>
                      </a:r>
                    </a:p>
                  </a:txBody>
                  <a:tcPr marL="45000" marR="45000" marT="25000" marB="25000" anchor="ctr">
                    <a:solidFill>
                      <a:srgbClr val="F1F2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65461"/>
                          </a:solidFill>
                          <a:latin typeface="Arial"/>
                        </a:rPr>
                        <a:t>2h 35min</a:t>
                      </a:r>
                    </a:p>
                  </a:txBody>
                  <a:tcPr marL="45000" marR="45000" marT="25000" marB="25000" anchor="ctr">
                    <a:solidFill>
                      <a:srgbClr val="F1F2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65461"/>
                          </a:solidFill>
                          <a:latin typeface="Arial"/>
                        </a:rPr>
                        <a:t>0.799</a:t>
                      </a:r>
                    </a:p>
                  </a:txBody>
                  <a:tcPr marL="45000" marR="45000" marT="25000" marB="25000" anchor="ctr">
                    <a:solidFill>
                      <a:srgbClr val="F1F2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65461"/>
                          </a:solidFill>
                          <a:latin typeface="Arial"/>
                        </a:rPr>
                        <a:t>GPU limitada o usuarios con &lt;100 posts típicos</a:t>
                      </a:r>
                    </a:p>
                  </a:txBody>
                  <a:tcPr marL="45000" marR="45000" marT="25000" marB="25000" anchor="ctr">
                    <a:solidFill>
                      <a:srgbClr val="F1F2F6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65461"/>
                          </a:solidFill>
                          <a:latin typeface="Arial"/>
                        </a:rPr>
                        <a:t>D — top-100</a:t>
                      </a:r>
                    </a:p>
                  </a:txBody>
                  <a:tcPr marL="45000" marR="45000" marT="25000" marB="25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65461"/>
                          </a:solidFill>
                          <a:latin typeface="Arial"/>
                        </a:rPr>
                        <a:t>100 más largos</a:t>
                      </a:r>
                    </a:p>
                  </a:txBody>
                  <a:tcPr marL="45000" marR="45000" marT="25000" marB="25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65461"/>
                          </a:solidFill>
                          <a:latin typeface="Arial"/>
                        </a:rPr>
                        <a:t>3h 33min</a:t>
                      </a:r>
                    </a:p>
                  </a:txBody>
                  <a:tcPr marL="45000" marR="45000" marT="25000" marB="25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65461"/>
                          </a:solidFill>
                          <a:latin typeface="Arial"/>
                        </a:rPr>
                        <a:t>0.860</a:t>
                      </a:r>
                    </a:p>
                  </a:txBody>
                  <a:tcPr marL="45000" marR="45000" marT="25000" marB="25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65461"/>
                          </a:solidFill>
                          <a:latin typeface="Arial"/>
                        </a:rPr>
                        <a:t>Caso general — mejor ratio fidelidad/coste</a:t>
                      </a:r>
                    </a:p>
                  </a:txBody>
                  <a:tcPr marL="45000" marR="45000" marT="25000" marB="25000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65461"/>
                          </a:solidFill>
                          <a:latin typeface="Arial"/>
                        </a:rPr>
                        <a:t>E — top-150</a:t>
                      </a:r>
                    </a:p>
                  </a:txBody>
                  <a:tcPr marL="45000" marR="45000" marT="25000" marB="25000" anchor="ctr">
                    <a:solidFill>
                      <a:srgbClr val="F1F2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65461"/>
                          </a:solidFill>
                          <a:latin typeface="Arial"/>
                        </a:rPr>
                        <a:t>150 más largos</a:t>
                      </a:r>
                    </a:p>
                  </a:txBody>
                  <a:tcPr marL="45000" marR="45000" marT="25000" marB="25000" anchor="ctr">
                    <a:solidFill>
                      <a:srgbClr val="F1F2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65461"/>
                          </a:solidFill>
                          <a:latin typeface="Arial"/>
                        </a:rPr>
                        <a:t>4h 12min</a:t>
                      </a:r>
                    </a:p>
                  </a:txBody>
                  <a:tcPr marL="45000" marR="45000" marT="25000" marB="25000" anchor="ctr">
                    <a:solidFill>
                      <a:srgbClr val="F1F2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65461"/>
                          </a:solidFill>
                          <a:latin typeface="Arial"/>
                        </a:rPr>
                        <a:t>0.896</a:t>
                      </a:r>
                    </a:p>
                  </a:txBody>
                  <a:tcPr marL="45000" marR="45000" marT="25000" marB="25000" anchor="ctr">
                    <a:solidFill>
                      <a:srgbClr val="F1F2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65461"/>
                          </a:solidFill>
                          <a:latin typeface="Arial"/>
                        </a:rPr>
                        <a:t>Máxima fidelidad con presupuesto de tiempo</a:t>
                      </a:r>
                    </a:p>
                  </a:txBody>
                  <a:tcPr marL="45000" marR="45000" marT="25000" marB="25000" anchor="ctr">
                    <a:solidFill>
                      <a:srgbClr val="F1F2F6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051560" y="576072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707888"/>
                </a:solidFill>
                <a:latin typeface="Arial"/>
              </a:rPr>
              <a:t>ℹ  Regla práctica: mirar el percentil 90 de posts/usuario. Si P90 &lt; 50 → C=D=E (no hay suficientes posts). Si P90 &gt; 100 → D es el punto óptimo.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 wrap="square"/>
          <a:lstStyle/>
          <a:p>
            <a:r>
              <a:t>¿Cuándo NO usar D?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6" sz="quarter"/>
          </p:nvPr>
        </p:nvSpPr>
        <p:spPr/>
        <p:txBody>
          <a:bodyPr wrap="square"/>
          <a:lstStyle/>
          <a:p>
            <a:r>
              <a:t>Usuarios con pocos posts: si el 90% tiene menos de 50 posts → C, D y E dan el mismo resultado</a:t>
            </a:r>
          </a:p>
          <a:p>
            <a:r>
              <a:t>Dataset muy grande (&gt;50K usuarios): C puede ser suficiente para reducir coste de GPU a la mitad</a:t>
            </a:r>
          </a:p>
          <a:p>
            <a:r>
              <a:t>Exploración rápida: A (concat truncado) es el más rápido y sin muestreo — bueno para iterar</a:t>
            </a:r>
          </a:p>
          <a:p>
            <a:r>
              <a:t>Corpus muy corto por usuario (tweets, mensajes de chat): A es mejor porque hay poco que muestrear</a:t>
            </a:r>
          </a:p>
          <a:p>
            <a:r>
              <a:t>Regla: siempre revisar la distribución de posts/usuario ANTES de elegir estrategia (notebook 00)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 wrap="square"/>
          <a:lstStyle/>
          <a:p>
            <a:pPr algn="ctr"/>
            <a:r>
              <a:rPr sz="1300" b="1">
                <a:solidFill>
                  <a:srgbClr val="CD2D37"/>
                </a:solidFill>
                <a:latin typeface="Arial"/>
              </a:rPr>
              <a:t>SECCIÓN 3</a:t>
            </a:r>
          </a:p>
          <a:p>
            <a:pPr algn="ctr"/>
            <a:r>
              <a:t>LLMs locales y NER en dominio específico</a:t>
            </a:r>
          </a:p>
          <a:p>
            <a:pPr algn="ctr"/>
            <a:r>
              <a:rPr sz="1600">
                <a:solidFill>
                  <a:srgbClr val="D6DAE2"/>
                </a:solidFill>
                <a:latin typeface="Arial"/>
              </a:rPr>
              <a:t>Privacidad no negociable con datos sensibles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 wrap="square"/>
          <a:lstStyle/>
          <a:p>
            <a:r>
              <a:t>La regla es simple: datos sensibles → modelo local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6" sz="quarter"/>
          </p:nvPr>
        </p:nvSpPr>
        <p:spPr>
          <a:xfrm>
            <a:off x="1073427" y="2077576"/>
            <a:ext cx="10084904" cy="3507298"/>
          </a:xfrm>
        </p:spPr>
        <p:txBody>
          <a:bodyPr wrap="square"/>
          <a:lstStyle/>
          <a:p>
            <a:r>
              <a:t>Nunca se mandan leaks a APIs externas — ni OpenAI, ni Anthropic, ni Google</a:t>
            </a:r>
          </a:p>
          <a:p>
            <a:r>
              <a:t>Ollama: corre modelos cuantizados (Q4/Q8) en hardware modesto sin salida de datos</a:t>
            </a:r>
          </a:p>
          <a:p>
            <a:r>
              <a:t>qwen2.5:14b con Q4 → 16GB RAM, respuestas en segundos, sin nube</a:t>
            </a:r>
          </a:p>
          <a:p>
            <a:r>
              <a:t>El tradeoff: latencia local vs. riesgo de fuga de datos de personas reales</a:t>
            </a:r>
          </a:p>
          <a:p>
            <a:r>
              <a:t>Con datos underground, el riesgo supera siempre al coste de latencia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 wrap="square"/>
          <a:lstStyle/>
          <a:p>
            <a:r>
              <a:t>NER zero-shot en dominio underground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6" sz="quarter"/>
          </p:nvPr>
        </p:nvSpPr>
        <p:spPr>
          <a:xfrm>
            <a:off x="1073427" y="2077576"/>
            <a:ext cx="10084904" cy="3507298"/>
          </a:xfrm>
        </p:spPr>
        <p:txBody>
          <a:bodyPr wrap="square"/>
          <a:lstStyle/>
          <a:p>
            <a:r>
              <a:t>NER estándar (spaCy, BERT) falla: no fue entrenado con texto underground</a:t>
            </a:r>
          </a:p>
          <a:p>
            <a:r>
              <a:t>Zero-shot con LLM local: describir el tipo de entidad en el prompt, extraer directamente</a:t>
            </a:r>
          </a:p>
          <a:p>
            <a:r>
              <a:t>Tipos de entidad útiles en este dominio: ALIAS, TOOL, MALWARE, CVE, MARKETPLACE, WALLET</a:t>
            </a:r>
          </a:p>
          <a:p>
            <a:r>
              <a:t>Estrategia: muestra de top-N usuarios × top-M posts más largos + checkpoint automático</a:t>
            </a:r>
          </a:p>
          <a:p>
            <a:r>
              <a:t>Para texto no inglés: el LLM rinde mejor en inglés → traducir el texto primero es aceptable</a:t>
            </a:r>
          </a:p>
          <a:p>
            <a:r>
              <a:t>¿Por qué es aceptable aquí? Para NER no importa el estilo, solo las entidades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 wrap="square"/>
          <a:lstStyle/>
          <a:p>
            <a:r>
              <a:t>Idioma original vs. traducción — regla según técnica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/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051560" y="2651760"/>
          <a:ext cx="10058400" cy="18288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514600"/>
                <a:gridCol w="2514600"/>
                <a:gridCol w="2514600"/>
                <a:gridCol w="2514600"/>
              </a:tblGrid>
              <a:tr h="36576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Técnica</a:t>
                      </a:r>
                    </a:p>
                  </a:txBody>
                  <a:tcPr marL="45000" marR="45000" marT="25000" marB="25000" anchor="ctr">
                    <a:solidFill>
                      <a:srgbClr val="CD2D3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Original</a:t>
                      </a:r>
                    </a:p>
                  </a:txBody>
                  <a:tcPr marL="45000" marR="45000" marT="25000" marB="25000" anchor="ctr">
                    <a:solidFill>
                      <a:srgbClr val="CD2D3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Traducción</a:t>
                      </a:r>
                    </a:p>
                  </a:txBody>
                  <a:tcPr marL="45000" marR="45000" marT="25000" marB="25000" anchor="ctr">
                    <a:solidFill>
                      <a:srgbClr val="CD2D3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Por qué</a:t>
                      </a:r>
                    </a:p>
                  </a:txBody>
                  <a:tcPr marL="45000" marR="45000" marT="25000" marB="25000" anchor="ctr">
                    <a:solidFill>
                      <a:srgbClr val="CD2D3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65461"/>
                          </a:solidFill>
                          <a:latin typeface="Arial"/>
                        </a:rPr>
                        <a:t>Embeddings</a:t>
                      </a:r>
                    </a:p>
                  </a:txBody>
                  <a:tcPr marL="45000" marR="45000" marT="25000" marB="25000" anchor="ctr">
                    <a:solidFill>
                      <a:srgbClr val="F1F2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65461"/>
                          </a:solidFill>
                          <a:latin typeface="Arial"/>
                        </a:rPr>
                        <a:t>✓ SIEMPRE</a:t>
                      </a:r>
                    </a:p>
                  </a:txBody>
                  <a:tcPr marL="45000" marR="45000" marT="25000" marB="25000" anchor="ctr">
                    <a:solidFill>
                      <a:srgbClr val="F1F2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65461"/>
                          </a:solidFill>
                          <a:latin typeface="Arial"/>
                        </a:rPr>
                        <a:t>✗ nunca</a:t>
                      </a:r>
                    </a:p>
                  </a:txBody>
                  <a:tcPr marL="45000" marR="45000" marT="25000" marB="25000" anchor="ctr">
                    <a:solidFill>
                      <a:srgbClr val="F1F2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65461"/>
                          </a:solidFill>
                          <a:latin typeface="Arial"/>
                        </a:rPr>
                        <a:t>Traducir destruye la huella estilométrica del autor</a:t>
                      </a:r>
                    </a:p>
                  </a:txBody>
                  <a:tcPr marL="45000" marR="45000" marT="25000" marB="25000" anchor="ctr">
                    <a:solidFill>
                      <a:srgbClr val="F1F2F6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65461"/>
                          </a:solidFill>
                          <a:latin typeface="Arial"/>
                        </a:rPr>
                        <a:t>Estilometría</a:t>
                      </a:r>
                    </a:p>
                  </a:txBody>
                  <a:tcPr marL="45000" marR="45000" marT="25000" marB="25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65461"/>
                          </a:solidFill>
                          <a:latin typeface="Arial"/>
                        </a:rPr>
                        <a:t>✓ SIEMPRE</a:t>
                      </a:r>
                    </a:p>
                  </a:txBody>
                  <a:tcPr marL="45000" marR="45000" marT="25000" marB="25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65461"/>
                          </a:solidFill>
                          <a:latin typeface="Arial"/>
                        </a:rPr>
                        <a:t>✗ nunca</a:t>
                      </a:r>
                    </a:p>
                  </a:txBody>
                  <a:tcPr marL="45000" marR="45000" marT="25000" marB="25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65461"/>
                          </a:solidFill>
                          <a:latin typeface="Arial"/>
                        </a:rPr>
                        <a:t>La señal ES el estilo — no sobrevive la traducción</a:t>
                      </a:r>
                    </a:p>
                  </a:txBody>
                  <a:tcPr marL="45000" marR="45000" marT="25000" marB="25000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65461"/>
                          </a:solidFill>
                          <a:latin typeface="Arial"/>
                        </a:rPr>
                        <a:t>NER con LLM</a:t>
                      </a:r>
                    </a:p>
                  </a:txBody>
                  <a:tcPr marL="45000" marR="45000" marT="25000" marB="25000" anchor="ctr">
                    <a:solidFill>
                      <a:srgbClr val="F1F2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65461"/>
                          </a:solidFill>
                          <a:latin typeface="Arial"/>
                        </a:rPr>
                        <a:t>Si el modelo lo soporta bien</a:t>
                      </a:r>
                    </a:p>
                  </a:txBody>
                  <a:tcPr marL="45000" marR="45000" marT="25000" marB="25000" anchor="ctr">
                    <a:solidFill>
                      <a:srgbClr val="F1F2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65461"/>
                          </a:solidFill>
                          <a:latin typeface="Arial"/>
                        </a:rPr>
                        <a:t>✓ si el modelo base es inglés</a:t>
                      </a:r>
                    </a:p>
                  </a:txBody>
                  <a:tcPr marL="45000" marR="45000" marT="25000" marB="25000" anchor="ctr">
                    <a:solidFill>
                      <a:srgbClr val="F1F2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65461"/>
                          </a:solidFill>
                          <a:latin typeface="Arial"/>
                        </a:rPr>
                        <a:t>Para NER importa la entidad, no el estilo</a:t>
                      </a:r>
                    </a:p>
                  </a:txBody>
                  <a:tcPr marL="45000" marR="45000" marT="25000" marB="25000" anchor="ctr">
                    <a:solidFill>
                      <a:srgbClr val="F1F2F6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65461"/>
                          </a:solidFill>
                          <a:latin typeface="Arial"/>
                        </a:rPr>
                        <a:t>Topic modeling</a:t>
                      </a:r>
                    </a:p>
                  </a:txBody>
                  <a:tcPr marL="45000" marR="45000" marT="25000" marB="25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65461"/>
                          </a:solidFill>
                          <a:latin typeface="Arial"/>
                        </a:rPr>
                        <a:t>Con modelo multilingüe</a:t>
                      </a:r>
                    </a:p>
                  </a:txBody>
                  <a:tcPr marL="45000" marR="45000" marT="25000" marB="25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65461"/>
                          </a:solidFill>
                          <a:latin typeface="Arial"/>
                        </a:rPr>
                        <a:t>✓ si no hay modelo del idioma</a:t>
                      </a:r>
                    </a:p>
                  </a:txBody>
                  <a:tcPr marL="45000" marR="45000" marT="25000" marB="25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65461"/>
                          </a:solidFill>
                          <a:latin typeface="Arial"/>
                        </a:rPr>
                        <a:t>Los topics son semánticos, no estilísticos</a:t>
                      </a:r>
                    </a:p>
                  </a:txBody>
                  <a:tcPr marL="45000" marR="45000" marT="25000" marB="250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 wrap="square"/>
          <a:lstStyle/>
          <a:p>
            <a:pPr algn="ctr"/>
            <a:r>
              <a:rPr sz="1300" b="1">
                <a:solidFill>
                  <a:srgbClr val="CD2D37"/>
                </a:solidFill>
                <a:latin typeface="Arial"/>
              </a:rPr>
              <a:t>SECCIÓN 4</a:t>
            </a:r>
          </a:p>
          <a:p>
            <a:pPr algn="ctr"/>
            <a:r>
              <a:t>Estilometría computacional</a:t>
            </a:r>
          </a:p>
          <a:p>
            <a:pPr algn="ctr"/>
            <a:r>
              <a:rPr sz="1600">
                <a:solidFill>
                  <a:srgbClr val="D6DAE2"/>
                </a:solidFill>
                <a:latin typeface="Arial"/>
              </a:rPr>
              <a:t>La huella digital del escritor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 wrap="square"/>
          <a:lstStyle/>
          <a:p>
            <a:r>
              <a:t>Burrows' Delta — el estándar de atribución de autoría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6" sz="quarter"/>
          </p:nvPr>
        </p:nvSpPr>
        <p:spPr>
          <a:xfrm>
            <a:off x="1073427" y="2580496"/>
            <a:ext cx="10084904" cy="3004378"/>
          </a:xfrm>
        </p:spPr>
        <p:txBody>
          <a:bodyPr wrap="square"/>
          <a:lstStyle/>
          <a:p>
            <a:r>
              <a:t>Mide la distribución de frecuencias de las N palabras más comunes, normalizada por z-score</a:t>
            </a:r>
          </a:p>
          <a:p>
            <a:r>
              <a:t>Esas palabras son las 'funcionales': artículos, preposiciones, conjunciones — difíciles de suprimir</a:t>
            </a:r>
          </a:p>
          <a:p>
            <a:r>
              <a:t>Delta bajo entre dos textos → mismo perfil de frecuencias → mismo autor probable</a:t>
            </a:r>
          </a:p>
          <a:p>
            <a:r>
              <a:t>No depende del tema — solo del estilo de escritura</a:t>
            </a:r>
          </a:p>
          <a:p>
            <a:r>
              <a:t>Limitación: en corpus ideológicamente homogéneo el poder discriminante baja (vocabulario compartido)</a:t>
            </a:r>
          </a:p>
          <a:p>
            <a:r>
              <a:t>Complementar siempre con señales independientes: temporal, red, handle matching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 wrap="square"/>
          <a:lstStyle/>
          <a:p>
            <a:r>
              <a:t>Convergencia de señales — el principio de atribución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6" sz="quarter"/>
          </p:nvPr>
        </p:nvSpPr>
        <p:spPr>
          <a:xfrm>
            <a:off x="1073427" y="2077576"/>
            <a:ext cx="10084904" cy="3507298"/>
          </a:xfrm>
        </p:spPr>
        <p:txBody>
          <a:bodyPr wrap="square"/>
          <a:lstStyle/>
          <a:p>
            <a:r>
              <a:t>Ninguna señal sola es evidencia de identidad — la convergencia sí lo es</a:t>
            </a:r>
          </a:p>
          <a:p>
            <a:r>
              <a:t>Handle exacto o fuzzy: fácil de cambiar, pero mucha gente no lo hace</a:t>
            </a:r>
          </a:p>
          <a:p>
            <a:r>
              <a:t>Similitud coseno de embeddings: captura estilo aunque cambie el vocabulario deliberadamente</a:t>
            </a:r>
          </a:p>
          <a:p>
            <a:r>
              <a:t>Burrows' Delta: captura palabras función que el autor no controla conscientemente</a:t>
            </a:r>
          </a:p>
          <a:p>
            <a:r>
              <a:t>Análisis temporal: el timezone real es muy difícil de falsificar de forma consistente</a:t>
            </a:r>
          </a:p>
          <a:p>
            <a:r>
              <a:t>Regla práctica: ≥3 señales convergentes → candidato que merece investigación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 wrap="square"/>
          <a:lstStyle/>
          <a:p>
            <a:pPr algn="ctr"/>
            <a:r>
              <a:rPr sz="1300" b="1">
                <a:solidFill>
                  <a:srgbClr val="CD2D37"/>
                </a:solidFill>
                <a:latin typeface="Arial"/>
              </a:rPr>
              <a:t>DEMO EN VIVO</a:t>
            </a:r>
          </a:p>
          <a:p>
            <a:pPr algn="ctr"/>
            <a:r>
              <a:t>Demo — embeddings y clustering de usuarios</a:t>
            </a:r>
          </a:p>
          <a:p>
            <a:pPr algn="ctr"/>
            <a:r>
              <a:rPr sz="1400">
                <a:solidFill>
                  <a:srgbClr val="9AA3B5"/>
                </a:solidFill>
                <a:latin typeface="Arial"/>
              </a:rPr>
              <a:t>CardingForums/01_carding_forums.ipynb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505456" y="3657600"/>
            <a:ext cx="7168896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>
                <a:solidFill>
                  <a:srgbClr val="D6DAE2"/>
                </a:solidFill>
                <a:latin typeface="Arial"/>
              </a:rPr>
              <a:t>1.  Generar embeddings de usuarios (precomputado, mostrar código)</a:t>
            </a:r>
          </a:p>
          <a:p>
            <a:r>
              <a:rPr sz="1600">
                <a:solidFill>
                  <a:srgbClr val="D6DAE2"/>
                </a:solidFill>
                <a:latin typeface="Arial"/>
              </a:rPr>
              <a:t>2.  UMAP: reducir 4096D → 2D preservando estructura de vecindad</a:t>
            </a:r>
          </a:p>
          <a:p>
            <a:r>
              <a:rPr sz="1600">
                <a:solidFill>
                  <a:srgbClr val="D6DAE2"/>
                </a:solidFill>
                <a:latin typeface="Arial"/>
              </a:rPr>
              <a:t>3.  HDBSCAN: detectar clusters sin fijar K — ver grupos emergentes</a:t>
            </a:r>
          </a:p>
          <a:p>
            <a:r>
              <a:rPr sz="1600">
                <a:solidFill>
                  <a:srgbClr val="D6DAE2"/>
                </a:solidFill>
                <a:latin typeface="Arial"/>
              </a:rPr>
              <a:t>4.  Hover en visualización Plotly: identificar patrones por cluster</a:t>
            </a:r>
          </a:p>
          <a:p>
            <a:r>
              <a:rPr sz="1600">
                <a:solidFill>
                  <a:srgbClr val="D6DAE2"/>
                </a:solidFill>
                <a:latin typeface="Arial"/>
              </a:rPr>
              <a:t>5.  Calcular similitud coseno entre pares → candidatos a misma identidad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resentación1" id="{48A314A4-8185-4B55-A7CC-3A7CEDA94EDA}" vid="{7ECAA45A-5413-4556-941F-0D1EE0EF775E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91505317-1252-447c-bd21-893b663df9a8">
      <Terms xmlns="http://schemas.microsoft.com/office/infopath/2007/PartnerControls"/>
    </lcf76f155ced4ddcb4097134ff3c332f>
    <TaxCatchAll xmlns="82e8a8cd-2885-4bb5-8083-20f3ed61e7f2" xsi:nil="true"/>
  </documentManagement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o" ma:contentTypeID="0x0101006C98B10A8FC55C4B8C984524186865FF" ma:contentTypeVersion="11" ma:contentTypeDescription="Crear nuevo documento." ma:contentTypeScope="" ma:versionID="61ecef6567a032f588d7b796b0096457">
  <xsd:schema xmlns:xsd="http://www.w3.org/2001/XMLSchema" xmlns:xs="http://www.w3.org/2001/XMLSchema" xmlns:p="http://schemas.microsoft.com/office/2006/metadata/properties" xmlns:ns2="91505317-1252-447c-bd21-893b663df9a8" xmlns:ns3="82e8a8cd-2885-4bb5-8083-20f3ed61e7f2" targetNamespace="http://schemas.microsoft.com/office/2006/metadata/properties" ma:root="true" ma:fieldsID="3acf16c84cbe939f4efc210e3967d453" ns2:_="" ns3:_="">
    <xsd:import namespace="91505317-1252-447c-bd21-893b663df9a8"/>
    <xsd:import namespace="82e8a8cd-2885-4bb5-8083-20f3ed61e7f2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bjectDetectorVersions" minOccurs="0"/>
                <xsd:element ref="ns2:lcf76f155ced4ddcb4097134ff3c332f" minOccurs="0"/>
                <xsd:element ref="ns3:TaxCatchAll" minOccurs="0"/>
                <xsd:element ref="ns2:MediaServiceDateTaken" minOccurs="0"/>
                <xsd:element ref="ns2:MediaServiceGenerationTime" minOccurs="0"/>
                <xsd:element ref="ns2:MediaServiceEventHashCode" minOccurs="0"/>
                <xsd:element ref="ns2:MediaServiceOCR" minOccurs="0"/>
                <xsd:element ref="ns2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91505317-1252-447c-bd21-893b663df9a8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bjectDetectorVersions" ma:index="10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lcf76f155ced4ddcb4097134ff3c332f" ma:index="12" nillable="true" ma:taxonomy="true" ma:internalName="lcf76f155ced4ddcb4097134ff3c332f" ma:taxonomyFieldName="MediaServiceImageTags" ma:displayName="Etiquetas de imagen" ma:readOnly="false" ma:fieldId="{5cf76f15-5ced-4ddc-b409-7134ff3c332f}" ma:taxonomyMulti="true" ma:sspId="d85e823d-31db-440c-980d-283f89df7c2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DateTaken" ma:index="14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GenerationTime" ma:index="15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6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OCR" ma:index="17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SearchProperties" ma:index="18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82e8a8cd-2885-4bb5-8083-20f3ed61e7f2" elementFormDefault="qualified">
    <xsd:import namespace="http://schemas.microsoft.com/office/2006/documentManagement/types"/>
    <xsd:import namespace="http://schemas.microsoft.com/office/infopath/2007/PartnerControls"/>
    <xsd:element name="TaxCatchAll" ma:index="13" nillable="true" ma:displayName="Taxonomy Catch All Column" ma:hidden="true" ma:list="{cf23810e-d2cb-40f5-8814-ec88b3cf0e80}" ma:internalName="TaxCatchAll" ma:showField="CatchAllData" ma:web="82e8a8cd-2885-4bb5-8083-20f3ed61e7f2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ipo de contenido"/>
        <xsd:element ref="dc:title" minOccurs="0" maxOccurs="1" ma:index="4" ma:displayName="Título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8640DA36-330E-4724-B0DD-2D2DF8C87B4F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B1D3338C-90C1-4611-94F3-1777FF5BD484}">
  <ds:schemaRefs>
    <ds:schemaRef ds:uri="http://schemas.microsoft.com/office/2006/metadata/properties"/>
    <ds:schemaRef ds:uri="http://schemas.microsoft.com/office/infopath/2007/PartnerControls"/>
    <ds:schemaRef ds:uri="91505317-1252-447c-bd21-893b663df9a8"/>
    <ds:schemaRef ds:uri="82e8a8cd-2885-4bb5-8083-20f3ed61e7f2"/>
  </ds:schemaRefs>
</ds:datastoreItem>
</file>

<file path=customXml/itemProps3.xml><?xml version="1.0" encoding="utf-8"?>
<ds:datastoreItem xmlns:ds="http://schemas.openxmlformats.org/officeDocument/2006/customXml" ds:itemID="{212D29BC-2FDC-48FD-AB0D-B3A0D33AA8E7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91505317-1252-447c-bd21-893b663df9a8"/>
    <ds:schemaRef ds:uri="82e8a8cd-2885-4bb5-8083-20f3ed61e7f2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PresentaciónCyberSBC2023_esp</Template>
  <TotalTime>89</TotalTime>
  <Words>0</Words>
  <Application>Microsoft Macintosh PowerPoint</Application>
  <PresentationFormat>Panorámica</PresentationFormat>
  <Paragraphs>0</Paragraphs>
  <Slides>5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2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5</vt:i4>
      </vt:variant>
    </vt:vector>
  </HeadingPairs>
  <TitlesOfParts>
    <vt:vector size="8" baseType="lpstr">
      <vt:lpstr>Aptos</vt:lpstr>
      <vt:lpstr>Arial</vt:lpstr>
      <vt:lpstr>Tema de Office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Presentación de PowerPoint</dc:title>
  <dc:creator>Marta Torralbo Calero</dc:creator>
  <cp:lastModifiedBy>Lozano, Maria</cp:lastModifiedBy>
  <cp:revision>4</cp:revision>
  <dcterms:created xsi:type="dcterms:W3CDTF">2024-03-27T14:17:30Z</dcterms:created>
  <dcterms:modified xsi:type="dcterms:W3CDTF">2026-04-24T15:58:42Z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0x0101006C98B10A8FC55C4B8C984524186865FF</vt:lpwstr>
  </property>
</Properties>
</file>