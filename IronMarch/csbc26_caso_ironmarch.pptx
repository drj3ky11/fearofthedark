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handoutMasterIdLst>
    <p:handoutMasterId r:id="rId10"/>
  </p:handoutMasterIdLst>
  <p:sldIdLst>
    <p:sldId id="256" r:id="rId9"/>
    <p:sldId id="257" r:id="rId7"/>
    <p:sldId id="258" r:id="rId6"/>
    <p:sldId id="259" r:id="rId5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30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21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76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0" d="100"/>
          <a:sy n="90" d="100"/>
        </p:scale>
        <p:origin x="4075" y="5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6CE21EB7-A449-C9A7-B083-33970A869E2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A1C30A0-AB18-FF58-1BBF-A835B7EF132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54A67E-5C62-4248-8E27-543754807F34}" type="datetimeFigureOut">
              <a:rPr lang="es-ES" smtClean="0"/>
              <a:t>24/4/26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C513B9E-52A1-7905-7509-F51EFE4E4A3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0B344FA-FDBF-1F60-8936-278AE3F8131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C90A6A-A667-4942-BEA4-D0EB8CB80A5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6697558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IronMarch: foro chico, impacto grande</a:t>
            </a:r>
          </a:p>
          <a:p>
            <a:r>
              <a:t>Miembros ligados a grupos terroristas</a:t>
            </a:r>
          </a:p>
          <a:p>
            <a:r>
              <a:t>Clave: ground truth judicial para validar</a:t>
            </a:r>
          </a:p>
          <a:p>
            <a:r>
              <a:t>Pregunta guía: red filtrada → liderazgo real</a:t>
            </a:r>
          </a:p>
          <a:p>
            <a:r>
              <a:t>→ recorrido: dataset, LLM, estilometría, ética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Primero: qué es Iron March, qué contiene el dump</a:t>
            </a:r>
          </a:p>
          <a:p>
            <a:r>
              <a:t>Estructura de tablas IPS 4.x</a:t>
            </a:r>
          </a:p>
          <a:p>
            <a:r>
              <a:t>→ por qué este leak es distinto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Foro chico, pero nodo del fascismo internacional</a:t>
            </a:r>
          </a:p>
          <a:p>
            <a:r>
              <a:t>No son sospechas: vínculos judiciales confirmados</a:t>
            </a:r>
          </a:p>
          <a:p>
            <a:r>
              <a:t>Leak 2019: dump SQL completo, poco común</a:t>
            </a:r>
          </a:p>
          <a:p>
            <a:r>
              <a:t>→ ground truth: contrastamos hallazgos vs. justicia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Esquema típico IPS 4.x, familiar del curso</a:t>
            </a:r>
          </a:p>
          <a:p>
            <a:r>
              <a:t>Ojo: 55K PMs, cifra rarísima en leaks</a:t>
            </a:r>
          </a:p>
          <a:p>
            <a:r>
              <a:t>→ clave para comparar red pública vs. oculta</a:t>
            </a:r>
          </a:p>
          <a:p>
            <a:r>
              <a:t>member_id: columna discriminante para reproducir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 qué este caso: calibrable contra la realidad</a:t>
            </a:r>
          </a:p>
          <a:p>
            <a:r>
              <a:t>MOONLORD doxxeado = Slavros, IP rusa confirmada</a:t>
            </a:r>
          </a:p>
          <a:p>
            <a:r>
              <a:t>Hallazgo clave: usuario 255, 53% betweenness en PMs</a:t>
            </a:r>
          </a:p>
          <a:p>
            <a:r>
              <a:t>→ liderazgo visible ≠ liderazgo real</a:t>
            </a:r>
          </a:p>
          <a:p>
            <a:r>
              <a:t>Cierre: confiscación judicial, no abandono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Ahora: exploración de datos, notebook 00</a:t>
            </a:r>
          </a:p>
          <a:p>
            <a:r>
              <a:t>Construir dos redes: pública threads vs. PMs ocultos</a:t>
            </a:r>
          </a:p>
          <a:p>
            <a:r>
              <a:t>→ primeros números concretos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Números fríos primero: 836 activos, foro denso</a:t>
            </a:r>
          </a:p>
          <a:p>
            <a:r>
              <a:t>Pico 2015 = atentados París → detalle con z-scores</a:t>
            </a:r>
          </a:p>
          <a:p>
            <a:r>
              <a:t>Concentración: top-5 subforos de 138 dominan</a:t>
            </a:r>
          </a:p>
          <a:p>
            <a:r>
              <a:t>Verificación idioma: sin ella, NLP inválido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Diapositiva clave: red pública vs. red privada</a:t>
            </a:r>
          </a:p>
          <a:p>
            <a:r>
              <a:t>Pública: broker = MOONLORD, esperable</a:t>
            </a:r>
          </a:p>
          <a:p>
            <a:r>
              <a:t>Privada: broker = usuario 255 (admin), 53% betweenness</a:t>
            </a:r>
          </a:p>
          <a:p>
            <a:r>
              <a:t>→ liderazgo visible vs. estructural no coinciden</a:t>
            </a:r>
          </a:p>
          <a:p>
            <a:r>
              <a:t>Señal forense a detectar siempre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Paso trivial en apariencia, error frecuente</a:t>
            </a:r>
          </a:p>
          <a:p>
            <a:r>
              <a:t>Modelo inglés en corpus ruso → ruido silencioso, no error</a:t>
            </a:r>
          </a:p>
          <a:p>
            <a:r>
              <a:t>Confirmado: &gt;95% inglés, pipeline estándar OK</a:t>
            </a:r>
          </a:p>
          <a:p>
            <a:r>
              <a:t>Regla general: verificar idioma SIEMPRE antes de NLP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Práctica: notebook 00, grafo de co-participación</a:t>
            </a:r>
          </a:p>
          <a:p>
            <a:r>
              <a:t>Visualización top-150 nodos → hub-and-spoke MOONLORD</a:t>
            </a:r>
          </a:p>
          <a:p>
            <a:r>
              <a:t>→ comparar con red de PMs, sección 4</a:t>
            </a:r>
          </a:p>
          <a:p>
            <a:r>
              <a:t>¿Coinciden los brokers? en vivo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Ahora: NLP — BERTopic (temas) + NER (entidades)</a:t>
            </a:r>
          </a:p>
          <a:p>
            <a:r>
              <a:t>Modelo local: qwen2.5:14b</a:t>
            </a:r>
          </a:p>
          <a:p>
            <a:r>
              <a:t>→ sin enviar datos sensibles a APIs externas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BERTopic: descubre temas sin categorías previas</a:t>
            </a:r>
          </a:p>
          <a:p>
            <a:r>
              <a:t>Validación: topics vs. subforos declarados</a:t>
            </a:r>
          </a:p>
          <a:p>
            <a:r>
              <a:t>→ ideología permea todo el foro, sin fronteras</a:t>
            </a:r>
          </a:p>
          <a:p>
            <a:r>
              <a:t>Modelo sin LLM: rápido, reproducible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LLM local: entidades sobre top-50 usuarios</a:t>
            </a:r>
          </a:p>
          <a:p>
            <a:r>
              <a:t>Hitler esperable, pero Evola casi al mismo nivel</a:t>
            </a:r>
          </a:p>
          <a:p>
            <a:r>
              <a:t>→ firma distintiva de Iron March</a:t>
            </a:r>
          </a:p>
          <a:p>
            <a:r>
              <a:t>Atomwaffen: mencionado 3 años antes de ser terrorista</a:t>
            </a:r>
          </a:p>
          <a:p>
            <a:r>
              <a:t>Foro como semillero temprano, no eco tardío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Pregunta: qué eventos reales activaron la comunidad</a:t>
            </a:r>
          </a:p>
          <a:p>
            <a:r>
              <a:t>Único pico confirmado: atentados París 2015</a:t>
            </a:r>
          </a:p>
          <a:p>
            <a:r>
              <a:t>Reacción islamófoba, no racista clásica</a:t>
            </a:r>
          </a:p>
          <a:p>
            <a:r>
              <a:t>Sin pico: Trump 2016, Charlottesville 2017 (declive)</a:t>
            </a:r>
          </a:p>
          <a:p>
            <a:r>
              <a:t>→ atentado usado como munición anti-inmigración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Demo: notebook 02, NER top-50 (checkpoint automático)</a:t>
            </a:r>
          </a:p>
          <a:p>
            <a:r>
              <a:t>Visualizar picos con z-score</a:t>
            </a:r>
          </a:p>
          <a:p>
            <a:r>
              <a:t>→ ejercicio en vivo: usuarios activos en nov. 2015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Ahora: perfilado individual, usuario como vector</a:t>
            </a:r>
          </a:p>
          <a:p>
            <a:r>
              <a:t>Detectar estilos similares con Burrows' Delta</a:t>
            </a:r>
          </a:p>
          <a:p>
            <a:r>
              <a:t>→ clave para atribución de sockpuppets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 de ingeniería: cuántos posts por usuario</a:t>
            </a:r>
          </a:p>
          <a:p>
            <a:r>
              <a:t>5 estrategias probadas, de concatenar a promediar</a:t>
            </a:r>
          </a:p>
          <a:p>
            <a:r>
              <a:t>Óptimo: D (top-100) → ρ=0.86, un tercio del tiempo</a:t>
            </a:r>
          </a:p>
          <a:p>
            <a:r>
              <a:t>Lección: muestreo inteligente &gt; procesamiento exhaustivo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Evidencia numérica de la decisión anterior</a:t>
            </a:r>
          </a:p>
          <a:p>
            <a:r>
              <a:t>C→D: +37min, +6.1ρ — buena inversión</a:t>
            </a:r>
          </a:p>
          <a:p>
            <a:r>
              <a:t>D→E: tiempo similar, mitad de mejora</a:t>
            </a:r>
          </a:p>
          <a:p>
            <a:r>
              <a:t>→ rendimientos decrecientes: más datos ≠ siempre mejor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UMAP: 4096D → 2D, preserva vecindad local</a:t>
            </a:r>
          </a:p>
          <a:p>
            <a:r>
              <a:t>HDBSCAN: clusters sin fijar K a priori</a:t>
            </a:r>
          </a:p>
          <a:p>
            <a:r>
              <a:t>→ clusters = corrientes ideológicas coherentes</a:t>
            </a:r>
          </a:p>
          <a:p>
            <a:r>
              <a:t>Ruido (-1): usuarios sin afiliación clara, señal real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Burrows' Delta: técnica clásica de estilometría</a:t>
            </a:r>
          </a:p>
          <a:p>
            <a:r>
              <a:t>Aplicado a 150 usuarios, ≥500 palabras</a:t>
            </a:r>
          </a:p>
          <a:p>
            <a:r>
              <a:t>Par más sospechoso: 255 + Talleyrand</a:t>
            </a:r>
          </a:p>
          <a:p>
            <a:r>
              <a:t>Delta=0.46 + similitud temporal 99%</a:t>
            </a:r>
          </a:p>
          <a:p>
            <a:r>
              <a:t>→ evidencia circunstancial, no prueba definitiva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Demo: notebook 03, estrategias C/D/E cacheadas</a:t>
            </a:r>
          </a:p>
          <a:p>
            <a:r>
              <a:t>UMAP interactivo → clusters ideológicos</a:t>
            </a:r>
          </a:p>
          <a:p>
            <a:r>
              <a:t>→ heatmap Delta: par 255+Talleyrand, valor más bajo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Cierre: combinar señales — estilo, tiempo, red</a:t>
            </a:r>
          </a:p>
          <a:p>
            <a:r>
              <a:t>Criterio de atribución</a:t>
            </a:r>
          </a:p>
          <a:p>
            <a:r>
              <a:t>→ límites éticos y metodológicos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Ninguna técnica es concluyente por sí sola</a:t>
            </a:r>
          </a:p>
          <a:p>
            <a:r>
              <a:t>Regla de convergencia: ≥3 señales → investigar</a:t>
            </a:r>
          </a:p>
          <a:p>
            <a:r>
              <a:t>Nunca conclusión automática</a:t>
            </a:r>
          </a:p>
          <a:p>
            <a:r>
              <a:t>→ estándar forense: acumulación de indicios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Resumen: red, muestreo, hallazgo temporal</a:t>
            </a:r>
          </a:p>
          <a:p>
            <a:r>
              <a:t>Detenerse en columna derecha: limitaciones</a:t>
            </a:r>
          </a:p>
          <a:p>
            <a:r>
              <a:t>Resultados = leads, no pruebas periciales</a:t>
            </a:r>
          </a:p>
          <a:p>
            <a:r>
              <a:t>Datos reales → manejo mínimamente invasivo</a:t>
            </a:r>
          </a:p>
          <a:p>
            <a:r>
              <a:t>→ objetivo defensivo, no exponer perfiles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Cuatro ideas para cerrar el caso</a:t>
            </a:r>
          </a:p>
          <a:p>
            <a:r>
              <a:t>Estructura de red revela tipo de liderazgo</a:t>
            </a:r>
          </a:p>
          <a:p>
            <a:r>
              <a:t>LLMs locales: viable analizar contenido sensible</a:t>
            </a:r>
          </a:p>
          <a:p>
            <a:r>
              <a:t>Muestreo inteligente preserva señal, baja costo</a:t>
            </a:r>
          </a:p>
          <a:p>
            <a:r>
              <a:t>→ ground truth escaso: calibra toda la metodología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gif"/><Relationship Id="rId4" Type="http://schemas.openxmlformats.org/officeDocument/2006/relationships/image" Target="../media/image5.gif"/><Relationship Id="rId5" Type="http://schemas.openxmlformats.org/officeDocument/2006/relationships/image" Target="../media/image6.gi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resentació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12">
            <a:extLst>
              <a:ext uri="{FF2B5EF4-FFF2-40B4-BE49-F238E27FC236}">
                <a16:creationId xmlns:a16="http://schemas.microsoft.com/office/drawing/2014/main" id="{9C55D48E-29CC-44DC-AF42-41191B622C2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2860" y="1440430"/>
            <a:ext cx="5029563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4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Presentación</a:t>
            </a:r>
          </a:p>
        </p:txBody>
      </p:sp>
    </p:spTree>
    <p:extLst>
      <p:ext uri="{BB962C8B-B14F-4D97-AF65-F5344CB8AC3E}">
        <p14:creationId xmlns:p14="http://schemas.microsoft.com/office/powerpoint/2010/main" val="24509165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sección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Marcador de texto 12">
            <a:extLst>
              <a:ext uri="{FF2B5EF4-FFF2-40B4-BE49-F238E27FC236}">
                <a16:creationId xmlns:a16="http://schemas.microsoft.com/office/drawing/2014/main" id="{1C0BD042-7BE4-41D3-933E-4B59E0E647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08914" y="2048608"/>
            <a:ext cx="7174172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ctr">
              <a:buFontTx/>
              <a:buNone/>
              <a:defRPr sz="36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sección</a:t>
            </a:r>
          </a:p>
        </p:txBody>
      </p:sp>
    </p:spTree>
    <p:extLst>
      <p:ext uri="{BB962C8B-B14F-4D97-AF65-F5344CB8AC3E}">
        <p14:creationId xmlns:p14="http://schemas.microsoft.com/office/powerpoint/2010/main" val="2980224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Índic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7" y="77846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ÍNDICE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A8F17752-9230-46BD-B02B-330D1C9AB76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5582"/>
            <a:ext cx="10071652" cy="398115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>
              <a:buFontTx/>
              <a:buBlip>
                <a:blip r:embed="rId3"/>
              </a:buBlip>
              <a:defRPr sz="28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buClr>
                <a:srgbClr val="465461"/>
              </a:buClr>
              <a:buFontTx/>
              <a:buBlip>
                <a:blip r:embed="rId4"/>
              </a:buBlip>
              <a:defRPr sz="2400" b="0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Tx/>
              <a:buBlip>
                <a:blip r:embed="rId5"/>
              </a:buBlip>
              <a:defRPr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s-ES" dirty="0"/>
              <a:t>01. Título</a:t>
            </a:r>
          </a:p>
          <a:p>
            <a:pPr lvl="1"/>
            <a:r>
              <a:rPr lang="es-ES" dirty="0"/>
              <a:t>01.1. Subtítulo</a:t>
            </a:r>
          </a:p>
          <a:p>
            <a:pPr lvl="2"/>
            <a:r>
              <a:rPr lang="es-ES" dirty="0"/>
              <a:t>01.1.1. Subtítulo 2</a:t>
            </a:r>
          </a:p>
          <a:p>
            <a:pPr lvl="0"/>
            <a:r>
              <a:rPr lang="es-ES" dirty="0"/>
              <a:t>02. Esta diapositiva puede llevar imagen de fondo o no.</a:t>
            </a:r>
          </a:p>
        </p:txBody>
      </p:sp>
    </p:spTree>
    <p:extLst>
      <p:ext uri="{BB962C8B-B14F-4D97-AF65-F5344CB8AC3E}">
        <p14:creationId xmlns:p14="http://schemas.microsoft.com/office/powerpoint/2010/main" val="15055503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195539"/>
            <a:ext cx="10058400" cy="340340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2871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4053898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9"/>
            <a:ext cx="6467061" cy="3262727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1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2308079"/>
            <a:ext cx="3225925" cy="32627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652402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2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3"/>
            <a:ext cx="3591339" cy="329086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5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2308073"/>
            <a:ext cx="5738191" cy="329086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34250284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2213517"/>
            <a:ext cx="6453809" cy="338542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2213518"/>
            <a:ext cx="3225925" cy="338542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  <p:sp>
        <p:nvSpPr>
          <p:cNvPr id="6" name="Marcador de texto 4">
            <a:extLst>
              <a:ext uri="{FF2B5EF4-FFF2-40B4-BE49-F238E27FC236}">
                <a16:creationId xmlns:a16="http://schemas.microsoft.com/office/drawing/2014/main" id="{5D3E1EB6-CB68-4AD5-A0BA-9B5DE1C02AD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0659259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9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2213523"/>
            <a:ext cx="10084904" cy="3371351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2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900071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0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7" name="Marcador de texto 2">
            <a:extLst>
              <a:ext uri="{FF2B5EF4-FFF2-40B4-BE49-F238E27FC236}">
                <a16:creationId xmlns:a16="http://schemas.microsoft.com/office/drawing/2014/main" id="{42830782-65CF-4B35-B7AD-2DCDE86A9CD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7563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AB954431-C521-4129-ACDE-549CF6B556B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55568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433085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481395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3"/>
            <a:ext cx="10058400" cy="380980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477918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5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2"/>
            <a:ext cx="6453809" cy="382387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1746932"/>
            <a:ext cx="3225925" cy="382387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843379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577415"/>
            <a:ext cx="3591339" cy="39933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1577414"/>
            <a:ext cx="5738191" cy="3993392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14484810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4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1767845"/>
            <a:ext cx="6453809" cy="381702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1767845"/>
            <a:ext cx="3225925" cy="381702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969342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4656"/>
            <a:ext cx="10084904" cy="401021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</p:spTree>
    <p:extLst>
      <p:ext uri="{BB962C8B-B14F-4D97-AF65-F5344CB8AC3E}">
        <p14:creationId xmlns:p14="http://schemas.microsoft.com/office/powerpoint/2010/main" val="8558677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2BBD0A9D-1BFD-A053-6A15-CE05D9D9286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090378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6" name="Marcador de texto 2">
            <a:extLst>
              <a:ext uri="{FF2B5EF4-FFF2-40B4-BE49-F238E27FC236}">
                <a16:creationId xmlns:a16="http://schemas.microsoft.com/office/drawing/2014/main" id="{43D92F3C-706C-DDDB-E34C-F1A36AD8221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658383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5669774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13171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5626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61" r:id="rId3"/>
    <p:sldLayoutId id="2147483662" r:id="rId4"/>
    <p:sldLayoutId id="2147483663" r:id="rId5"/>
    <p:sldLayoutId id="2147483665" r:id="rId6"/>
    <p:sldLayoutId id="2147483667" r:id="rId7"/>
    <p:sldLayoutId id="2147483669" r:id="rId8"/>
    <p:sldLayoutId id="2147483670" r:id="rId9"/>
    <p:sldLayoutId id="2147483650" r:id="rId10"/>
    <p:sldLayoutId id="2147483660" r:id="rId11"/>
    <p:sldLayoutId id="2147483666" r:id="rId12"/>
    <p:sldLayoutId id="2147483664" r:id="rId13"/>
    <p:sldLayoutId id="2147483668" r:id="rId14"/>
    <p:sldLayoutId id="2147483671" r:id="rId15"/>
    <p:sldLayoutId id="2147483651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t>Caso IronMarch</a:t>
            </a:r>
          </a:p>
          <a:p>
            <a:r>
              <a:rPr sz="1800">
                <a:solidFill>
                  <a:srgbClr val="D6DAE2"/>
                </a:solidFill>
                <a:latin typeface="Arial"/>
              </a:rPr>
              <a:t>Análisis forense de un foro de extrema derecha (2011–2017)</a:t>
            </a:r>
          </a:p>
          <a:p>
            <a:r>
              <a:rPr sz="1200" b="1">
                <a:solidFill>
                  <a:srgbClr val="9AA3B5"/>
                </a:solidFill>
                <a:latin typeface="Arial"/>
              </a:rPr>
              <a:t>CSBC26 · Análisis de Leaks Underground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SECCIÓN 1</a:t>
            </a:r>
          </a:p>
          <a:p>
            <a:pPr algn="ctr"/>
            <a:r>
              <a:t>Dataset y contexto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¿Qué es Iron March y qué datos tenemos?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Iron March — ¿qué fue?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r>
              <a:t>Foro fundado en 2011 por Alexander Slavros (MOONLORD), cerrado en noviembre de 2017</a:t>
            </a:r>
          </a:p>
          <a:p>
            <a:r>
              <a:t>Punto de encuentro del fascismo internacional online: neo-nazismo, aceleracionismo, Evola</a:t>
            </a:r>
          </a:p>
          <a:p>
            <a:r>
              <a:t>Miembros vinculados a grupos terroristas: Atomwaffen Division, The Base, SIEGE culture</a:t>
            </a:r>
          </a:p>
          <a:p>
            <a:r>
              <a:t>Leak: noviembre 2019 — dump SQL completo filtrado por un tercero</a:t>
            </a:r>
          </a:p>
          <a:p>
            <a:r>
              <a:t>Ground truth disponible: fundador doxxeado, miembros identificados en causas judiciales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Estructura del dataset (IPS 4.x)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51560" y="2148840"/>
          <a:ext cx="1005840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Tabla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Registros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Descripción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core_members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~18,000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Usuarios registrados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forums_posts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~194,000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Posts públicos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forums_threads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~14,000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Hilos de discusión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forums_forums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~138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Subforos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core_message_posts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~55,000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Mensajes privados (PMs) — infrecuente en leaks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51560" y="5760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7888"/>
                </a:solidFill>
                <a:latin typeface="Arial"/>
              </a:rPr>
              <a:t>ℹ  Parser: IPS 4.x. Tablas sin prefijo. Columna discriminante: member_id en core_members.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Por qué es excepcional este dataset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Ground truth real: podemos validar el análisis computacional contra hechos verificados</a:t>
            </a:r>
          </a:p>
          <a:p>
            <a:pPr lvl="1" marL="274320" indent="-228600">
              <a:buNone/>
            </a:pPr>
            <a:r>
              <a:rPr sz="1500" b="0">
                <a:solidFill>
                  <a:srgbClr val="707888"/>
                </a:solidFill>
                <a:latin typeface="Arial"/>
              </a:rPr>
              <a:t>·  MOONLORD = Alexander Slavros: doxxeado, fundador confirmado, IP rusa</a:t>
            </a:r>
          </a:p>
          <a:p>
            <a:pPr lvl="1" marL="274320" indent="-228600">
              <a:buNone/>
            </a:pPr>
            <a:r>
              <a:rPr sz="1500" b="0">
                <a:solidFill>
                  <a:srgbClr val="707888"/>
                </a:solidFill>
                <a:latin typeface="Arial"/>
              </a:rPr>
              <a:t>·  Usuario 255 (userid=0): cuenta admin con 53% del betweenness en PMs</a:t>
            </a:r>
          </a:p>
          <a:p>
            <a:pPr lvl="1" marL="274320" indent="-228600">
              <a:buNone/>
            </a:pPr>
            <a:r>
              <a:rPr sz="1500" b="0">
                <a:solidFill>
                  <a:srgbClr val="707888"/>
                </a:solidFill>
                <a:latin typeface="Arial"/>
              </a:rPr>
              <a:t>·  Miembros identificados en casos judiciales en EEUU, Europa y Australia</a:t>
            </a:r>
          </a:p>
          <a:p>
            <a:r>
              <a:t>Dato infrecuente: 55K mensajes privados intactos → red de influencia oculta</a:t>
            </a:r>
          </a:p>
          <a:p>
            <a:r>
              <a:t>Cierre documentado: el servidor fue confiscado, no abandonado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SECCIÓN 2</a:t>
            </a:r>
          </a:p>
          <a:p>
            <a:pPr algn="ctr"/>
            <a:r>
              <a:t>Exploración y red de influencia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Notebook 00 + estructura de red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EDA — primeras métricas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r>
              <a:t>836 usuarios activos (≥5 posts) sobre ~18K registros → foro pequeño y denso</a:t>
            </a:r>
          </a:p>
          <a:p>
            <a:r>
              <a:t>157,779 posts válidos tras limpieza: media de 189 posts/usuario activo</a:t>
            </a:r>
          </a:p>
          <a:p>
            <a:r>
              <a:t>Actividad: 2011–2017. Pico en 2015 (atentados de París) → +62% baseline</a:t>
            </a:r>
          </a:p>
          <a:p>
            <a:r>
              <a:t>138 subforos activos, pero concentración alta: top-5 generan el 60% del tráfico</a:t>
            </a:r>
          </a:p>
          <a:p>
            <a:r>
              <a:t>Idioma: inglés (verificado por detección automática) → pipeline estándar válido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Dos redes, dos capas de influencia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21945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Red pública (co-participación en threads)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651760"/>
            <a:ext cx="48463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65461"/>
                </a:solidFill>
                <a:latin typeface="Arial"/>
              </a:rPr>
              <a:t>▸  836 nodos, 100% en componente gigante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Broker principal: MOONLORD (Slavros)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Estructura de hub-and-spoke: el fundador conecta grupos ideológicos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Hilos filosóficos (Evola, Spengler) concentran el betweenness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21945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Red privada (mensajes privados)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651760"/>
            <a:ext cx="48463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65461"/>
                </a:solidFill>
                <a:latin typeface="Arial"/>
              </a:rPr>
              <a:t>▸  55K PMs — dato rarísimo en leaks de foros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Broker principal: usuario 255 (userid=0, admin)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53% del betweenness en la red privada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Los brokers públicos y privados NO coinciden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Detección de idioma — paso obligatorio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Burrows' Delta, NER y BERTopic son idioma-específicos</a:t>
            </a:r>
          </a:p>
          <a:p>
            <a:r>
              <a:t>Sin verificación previa, aplicar el pipeline inglés a texto ruso produce ruido</a:t>
            </a:r>
          </a:p>
          <a:p>
            <a:r>
              <a:t>Resultado IronMarch: &gt;95% inglés → pipeline estándar válido</a:t>
            </a:r>
          </a:p>
          <a:p>
            <a:r>
              <a:t>La misma metodología aplicada a un foro en ruso requeriría un pipeline distinto</a:t>
            </a:r>
          </a:p>
          <a:p>
            <a:r>
              <a:t>Regla general: detectar idioma ANTES de cualquier modelo NLP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DEMO EN VIVO</a:t>
            </a:r>
          </a:p>
          <a:p>
            <a:pPr algn="ctr"/>
            <a:r>
              <a:t>Demo — red de co-participación</a:t>
            </a:r>
          </a:p>
          <a:p>
            <a:pPr algn="ctr"/>
            <a:r>
              <a:rPr sz="1400">
                <a:solidFill>
                  <a:srgbClr val="9AA3B5"/>
                </a:solidFill>
                <a:latin typeface="Arial"/>
              </a:rPr>
              <a:t>IronMarch/00_extract_and_explore.ipynb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05456" y="3657600"/>
            <a:ext cx="7168896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D6DAE2"/>
                </a:solidFill>
                <a:latin typeface="Arial"/>
              </a:rPr>
              <a:t>1.  Abrir notebook 00_extract_and_explore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2.  Ejecutar sección 3: grafo usuario↔usuario por threads compartidos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3.  Visualización Plotly interactiva: top-150 nodos por degree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4.  Comparar con sección 4: red de PMs — ¿los mismos brokers?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SECCIÓN 3</a:t>
            </a:r>
          </a:p>
          <a:p>
            <a:pPr algn="ctr"/>
            <a:r>
              <a:t>Análisis con LLM local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BERTopic + NER con qwen2.5:14b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BERTopic — descubrimiento de temas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Objetivo: ¿de qué habla el foro sin imponer categorías a priori?</a:t>
            </a:r>
          </a:p>
          <a:p>
            <a:r>
              <a:t>Validación cruzada: comparar topics automáticos vs. subforos reales</a:t>
            </a:r>
          </a:p>
          <a:p>
            <a:r>
              <a:t>Top topics: racismo científico, estética fascista, Evola/Spengler, violencia política</a:t>
            </a:r>
          </a:p>
          <a:p>
            <a:r>
              <a:t>Hallazgo: topics no respetan fronteras de subforos — ideología permea todo el foro</a:t>
            </a:r>
          </a:p>
          <a:p>
            <a:r>
              <a:t>Modelo: sentence-transformers + UMAP + HDBSCAN (sin LLM, rápido y reproducible)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NER con qwen2.5:14b — entidades clave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Estrategia: top-50 usuarios por volumen, hasta 50 posts por usuario</a:t>
            </a:r>
          </a:p>
          <a:p>
            <a:r>
              <a:t>Tipos de entidad: PERSON, ORG, LOCATION, IDEOLOGY, WEAPON, EVENT</a:t>
            </a:r>
          </a:p>
          <a:p>
            <a:r>
              <a:t>2,515 entidades extraídas en 1,500 posts</a:t>
            </a:r>
          </a:p>
          <a:p>
            <a:pPr lvl="1" marL="274320" indent="-228600">
              <a:buNone/>
            </a:pPr>
            <a:r>
              <a:rPr sz="1500" b="0">
                <a:solidFill>
                  <a:srgbClr val="707888"/>
                </a:solidFill>
                <a:latin typeface="Arial"/>
              </a:rPr>
              <a:t>·  Hitler: ×28  |  Evola: ×15  |  Golden Dawn: ×10</a:t>
            </a:r>
          </a:p>
          <a:p>
            <a:pPr lvl="1" marL="274320" indent="-228600">
              <a:buNone/>
            </a:pPr>
            <a:r>
              <a:rPr sz="1500" b="0">
                <a:solidFill>
                  <a:srgbClr val="707888"/>
                </a:solidFill>
                <a:latin typeface="Arial"/>
              </a:rPr>
              <a:t>·  Atomwaffen Division mencionada 3 años antes de su clasificación como terrorista</a:t>
            </a:r>
          </a:p>
          <a:p>
            <a:r>
              <a:t>Presencia de Evola casi al nivel de Hitler: rasgo distintivo vs. otros foros de ultraderecha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Picos de actividad — análisis temporal + topics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Método: z-score semanal sobre serie temporal de posts (umbral: µ + 2σ)</a:t>
            </a:r>
          </a:p>
          <a:p>
            <a:r>
              <a:t>Índice compuesto: volumen × longitud × señales de arousal (CAPS, !)</a:t>
            </a:r>
          </a:p>
          <a:p>
            <a:r>
              <a:t>Atentados de París (nov 2015): ×1.62 baseline → único spike estadístico confirmado</a:t>
            </a:r>
          </a:p>
          <a:p>
            <a:pPr lvl="1" marL="274320" indent="-228600">
              <a:buNone/>
            </a:pPr>
            <a:r>
              <a:rPr sz="1500" b="0">
                <a:solidFill>
                  <a:srgbClr val="707888"/>
                </a:solidFill>
                <a:latin typeface="Arial"/>
              </a:rPr>
              <a:t>·  Reacción: islamofóbica, no racista — 'paris' ×22, 'refugee' ×16, 'white' baja</a:t>
            </a:r>
          </a:p>
          <a:p>
            <a:r>
              <a:t>Trump 2016: ×1.03 — sin spike. Charlottesville 2017: ×0.96 — el foro ya estaba en declive</a:t>
            </a:r>
          </a:p>
          <a:p>
            <a:r>
              <a:t>Conclusión: la comunidad usó el atentado como munición narrativa anti-inmigración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DEMO EN VIVO</a:t>
            </a:r>
          </a:p>
          <a:p>
            <a:pPr algn="ctr"/>
            <a:r>
              <a:t>Demo — NER y picos de actividad</a:t>
            </a:r>
          </a:p>
          <a:p>
            <a:pPr algn="ctr"/>
            <a:r>
              <a:rPr sz="1400">
                <a:solidFill>
                  <a:srgbClr val="9AA3B5"/>
                </a:solidFill>
                <a:latin typeface="Arial"/>
              </a:rPr>
              <a:t>IronMarch/02_llm_analysis.ipynb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05456" y="3657600"/>
            <a:ext cx="7168896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D6DAE2"/>
                </a:solidFill>
                <a:latin typeface="Arial"/>
              </a:rPr>
              <a:t>1.  Abrir notebook 02_llm_analysis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2.  Sección 2: ejecutar NER sobre top-50 usuarios (checkpoint automático)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3.  Sección 3: visualizar picos temporales con z-score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4.  Cruzar: ¿qué usuarios están más activos en los picos?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SECCIÓN 4</a:t>
            </a:r>
          </a:p>
          <a:p>
            <a:pPr algn="ctr"/>
            <a:r>
              <a:t>Embeddings y estilometría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qwen3-embedding + Burrows' Delta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Cinco estrategias de embedding por usuario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Pregunta: ¿cuántos posts necesitamos para representar bien a un usuario?</a:t>
            </a:r>
          </a:p>
          <a:p>
            <a:r>
              <a:t>A — embed_users: concatenar TODOS los posts → 1 vector (truncado a 50K chars)</a:t>
            </a:r>
          </a:p>
          <a:p>
            <a:r>
              <a:t>B — centroids full: 1 embedding por post, promedio → referencia (ground truth)</a:t>
            </a:r>
          </a:p>
          <a:p>
            <a:r>
              <a:t>C/D/E — centroids muestreados: top-50/100/150 posts MÁS LARGOS por usuario</a:t>
            </a:r>
          </a:p>
          <a:p>
            <a:r>
              <a:t>Métrica: Spearman ρ entre ranking de similitudes de cada estrategia vs. B</a:t>
            </a:r>
          </a:p>
          <a:p>
            <a:r>
              <a:t>Punto óptimo: D (top-100) → ρ=0.860, 3h 33min vs. ~9h completo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Resultados del experimento de muestreo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51560" y="2148840"/>
          <a:ext cx="1005840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Estrategia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Posts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Tiempo GPU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Spearman ρ vs full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Δρ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B — full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157,779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~9 h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referencia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 — top-50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≤41,800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2h 35min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0.799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D — top-100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41,319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3h 33min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0.860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+0.061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E — top-150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53,193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4h 12min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0.896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+0.036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51560" y="5760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7888"/>
                </a:solidFill>
                <a:latin typeface="Arial"/>
              </a:rPr>
              <a:t>ℹ  Rendimiento marginal decreciente: C→D (+37min, +6.1ρ) es mejor inversión que D→E (+39min, +3.6ρ).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UMAP + HDBSCAN — estructura del espacio de usuarios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580496"/>
            <a:ext cx="10084904" cy="3004378"/>
          </a:xfrm>
        </p:spPr>
        <p:txBody>
          <a:bodyPr wrap="square"/>
          <a:lstStyle/>
          <a:p>
            <a:r>
              <a:t>UMAP reduce 4096D → 2D preservando estructura de vecindad local</a:t>
            </a:r>
          </a:p>
          <a:p>
            <a:r>
              <a:t>HDBSCAN detecta clusters densos sin fijar K a priori</a:t>
            </a:r>
          </a:p>
          <a:p>
            <a:r>
              <a:t>Visualización interactiva Plotly: hover = nombre de usuario + cluster</a:t>
            </a:r>
          </a:p>
          <a:p>
            <a:r>
              <a:t>Clusters identificados: grupos ideológicos coherentes (aceleracionistas, nacional-bolcheviques...)</a:t>
            </a:r>
          </a:p>
          <a:p>
            <a:r>
              <a:t>Ruido (cluster -1): usuarios esporádicos sin afiliación ideológica clara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Burrows' Delta — estilometría para sockpuppets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580496"/>
            <a:ext cx="10084904" cy="3004378"/>
          </a:xfrm>
        </p:spPr>
        <p:txBody>
          <a:bodyPr wrap="square"/>
          <a:lstStyle/>
          <a:p>
            <a:r>
              <a:t>Mide frecuencia relativa de las N palabras más comunes, normalizada por z-score</a:t>
            </a:r>
          </a:p>
          <a:p>
            <a:r>
              <a:t>Delta bajo entre dos usuarios → estilo similar → candidato a misma persona</a:t>
            </a:r>
          </a:p>
          <a:p>
            <a:r>
              <a:t>Corpus IronMarch: top-200 palabras función, top-150 usuarios (≥500 palabras)</a:t>
            </a:r>
          </a:p>
          <a:p>
            <a:r>
              <a:t>Delta medio: 1.08  |  mínimo: 0.46  |  máximo: 2.03</a:t>
            </a:r>
          </a:p>
          <a:p>
            <a:r>
              <a:t>Par más sospechoso: 255 + Talleyrand</a:t>
            </a:r>
          </a:p>
          <a:p>
            <a:pPr lvl="1" marL="274320" indent="-228600">
              <a:buNone/>
            </a:pPr>
            <a:r>
              <a:rPr sz="1500" b="0">
                <a:solidFill>
                  <a:srgbClr val="707888"/>
                </a:solidFill>
                <a:latin typeface="Arial"/>
              </a:rPr>
              <a:t>·  Delta=0.46, similitud temporal=0.99, Talleyrand: anicot@elon.edu, activo 2011–2014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DEMO EN VIVO</a:t>
            </a:r>
          </a:p>
          <a:p>
            <a:pPr algn="ctr"/>
            <a:r>
              <a:t>Demo — embeddings y Delta</a:t>
            </a:r>
          </a:p>
          <a:p>
            <a:pPr algn="ctr"/>
            <a:r>
              <a:rPr sz="1400">
                <a:solidFill>
                  <a:srgbClr val="9AA3B5"/>
                </a:solidFill>
                <a:latin typeface="Arial"/>
              </a:rPr>
              <a:t>IronMarch/03_embeddings_profiling.ipynb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05456" y="3657600"/>
            <a:ext cx="7168896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D6DAE2"/>
                </a:solidFill>
                <a:latin typeface="Arial"/>
              </a:rPr>
              <a:t>1.  Abrir notebook 03_embeddings_profiling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2.  Sección 1: verificar que las estrategias C/D/E están cacheadas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3.  Sección 2: UMAP interactivo → identificar clusters ideológicos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4.  Sección 3: heatmap Burrows' Delta → par 255+Talleyrand en esquina inferior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SECCIÓN 5</a:t>
            </a:r>
          </a:p>
          <a:p>
            <a:pPr algn="ctr"/>
            <a:r>
              <a:t>Atribución y conclusiones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Señal combinada + limitaciones éticas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Señal combinada de atribución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Ninguna señal sola es suficiente — se requiere convergencia</a:t>
            </a:r>
          </a:p>
          <a:p>
            <a:r>
              <a:t>Burrows' Delta bajo → mismo estilo de escritura</a:t>
            </a:r>
          </a:p>
          <a:p>
            <a:r>
              <a:t>Similitud temporal alta → mismo horario de actividad → mismo huso horario</a:t>
            </a:r>
          </a:p>
          <a:p>
            <a:r>
              <a:t>Presencia en clusters UMAP cercanos → misma ideología y vocabulario</a:t>
            </a:r>
          </a:p>
          <a:p>
            <a:r>
              <a:t>Co-participación en threads privados (PMs) → relación directa</a:t>
            </a:r>
          </a:p>
          <a:p>
            <a:r>
              <a:t>Regla de tres: si ≥3 señales coinciden, el par merece investigación adicional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Resumen ejecutivo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169164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Hallazgos técnicos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14884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65461"/>
                </a:solidFill>
                <a:latin typeface="Arial"/>
              </a:rPr>
              <a:t>▸  100% de usuarios en componente gigante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Dos capas de influencia: pública (MOONLORD) y oculta (usuario 255)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Top-100 posts = 86% de fidelidad al embedding completo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Atentados de París: único evento con spike confirmado (×1.62)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Par 255+Talleyrand: candidato prioritario a investigación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9164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Limitaciones y ética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14884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65461"/>
                </a:solidFill>
                <a:latin typeface="Arial"/>
              </a:rPr>
              <a:t>▸  Análisis exploratorio: los resultados son leads, no pruebas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Delta en corpus homogéneo tiene menor poder discriminante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Datos de personas reales: manejo mínimamente invasivo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Objetivo defensivo: entender la red, no publicar perfiles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Ground truth valida la metodología, no identifica nuevos actores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¿Qué aprendemos del caso IronMarch?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La estructura del foro revela la ideología: jerarquía plana + concentración de PMs = liderazgo carismático</a:t>
            </a:r>
          </a:p>
          <a:p>
            <a:r>
              <a:t>Los LLMs locales hacen viable el análisis de contenido sensible sin APIs externas</a:t>
            </a:r>
          </a:p>
          <a:p>
            <a:r>
              <a:t>El muestreo inteligente (top-N por longitud) preserva señal estilométrica a fracción del coste</a:t>
            </a:r>
          </a:p>
          <a:p>
            <a:r>
              <a:t>La convergencia de señales (estilo + tiempo + red) es más robusta que cualquier métrica aislada</a:t>
            </a:r>
          </a:p>
          <a:p>
            <a:r>
              <a:t>Ground truth es raro y valiosísimo: cuando existe, calibra todo el pipeline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48A314A4-8185-4B55-A7CC-3A7CEDA94EDA}" vid="{7ECAA45A-5413-4556-941F-0D1EE0EF775E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1505317-1252-447c-bd21-893b663df9a8">
      <Terms xmlns="http://schemas.microsoft.com/office/infopath/2007/PartnerControls"/>
    </lcf76f155ced4ddcb4097134ff3c332f>
    <TaxCatchAll xmlns="82e8a8cd-2885-4bb5-8083-20f3ed61e7f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C98B10A8FC55C4B8C984524186865FF" ma:contentTypeVersion="11" ma:contentTypeDescription="Crear nuevo documento." ma:contentTypeScope="" ma:versionID="61ecef6567a032f588d7b796b0096457">
  <xsd:schema xmlns:xsd="http://www.w3.org/2001/XMLSchema" xmlns:xs="http://www.w3.org/2001/XMLSchema" xmlns:p="http://schemas.microsoft.com/office/2006/metadata/properties" xmlns:ns2="91505317-1252-447c-bd21-893b663df9a8" xmlns:ns3="82e8a8cd-2885-4bb5-8083-20f3ed61e7f2" targetNamespace="http://schemas.microsoft.com/office/2006/metadata/properties" ma:root="true" ma:fieldsID="3acf16c84cbe939f4efc210e3967d453" ns2:_="" ns3:_="">
    <xsd:import namespace="91505317-1252-447c-bd21-893b663df9a8"/>
    <xsd:import namespace="82e8a8cd-2885-4bb5-8083-20f3ed61e7f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505317-1252-447c-bd21-893b663df9a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Etiquetas de imagen" ma:readOnly="false" ma:fieldId="{5cf76f15-5ced-4ddc-b409-7134ff3c332f}" ma:taxonomyMulti="true" ma:sspId="d85e823d-31db-440c-980d-283f89df7c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2e8a8cd-2885-4bb5-8083-20f3ed61e7f2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cf23810e-d2cb-40f5-8814-ec88b3cf0e80}" ma:internalName="TaxCatchAll" ma:showField="CatchAllData" ma:web="82e8a8cd-2885-4bb5-8083-20f3ed61e7f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640DA36-330E-4724-B0DD-2D2DF8C87B4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1D3338C-90C1-4611-94F3-1777FF5BD484}">
  <ds:schemaRefs>
    <ds:schemaRef ds:uri="http://schemas.microsoft.com/office/2006/metadata/properties"/>
    <ds:schemaRef ds:uri="http://schemas.microsoft.com/office/infopath/2007/PartnerControls"/>
    <ds:schemaRef ds:uri="91505317-1252-447c-bd21-893b663df9a8"/>
    <ds:schemaRef ds:uri="82e8a8cd-2885-4bb5-8083-20f3ed61e7f2"/>
  </ds:schemaRefs>
</ds:datastoreItem>
</file>

<file path=customXml/itemProps3.xml><?xml version="1.0" encoding="utf-8"?>
<ds:datastoreItem xmlns:ds="http://schemas.openxmlformats.org/officeDocument/2006/customXml" ds:itemID="{212D29BC-2FDC-48FD-AB0D-B3A0D33AA8E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1505317-1252-447c-bd21-893b663df9a8"/>
    <ds:schemaRef ds:uri="82e8a8cd-2885-4bb5-8083-20f3ed61e7f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PresentaciónCyberSBC2023_esp</Template>
  <TotalTime>89</TotalTime>
  <Words>0</Words>
  <Application>Microsoft Macintosh PowerPoint</Application>
  <PresentationFormat>Panorámica</PresentationFormat>
  <Paragraphs>0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8" baseType="lpstr">
      <vt:lpstr>Aptos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Marta Torralbo Calero</dc:creator>
  <cp:lastModifiedBy>Lozano, Maria</cp:lastModifiedBy>
  <cp:revision>4</cp:revision>
  <dcterms:created xsi:type="dcterms:W3CDTF">2024-03-27T14:17:30Z</dcterms:created>
  <dcterms:modified xsi:type="dcterms:W3CDTF">2026-04-24T15:58:42Z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0x0101006C98B10A8FC55C4B8C984524186865FF</vt:lpwstr>
  </property>
</Properties>
</file>