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IronMarch: foro chico, impacto grande</a:t>
            </a:r>
          </a:p>
          <a:p>
            <a:r>
              <a:t>Miembros ligados a grupos terroristas</a:t>
            </a:r>
          </a:p>
          <a:p>
            <a:r>
              <a:t>Clave: ground truth judicial para validar</a:t>
            </a:r>
          </a:p>
          <a:p>
            <a:r>
              <a:t>Pregunta guía: red filtrada → liderazgo real</a:t>
            </a:r>
          </a:p>
          <a:p>
            <a:r>
              <a:t>→ recorrido: dataset, LLM, estilometría, ética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Primero: qué es Iron March, qué contiene el dump</a:t>
            </a:r>
          </a:p>
          <a:p>
            <a:r>
              <a:t>Estructura de tablas IPS 4.x</a:t>
            </a:r>
          </a:p>
          <a:p>
            <a:r>
              <a:t>→ por qué este leak es distinto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Foro chico, pero nodo del fascismo internacional</a:t>
            </a:r>
          </a:p>
          <a:p>
            <a:r>
              <a:t>No son sospechas: vínculos judiciales confirmados</a:t>
            </a:r>
          </a:p>
          <a:p>
            <a:r>
              <a:t>Leak 2019: dump SQL completo, poco común</a:t>
            </a:r>
          </a:p>
          <a:p>
            <a:r>
              <a:t>→ ground truth: contrastamos hallazgos vs. justicia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Esquema típico IPS 4.x, familiar del curso</a:t>
            </a:r>
          </a:p>
          <a:p>
            <a:r>
              <a:t>Ojo: 55K PMs, cifra rarísima en leaks</a:t>
            </a:r>
          </a:p>
          <a:p>
            <a:r>
              <a:t>→ clave para comparar red pública vs. oculta</a:t>
            </a:r>
          </a:p>
          <a:p>
            <a:r>
              <a:t>member_id: columna discriminante para reproducir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qué este caso: calibrable contra la realidad</a:t>
            </a:r>
          </a:p>
          <a:p>
            <a:r>
              <a:t>MOONLORD doxxeado = Slavros, IP rusa confirmada</a:t>
            </a:r>
          </a:p>
          <a:p>
            <a:r>
              <a:t>Hallazgo clave: usuario 255, 53% betweenness en PMs</a:t>
            </a:r>
          </a:p>
          <a:p>
            <a:r>
              <a:t>→ liderazgo visible ≠ liderazgo real</a:t>
            </a:r>
          </a:p>
          <a:p>
            <a:r>
              <a:t>Cierre: confiscación judicial, no abandono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exploración de datos, notebook 00</a:t>
            </a:r>
          </a:p>
          <a:p>
            <a:r>
              <a:t>Construir dos redes: pública threads vs. PMs ocultos</a:t>
            </a:r>
          </a:p>
          <a:p>
            <a:r>
              <a:t>→ primeros números concretos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fríos primero: 836 activos, foro denso</a:t>
            </a:r>
          </a:p>
          <a:p>
            <a:r>
              <a:t>Pico 2015 = atentados París → detalle con z-scores</a:t>
            </a:r>
          </a:p>
          <a:p>
            <a:r>
              <a:t>Concentración: top-5 subforos de 138 dominan</a:t>
            </a:r>
          </a:p>
          <a:p>
            <a:r>
              <a:t>Verificación idioma: sin ella, NLP inválido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 clave: red pública vs. red privada</a:t>
            </a:r>
          </a:p>
          <a:p>
            <a:r>
              <a:t>Pública: broker = MOONLORD, esperable</a:t>
            </a:r>
          </a:p>
          <a:p>
            <a:r>
              <a:t>Privada: broker = usuario 255 (admin), 53% betweenness</a:t>
            </a:r>
          </a:p>
          <a:p>
            <a:r>
              <a:t>→ liderazgo visible vs. estructural no coinciden</a:t>
            </a:r>
          </a:p>
          <a:p>
            <a:r>
              <a:t>Señal forense a detectar siempre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Paso trivial en apariencia, error frecuente</a:t>
            </a:r>
          </a:p>
          <a:p>
            <a:r>
              <a:t>Modelo inglés en corpus ruso → ruido silencioso, no error</a:t>
            </a:r>
          </a:p>
          <a:p>
            <a:r>
              <a:t>Confirmado: &gt;95% inglés, pipeline estándar OK</a:t>
            </a:r>
          </a:p>
          <a:p>
            <a:r>
              <a:t>Regla general: verificar idioma SIEMPRE antes de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Práctica: notebook 00, grafo de co-participación</a:t>
            </a:r>
          </a:p>
          <a:p>
            <a:r>
              <a:t>Visualización top-150 nodos → hub-and-spoke MOONLORD</a:t>
            </a:r>
          </a:p>
          <a:p>
            <a:r>
              <a:t>→ comparar con red de PMs, sección 4</a:t>
            </a:r>
          </a:p>
          <a:p>
            <a:r>
              <a:t>¿Coinciden los brokers? en vivo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NLP — BERTopic (temas) + NER (entidades)</a:t>
            </a:r>
          </a:p>
          <a:p>
            <a:r>
              <a:t>Modelo local: qwen2.5:14b</a:t>
            </a:r>
          </a:p>
          <a:p>
            <a:r>
              <a:t>→ sin enviar datos sensibles a APIs externas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BERTopic: descubre temas sin categorías previas</a:t>
            </a:r>
          </a:p>
          <a:p>
            <a:r>
              <a:t>Validación: topics vs. subforos declarados</a:t>
            </a:r>
          </a:p>
          <a:p>
            <a:r>
              <a:t>→ ideología permea todo el foro, sin fronteras</a:t>
            </a:r>
          </a:p>
          <a:p>
            <a:r>
              <a:t>Modelo sin LLM: rápido, reproducible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local: entidades sobre top-50 usuarios</a:t>
            </a:r>
          </a:p>
          <a:p>
            <a:r>
              <a:t>Hitler esperable, pero Evola casi al mismo nivel</a:t>
            </a:r>
          </a:p>
          <a:p>
            <a:r>
              <a:t>→ firma distintiva de Iron March</a:t>
            </a:r>
          </a:p>
          <a:p>
            <a:r>
              <a:t>Atomwaffen: mencionado 3 años antes de ser terrorista</a:t>
            </a:r>
          </a:p>
          <a:p>
            <a:r>
              <a:t>Foro como semillero temprano, no eco tardío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Pregunta: qué eventos reales activaron la comunidad</a:t>
            </a:r>
          </a:p>
          <a:p>
            <a:r>
              <a:t>Único pico confirmado: atentados París 2015</a:t>
            </a:r>
          </a:p>
          <a:p>
            <a:r>
              <a:t>Reacción islamófoba, no racista clásica</a:t>
            </a:r>
          </a:p>
          <a:p>
            <a:r>
              <a:t>Sin pico: Trump 2016, Charlottesville 2017 (declive)</a:t>
            </a:r>
          </a:p>
          <a:p>
            <a:r>
              <a:t>→ atentado usado como munición anti-inmigración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notebook 02, NER top-50 (checkpoint automático)</a:t>
            </a:r>
          </a:p>
          <a:p>
            <a:r>
              <a:t>Visualizar picos con z-score</a:t>
            </a:r>
          </a:p>
          <a:p>
            <a:r>
              <a:t>→ ejercicio en vivo: usuarios activos en nov. 2015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perfilado individual, usuario como vector</a:t>
            </a:r>
          </a:p>
          <a:p>
            <a:r>
              <a:t>Detectar estilos similares con Burrows' Delta</a:t>
            </a:r>
          </a:p>
          <a:p>
            <a:r>
              <a:t>→ clave para atribución de sockpuppets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de ingeniería: cuántos posts por usuario</a:t>
            </a:r>
          </a:p>
          <a:p>
            <a:r>
              <a:t>5 estrategias probadas, de concatenar a promediar</a:t>
            </a:r>
          </a:p>
          <a:p>
            <a:r>
              <a:t>Óptimo: D (top-100) → ρ=0.86, un tercio del tiempo</a:t>
            </a:r>
          </a:p>
          <a:p>
            <a:r>
              <a:t>Lección: muestreo inteligente &gt; procesamiento exhaustivo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Evidencia numérica de la decisión anterior</a:t>
            </a:r>
          </a:p>
          <a:p>
            <a:r>
              <a:t>C→D: +37min, +6.1ρ — buena inversión</a:t>
            </a:r>
          </a:p>
          <a:p>
            <a:r>
              <a:t>D→E: tiempo similar, mitad de mejora</a:t>
            </a:r>
          </a:p>
          <a:p>
            <a:r>
              <a:t>→ rendimientos decrecientes: más datos ≠ siempre mejor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UMAP: 4096D → 2D, preserva vecindad local</a:t>
            </a:r>
          </a:p>
          <a:p>
            <a:r>
              <a:t>HDBSCAN: clusters sin fijar K a priori</a:t>
            </a:r>
          </a:p>
          <a:p>
            <a:r>
              <a:t>→ clusters = corrientes ideológicas coherentes</a:t>
            </a:r>
          </a:p>
          <a:p>
            <a:r>
              <a:t>Ruido (-1): usuarios sin afiliación clara, señal real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Burrows' Delta: técnica clásica de estilometría</a:t>
            </a:r>
          </a:p>
          <a:p>
            <a:r>
              <a:t>Aplicado a 150 usuarios, ≥500 palabras</a:t>
            </a:r>
          </a:p>
          <a:p>
            <a:r>
              <a:t>Par más sospechoso: 255 + Talleyrand</a:t>
            </a:r>
          </a:p>
          <a:p>
            <a:r>
              <a:t>Delta=0.46 + similitud temporal 99%</a:t>
            </a:r>
          </a:p>
          <a:p>
            <a:r>
              <a:t>→ evidencia circunstancial, no prueba definitiva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notebook 03, estrategias C/D/E cacheadas</a:t>
            </a:r>
          </a:p>
          <a:p>
            <a:r>
              <a:t>UMAP interactivo → clusters ideológicos</a:t>
            </a:r>
          </a:p>
          <a:p>
            <a:r>
              <a:t>→ heatmap Delta: par 255+Talleyrand, valor más bajo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combinar señales — estilo, tiempo, red</a:t>
            </a:r>
          </a:p>
          <a:p>
            <a:r>
              <a:t>Criterio de atribución</a:t>
            </a:r>
          </a:p>
          <a:p>
            <a:r>
              <a:t>→ límites éticos y metodológicos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Ninguna técnica es concluyente por sí sola</a:t>
            </a:r>
          </a:p>
          <a:p>
            <a:r>
              <a:t>Regla de convergencia: ≥3 señales → investigar</a:t>
            </a:r>
          </a:p>
          <a:p>
            <a:r>
              <a:t>Nunca conclusión automática</a:t>
            </a:r>
          </a:p>
          <a:p>
            <a:r>
              <a:t>→ estándar forense: acumulación de indicios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Resumen: red, muestreo, hallazgo temporal</a:t>
            </a:r>
          </a:p>
          <a:p>
            <a:r>
              <a:t>Detenerse en columna derecha: limitaciones</a:t>
            </a:r>
          </a:p>
          <a:p>
            <a:r>
              <a:t>Resultados = leads, no pruebas periciales</a:t>
            </a:r>
          </a:p>
          <a:p>
            <a:r>
              <a:t>Datos reales → manejo mínimamente invasivo</a:t>
            </a:r>
          </a:p>
          <a:p>
            <a:r>
              <a:t>→ objetivo defensivo, no exponer perfiles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ideas para cerrar el caso</a:t>
            </a:r>
          </a:p>
          <a:p>
            <a:r>
              <a:t>Estructura de red revela tipo de liderazgo</a:t>
            </a:r>
          </a:p>
          <a:p>
            <a:r>
              <a:t>LLMs locales: viable analizar contenido sensible</a:t>
            </a:r>
          </a:p>
          <a:p>
            <a:r>
              <a:t>Muestreo inteligente preserva señal, baja costo</a:t>
            </a:r>
          </a:p>
          <a:p>
            <a:r>
              <a:t>→ ground truth escaso: calibra toda la metodología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Caso IronMarch</a:t>
            </a:r>
          </a:p>
          <a:p>
            <a:r>
              <a:rPr sz="1800">
                <a:solidFill>
                  <a:srgbClr val="D6DAE2"/>
                </a:solidFill>
                <a:latin typeface="Calibri"/>
              </a:rPr>
              <a:t>Análisis forense de un foro de extrema derecha (2011–2017)</a:t>
            </a:r>
          </a:p>
          <a:p>
            <a:r>
              <a:rPr sz="1200" b="1">
                <a:solidFill>
                  <a:srgbClr val="9AA3B5"/>
                </a:solidFill>
                <a:latin typeface="Calibri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1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Dataset y contexto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¿Qué es Iron March y qué datos tenemos?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Iron March — ¿qué fue?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Foro fundado en 2011 por Alexander Slavros (MOONLORD), cerrado en noviembre de 2017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Punto de encuentro del fascismo internacional online: neo-nazismo, aceleracionismo, Evola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Miembros vinculados a grupos terroristas: Atomwaffen Division, The Base, SIEGE culture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Leak: noviembre 2019 — dump SQL completo filtrado por un tercero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Ground truth disponible: fundador doxxeado, miembros identificados en causas judiciales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Estructura del dataset (IPS 4.x)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Tabla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Registros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28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Descripción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011680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5168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core_members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05168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~18,000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2880" y="205168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Usuarios registrados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322576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36257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forums_posts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36257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~194,000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236257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Posts públicos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633472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673472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forums_threads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080" y="2673472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~14,000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2880" y="2673472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Hilos de discusión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984368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forums_forums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2984368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~138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2984368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Subforos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255263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295263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core_message_posts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3295263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~55,000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3295263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Mensajes privados (PMs) — infrecuente en leaks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Calibri"/>
              </a:rPr>
              <a:t>ℹ  Parser: IPS 4.x. Tablas sin prefijo. Columna discriminante: member_id en core_members.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Por qué es excepcional este dataset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Ground truth real: podemos validar el análisis computacional contra hechos verificados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MOONLORD = Alexander Slavros: doxxeado, fundador confirmado, IP rusa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Usuario 255 (userid=0): cuenta admin con 53% del betweenness en PMs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Miembros identificados en casos judiciales en EEUU, Europa y Australia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Dato infrecuente: 55K mensajes privados intactos → red de influencia oculta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Cierre documentado: el servidor fue confiscado, no abandonado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2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Exploración y red de influencia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Notebook 00 + estructura de 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EDA — primeras métricas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836 usuarios activos (≥5 posts) sobre ~18K registros → foro pequeño y denso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157,779 posts válidos tras limpieza: media de 189 posts/usuario activo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Actividad: 2011–2017. Pico en 2015 (atentados de París) → +62% baseline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138 subforos activos, pero concentración alta: top-5 generan el 60% del tráfico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Idioma: inglés (verificado por detección automática) → pipeline estándar válido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Dos redes, dos capas de influencia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Red pública (co-participación en threads)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836 nodos, 100% en componente gigante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Broker principal: MOONLORD (Slavros)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Estructura de hub-and-spoke: el fundador conecta grupos ideológicos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Hilos filosóficos (Evola, Spengler) concentran el betweenness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Red privada (mensajes privados)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55K PMs — dato rarísimo en leaks de foros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Broker principal: usuario 255 (userid=0, admin)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53% del betweenness en la red privada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Los brokers públicos y privados NO coinciden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Detección de idioma — paso obligatorio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Burrows' Delta, NER y BERTopic son idioma-específicos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Sin verificación previa, aplicar el pipeline inglés a texto ruso produce ruido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Resultado IronMarch: &gt;95% inglés → pipeline estándar válido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La misma metodología aplicada a un foro en ruso requeriría un pipeline distinto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Regla general: detectar idioma ANTES de cualquier modelo NLP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— red de co-participación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IronMarch/00_extract_and_explore.ipynb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Abrir notebook 00_extract_and_explore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Ejecutar sección 3: grafo usuario↔usuario por threads compartidos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Visualización Plotly interactiva: top-150 nodos por degree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Comparar con sección 4: red de PMs — ¿los mismos brokers?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3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Análisis con LLM local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BERTopic + NER con qwen2.5:14b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BERTopic — descubrimiento de temas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Objetivo: ¿de qué habla el foro sin imponer categorías a priori?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Validación cruzada: comparar topics automáticos vs. subforos reales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Top topics: racismo científico, estética fascista, Evola/Spengler, violencia política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Hallazgo: topics no respetan fronteras de subforos — ideología permea todo el foro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Modelo: sentence-transformers + UMAP + HDBSCAN (sin LLM, rápido y reproducible)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NER con qwen2.5:14b — entidades clave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Estrategia: top-50 usuarios por volumen, hasta 50 posts por usuario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Tipos de entidad: PERSON, ORG, LOCATION, IDEOLOGY, WEAPON, EVENT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2,515 entidades extraídas en 1,500 posts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Hitler: ×28  |  Evola: ×15  |  Golden Dawn: ×10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Atomwaffen Division mencionada 3 años antes de su clasificación como terrorista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Presencia de Evola casi al nivel de Hitler: rasgo distintivo vs. otros foros de ultraderecha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Picos de actividad — análisis temporal + topics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Método: z-score semanal sobre serie temporal de posts (umbral: µ + 2σ)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Índice compuesto: volumen × longitud × señales de arousal (CAPS, !)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Atentados de París (nov 2015): ×1.62 baseline → único spike estadístico confirmado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Reacción: islamofóbica, no racista — 'paris' ×22, 'refugee' ×16, 'white' baja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Trump 2016: ×1.03 — sin spike. Charlottesville 2017: ×0.96 — el foro ya estaba en declive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Conclusión: la comunidad usó el atentado como munición narrativa anti-inmigración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— NER y picos de actividad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IronMarch/02_llm_analysis.ipynb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Abrir notebook 02_llm_analysis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Sección 2: ejecutar NER sobre top-50 usuarios (checkpoint automático)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Sección 3: visualizar picos temporales con z-score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Cruzar: ¿qué usuarios están más activos en los picos?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4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Embeddings y estilometría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qwen3-embedding + Burrows' Delta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Cinco estrategias de embedding por usuario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Pregunta: ¿cuántos posts necesitamos para representar bien a un usuario?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A — embed_users: concatenar TODOS los posts → 1 vector (truncado a 50K chars)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 — centroids full: 1 embedding por post, promedio → referencia (ground truth)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C/D/E — centroids muestreados: top-50/100/150 posts MÁS LARGOS por usuario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Métrica: Spearman ρ entre ranking de similitudes de cada estrategia vs. B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Punto óptimo: D (top-100) → ρ=0.860, 3h 33min vs. ~9h completo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Resultados del experimento de muestreo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Estrategia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Tiempo GPU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Spearman ρ vs full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Δρ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2011680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05168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B — full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05168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157,779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05168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~9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05168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referencia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05168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322576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362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 — top-50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362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≤41,800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62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2h 35min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362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362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2633472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267347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D — top-100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267347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41,319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67347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3h 33min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67347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0.860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67347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+0.061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298436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E — top-150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298436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53,193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98436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4h 12min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98436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0.896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98436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+0.036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Calibri"/>
              </a:rPr>
              <a:t>ℹ  Rendimiento marginal decreciente: C→D (+37min, +6.1ρ) es mejor inversión que D→E (+39min, +3.6ρ).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UMAP + HDBSCAN — estructura del espacio de usuarios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UMAP reduce 4096D → 2D preservando estructura de vecindad local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HDBSCAN detecta clusters densos sin fijar K a priori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Visualización interactiva Plotly: hover = nombre de usuario + cluster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Clusters identificados: grupos ideológicos coherentes (aceleracionistas, nacional-bolcheviques...)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Ruido (cluster -1): usuarios esporádicos sin afiliación ideológica clara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Burrows' Delta — estilometría para sockpuppets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Mide frecuencia relativa de las N palabras más comunes, normalizada por z-score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Delta bajo entre dos usuarios → estilo similar → candidato a misma persona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Corpus IronMarch: top-200 palabras función, top-150 usuarios (≥500 palabras)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Delta medio: 1.08  |  mínimo: 0.46  |  máximo: 2.03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Par más sospechoso: 255 + Talleyrand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Delta=0.46, similitud temporal=0.99, Talleyrand: anicot@elon.edu, activo 2011–2014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— embeddings y Delta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IronMarch/03_embeddings_profiling.ipynb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Abrir notebook 03_embeddings_profiling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Sección 1: verificar que las estrategias C/D/E están cacheadas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Sección 2: UMAP interactivo → identificar clusters ideológicos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Sección 3: heatmap Burrows' Delta → par 255+Talleyrand en esquina inferior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5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Atribución y conclusiones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Señal combinada + limitaciones éticas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Señal combinada de atribución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Ninguna señal sola es suficiente — se requiere convergencia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Burrows' Delta bajo → mismo estilo de escritura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Similitud temporal alta → mismo horario de actividad → mismo huso horario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Presencia en clusters UMAP cercanos → misma ideología y vocabulario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Co-participación en threads privados (PMs) → relación directa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Regla de tres: si ≥3 señales coinciden, el par merece investigación adicional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100% de usuarios en componente gigante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Dos capas de influencia: pública (MOONLORD) y oculta (usuario 255)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Top-100 posts = 86% de fidelidad al embedding completo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Atentados de París: único evento con spike confirmado (×1.62)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Par 255+Talleyrand: candidato prioritario a investigación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Limitaciones y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Análisis exploratorio: los resultados son leads, no pruebas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Delta en corpus homogéneo tiene menor poder discriminante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Datos de personas reales: manejo mínimamente invasivo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Objetivo defensivo: entender la red, no publicar perfiles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Ground truth valida la metodología, no identifica nuevos actores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¿Qué aprendemos del caso IronMarch?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La estructura del foro revela la ideología: jerarquía plana + concentración de PMs = liderazgo carismático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Los LLMs locales hacen viable el análisis de contenido sensible sin APIs externas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muestreo inteligente (top-N por longitud) preserva señal estilométrica a fracción del coste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La convergencia de señales (estilo + tiempo + red) es más robusta que cualquier métrica aislada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Ground truth es raro y valiosísimo: cuando existe, calibra todo el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