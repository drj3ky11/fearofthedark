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Bienvenidos al análisis forense del caso IronMarch, uno de los leaks más documentados de la extrema derecha online. Es un foro pequeño en volumen pero enorme en impacto: de ahí salieron ideólogos y miembros vinculados a grupos catalogados como terroristas. Lo que lo hace único para nosotros como analistas no es el contenido ideológico en sí, sino que tenemos ground truth real —personas identificadas judicialmente— para validar cada técnica que vamos a aplicar. La pregunta que guía toda la sesión es: ¿qué puede decirnos la estructura de una red social filtrada sobre el liderazgo real de una organización? Vamos a recorrer el dataset, el análisis con LLM local, el perfilado estilométrico y cerrar con las limitaciones éticas del trabajo.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tocar cualquier modelo, necesitamos entender qué es Iron March y qué contiene el dump que estamos analizando. Vamos a ver la estructura de las tablas IPS 4.x y por qué este leak es distinto a la mayoría que vemos en el curso.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Iron March no fue un foro masivo, pero sí un nodo de conexión entre distintas corrientes del fascismo internacional, desde el neonazismo clásico hasta el aceleracionismo inspirado en Evola. Es importante remarcar que no hablamos de sospechas: varios miembros están hoy vinculados judicialmente a organizaciones catalogadas como terroristas, como Atomwaffen Division o The Base. El leak de 2019 nos da un dump SQL completo, lo cual es poco común, y eso es lo que nos permite hacer un análisis técnico serio. Quiero que se queden con una idea: tenemos ground truth, es decir, hechos ya verificados por la justicia, contra los que podemos contrastar nuestros hallazgos computacionales. Eso cambia completamente el valor pedagógico de este caso frente a otros leaks donde solo especulamos.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estructura típica de un foro IPS 4.x, así que si ya vieron otros casos del curso, el esquema les resultará familiar. Quiero que se fijen especialmente en la tabla de mensajes privados: 55.000 registros es una cifra inusualmente alta para un leak de foro, la mayoría de las veces esos datos se pierden o se depuran. Esa tabla va a ser clave más adelante cuando comparemos la red pública con la red oculta de influencia. La nota técnica sobre member_id como columna discriminante es para quien quiera reproducir el parsing en su propio entorno.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corazón de por qué elegimos este caso para el curso: no es solo un análisis de red más, es un análisis que podemos calibrar contra la realidad. MOONLORD, el fundador, fue doxxeado e identificado como Alexander Slavros, con evidencia de IP rusa, así que no estamos especulando sobre quién lideraba el foro. Pero hay un segundo hallazgo más interesante todavía: el usuario 255, con userid=0, es decir, una cuenta de administrador, concentra más de la mitad del betweenness en la red de mensajes privados. Eso nos anticipa algo que vamos a desarrollar en la sección de redes: el liderazgo visible no siempre coincide con el liderazgo real. Y el hecho de que el cierre del foro esté documentado como confiscación judicial, no como abandono voluntario, refuerza que este es un caso con trazabilidad real.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contexto claro, pasamos a la exploración de datos y a construir las dos redes que vamos a comparar: la pública de threads y la oculta de mensajes privados. Este es el bloque donde empezamos a ver números concretos del notebook 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sacar ninguna conclusión ideológica, miremos los números fríos: 836 usuarios activos sobre 18.000 registrados nos dice que este es un foro pequeño y denso, no una comunidad masiva. El pico de actividad en 2015 coincide con los atentados de París, un dato que vamos a analizar en detalle más adelante con z-scores. Y la concentración de tráfico en cinco subforos sobre 138 totales nos anticipa que la actividad real está mucho más concentrada de lo que el tamaño del foro sugiere. La verificación de idioma no es un detalle menor: sin ella, cualquier modelo NLP que apliquemos después sería inválido.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probablemente la diapositiva más importante de la sección: comparamos la red pública, construida sobre co-participación en threads, con la red privada de mensajes. En la red pública, el broker principal es MOONLORD, el fundador, lo cual es esperable. Pero en la red privada el broker principal es el usuario 255, la cuenta administrativa, con más de la mitad del betweenness. La pregunta que quiero que se hagan es: ¿por qué el liderazgo visible y el liderazgo estructural no coinciden? Esa divergencia es exactamente el tipo de señal que un analista forense de redes sociales debe aprender a detectar.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paso parece trivial, pero es donde más analistas se equivocan al apurar el pipeline. Burrows' Delta, el NER y BERTopic asumen un idioma específico, y si aplicamos un modelo entrenado para inglés a un corpus en ruso, no vamos a obtener un error, vamos a obtener ruido silencioso que parece resultado válido. En este caso confirmamos que más del 95% del contenido es inglés, así que el pipeline estándar es aplicable sin modificaciones. Pero la regla que quiero que se lleven es general: si este mismo foro hubiera sido en ruso, necesitaríamos herramientas completamente distintas, no una adaptación menor.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 a la práctica: abrimos el notebook 00 y ejecutamos juntos la construcción del grafo de co-participación. Presten atención a la visualización interactiva de los top-150 nodos por grado, porque ahí ya se empieza a intuir la estructura de hub-and-spoke alrededor de MOONLORD. Después vamos a comparar esa red con la de mensajes privados de la sección 4 del mismo notebook, para que vean con sus propios ojos si los brokers coinciden o no.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entramos en la parte de procesamiento de lenguaje: BERTopic para descubrir temas y NER con un modelo local, qwen2.5:14b, para extraer entidades. Todo esto corre en local, sin mandar datos sensibles a ninguna API externa, algo especialmente relevante dado el tipo de contenido que estamos analizando.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BERTopic nos permite descubrir de qué habla realmente el foro sin imponerle categorías nuestras de antemano. Lo interesante es el hallazgo de validación: cuando comparamos los tópicos automáticos con la estructura de subforos declarada, vemos que la ideología no respeta esas fronteras administrativas, permea transversalmente todo el foro. Y noten que el modelo que usamos aquí, sentence-transformers con UMAP y HDBSCAN, no requiere LLM: es rápido y perfectamente reproducible, algo a valorar cuando el volumen de datos es alto.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usamos un LLM local para extraer entidades de tipo persona, organización, ideología y hasta armamento, sobre los 50 usuarios más activos. El resultado más llamativo no es la frecuencia de Hitler, que es esperable en este tipo de foro, sino que Evola aparece casi al mismo nivel: eso es una firma distintiva de Iron March frente a otros foros de ultraderecha más genéricos. Y hay un hallazgo con valor forense real: Atomwaffen Division se menciona tres años antes de que fuera clasificada oficialmente como organización terrorista, lo cual sugiere que el foro funcionaba como semillero temprano, no como eco tardío.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combinamos series temporales con topics para responder una pregunta concreta: ¿qué eventos del mundo real activaron a esta comunidad? Usamos z-score semanal con un umbral de dos desviaciones estándar, y el único pico estadísticamente confirmado en toda la vida del foro son los atentados de París de 2015. Lo que hay que remarcar es el tono de la reacción: no fue racista en el sentido clásico, fue islamófoba, con picos claros en menciones a 'paris' y 'refugee'. Y noten lo que NO pasó: ni la elección de Trump en 2016 ni Charlottesville en 2017 generaron un pico estadístico, este último probablemente porque el foro ya estaba en declive. La conclusión forense es que la comunidad no reaccionó de forma genérica, usó el atentado como munición narrativa específica contra la inmigración.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esta demo abrimos el notebook 02 y ejecutamos el NER sobre los 50 usuarios más activos, que ya tiene checkpoint automático para no perder el progreso si se corta la ejecución. Después visualizamos los picos temporales con z-score y les propongo un ejercicio en vivo: crucen qué usuarios estaban más activos justo en el pico de noviembre de 2015.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Pasamos ahora a la parte de perfilado individual: cómo representamos a cada usuario como un vector y cómo detectamos estilos de escritura similares con Burrows' Delta. Esta sección es clave para la atribución de sockpuppets, que cerraremos en la sección final.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esta diapositiva es puramente de ingeniería: ¿cuántos posts necesito procesar para representar bien a un usuario, sin gastar nueve horas de GPU? Probamos cinco estrategias, desde concatenar todo el texto de un usuario hasta promediar embeddings de sus posts más largos. El resultado que quiero que se lleven es el punto óptimo: la estrategia D, con los cien posts más largos, alcanza una correlación de 0.86 contra el cálculo completo, en poco más de un tercio del tiempo. Esto es una lección general de trabajo con LLMs a escala: el muestreo inteligente casi siempre supera en costo-beneficio al procesamiento exhaustivo.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es la evidencia numérica de la decisión que acabamos de justificar. Miren la columna de rendimiento marginal: pasar de 50 a 100 posts nos cuesta 37 minutos más pero suma 6 puntos de correlación, mientras que pasar de 100 a 150 cuesta un tiempo similar pero suma menos de la mitad de esa mejora. Esa es la definición práctica de rendimientos decrecientes, y es el criterio que deberían aplicar en sus propios proyectos antes de asumir que 'más datos siempre es mejor'.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Reducimos el espacio de embeddings de 4096 dimensiones a un plano 2D con UMAP, preservando la estructura de vecindad local, y después aplicamos HDBSCAN para detectar clusters sin tener que decidir de antemano cuántos grupos existen. Lo interesante es que los clusters que aparecen no son ruido: se corresponden con corrientes ideológicas coherentes, como los aceleracionistas o los nacional-bolcheviques. Y el cluster de ruido, el -1, agrupa a usuarios esporádicos sin afiliación clara, que es exactamente lo que esperaríamos si el modelo está capturando señal real y no artefactos.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Burrows' Delta es una técnica clásica de estilometría: compara la frecuencia relativa de las palabras más comunes entre dos autores, normalizada por z-score, para estimar si comparten estilo de escritura. Aplicado a los 150 usuarios con más de 500 palabras, el par más sospechoso que encontramos es el usuario 255 con Talleyrand. Fíjense en la convergencia de señales: Delta de 0.46, que es muy bajo, más una similitud temporal del 99%, es decir, prácticamente el mismo horario de actividad. Ese patrón, combinando estilo y horario, es el tipo de evidencia circunstancial que en un caso real ameritaría investigación adicional, nunca una conclusión definitiva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esta demo abrimos el notebook 03, verificamos que las estrategias C, D y E ya están cacheadas para no repetir horas de cómputo en vivo, y exploramos el UMAP interactivo para identificar los clusters ideológicos. Cerramos con el heatmap de Burrows' Delta: busquen el par 255 y Talleyrand en la esquina inferior, con el valor más bajo de toda la matriz.</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Llegamos al cierre: cómo combinamos todas las señales que vimos —estilo, tiempo, red— en un criterio de atribución, y qué límites éticos y metodológicos tiene todo este análisis.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de las técnicas que vimos hoy es concluyente por sí sola, y quiero que eso quede muy claro: ni el estilo, ni el horario, ni la cercanía en el espacio de embeddings prueban identidad por separado. Lo que proponemos es una regla de convergencia: si un mismo par de usuarios coincide en tres o más señales independientes, ese par merece una investigación adicional, no una conclusión automática. Esto es exactamente el estándar que deberían aplicar en su propio trabajo forense: la evidencia digital rara vez es una prueba única, es la acumulación de indicios independientes lo que sostiene una hipótesis.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resumen de todo lo que recorrimos hoy: la estructura de la red, la eficiencia del muestreo de embeddings, y el hallazgo temporal de los atentados de París. Pero quiero que se detengan especialmente en la columna de la derecha, las limitaciones. Estos resultados son leads de investigación, no pruebas periciales, y trabajamos con datos de personas reales, así que el manejo mínimamente invasivo no es un capricho metodológico, es una responsabilidad ética. El objetivo de todo este análisis es defensivo: entender cómo operan estas redes, no exponer o publicar perfiles de individuos.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quiero que se lleven cuatro ideas del caso IronMarch. Primero, la estructura misma de una red puede revelar el tipo de liderazgo de una organización, en este caso una jerarquía plana con un centro de poder oculto en los mensajes privados. Segundo, los LLMs locales hacen viable analizar contenido extremadamente sensible sin exponerlo a terceros vía API. Tercero, el muestreo inteligente no es un atajo que sacrifica calidad, es una decisión de ingeniería que preserva la señal a una fracción del costo. Y por último, el ground truth es un recurso escaso: cuando lo tenemos, como en este caso, es lo que nos permite calibrar y confiar en toda la metodología que aplicamos después a casos donde no tenemos esa certeza.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0"/>
            <a:ext cx="10972800" cy="1645920"/>
          </a:xfrm>
          <a:prstGeom prst="rect">
            <a:avLst/>
          </a:prstGeom>
          <a:noFill/>
        </p:spPr>
        <p:txBody>
          <a:bodyPr wrap="square">
            <a:spAutoFit/>
          </a:bodyPr>
          <a:lstStyle/>
          <a:p>
            <a:pPr algn="l"/>
            <a:r>
              <a:rPr sz="4400" b="1">
                <a:solidFill>
                  <a:srgbClr val="FFFFFF"/>
                </a:solidFill>
                <a:latin typeface="Calibri"/>
              </a:rPr>
              <a:t>Caso IronMarch</a:t>
            </a:r>
          </a:p>
        </p:txBody>
      </p:sp>
      <p:sp>
        <p:nvSpPr>
          <p:cNvPr id="4" name="TextBox 3"/>
          <p:cNvSpPr txBox="1"/>
          <p:nvPr/>
        </p:nvSpPr>
        <p:spPr>
          <a:xfrm>
            <a:off x="548640" y="3566160"/>
            <a:ext cx="10972800" cy="914400"/>
          </a:xfrm>
          <a:prstGeom prst="rect">
            <a:avLst/>
          </a:prstGeom>
          <a:noFill/>
        </p:spPr>
        <p:txBody>
          <a:bodyPr wrap="square">
            <a:spAutoFit/>
          </a:bodyPr>
          <a:lstStyle/>
          <a:p>
            <a:pPr algn="l"/>
            <a:r>
              <a:rPr sz="2400" b="0">
                <a:solidFill>
                  <a:srgbClr val="B8C0CC"/>
                </a:solidFill>
                <a:latin typeface="Calibri"/>
              </a:rPr>
              <a:t>Análisis forense de un foro de extrema derecha (2011–2017)</a:t>
            </a:r>
          </a:p>
        </p:txBody>
      </p:sp>
      <p:sp>
        <p:nvSpPr>
          <p:cNvPr id="5" name="Rectangle 4"/>
          <p:cNvSpPr/>
          <p:nvPr/>
        </p:nvSpPr>
        <p:spPr>
          <a:xfrm>
            <a:off x="548640" y="4754880"/>
            <a:ext cx="3291840" cy="411480"/>
          </a:xfrm>
          <a:prstGeom prst="rect">
            <a:avLst/>
          </a:prstGeom>
          <a:solidFill>
            <a:srgbClr val="2A2A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73168"/>
            <a:ext cx="3200400" cy="365760"/>
          </a:xfrm>
          <a:prstGeom prst="rect">
            <a:avLst/>
          </a:prstGeom>
          <a:noFill/>
        </p:spPr>
        <p:txBody>
          <a:bodyPr wrap="square">
            <a:spAutoFit/>
          </a:bodyPr>
          <a:lstStyle/>
          <a:p>
            <a:pPr algn="l"/>
            <a:r>
              <a:rPr sz="1400" b="0">
                <a:solidFill>
                  <a:srgbClr val="606878"/>
                </a:solidFill>
                <a:latin typeface="Calibri"/>
              </a:rPr>
              <a:t>CSBC26 · Análisis de Leaks Underground</a:t>
            </a:r>
          </a:p>
        </p:txBody>
      </p:sp>
      <p:sp>
        <p:nvSpPr>
          <p:cNvPr id="7" name="Rectangle 6"/>
          <p:cNvSpPr/>
          <p:nvPr/>
        </p:nvSpPr>
        <p:spPr>
          <a:xfrm>
            <a:off x="548640" y="6309360"/>
            <a:ext cx="10515600" cy="4572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1</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Dataset y contexto</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¿Qué es Iron March y qué datos tenemos?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Iron March — ¿qué fue?</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Foro fundado en 2011 por Alexander Slavros (MOONLORD), cerrado en noviembre de 2017</a:t>
            </a:r>
          </a:p>
          <a:p>
            <a:pPr algn="l" marL="0" indent="-228600"/>
            <a:r>
              <a:rPr sz="2000" b="0">
                <a:solidFill>
                  <a:srgbClr val="B8C0CC"/>
                </a:solidFill>
                <a:latin typeface="Calibri"/>
              </a:rPr>
              <a:t>▸  Punto de encuentro del fascismo internacional online: neo-nazismo, aceleracionismo, Evola</a:t>
            </a:r>
          </a:p>
          <a:p>
            <a:pPr algn="l" marL="0" indent="-228600"/>
            <a:r>
              <a:rPr sz="2000" b="0">
                <a:solidFill>
                  <a:srgbClr val="B8C0CC"/>
                </a:solidFill>
                <a:latin typeface="Calibri"/>
              </a:rPr>
              <a:t>▸  Miembros vinculados a grupos terroristas: Atomwaffen Division, The Base, SIEGE culture</a:t>
            </a:r>
          </a:p>
          <a:p>
            <a:pPr algn="l" marL="0" indent="-228600"/>
            <a:r>
              <a:rPr sz="2000" b="0">
                <a:solidFill>
                  <a:srgbClr val="B8C0CC"/>
                </a:solidFill>
                <a:latin typeface="Calibri"/>
              </a:rPr>
              <a:t>▸  Leak: noviembre 2019 — dump SQL completo filtrado por un tercero</a:t>
            </a:r>
          </a:p>
          <a:p>
            <a:pPr algn="l" marL="0" indent="-228600"/>
            <a:r>
              <a:rPr sz="2000" b="0">
                <a:solidFill>
                  <a:srgbClr val="B8C0CC"/>
                </a:solidFill>
                <a:latin typeface="Calibri"/>
              </a:rPr>
              <a:t>▸  Ground truth disponible: fundador doxxeado, miembros identificados en causas judiciales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Estructura del dataset (IPS 4.x)</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3413760" cy="438912"/>
          </a:xfrm>
          <a:prstGeom prst="rect">
            <a:avLst/>
          </a:prstGeom>
          <a:noFill/>
        </p:spPr>
        <p:txBody>
          <a:bodyPr wrap="square">
            <a:spAutoFit/>
          </a:bodyPr>
          <a:lstStyle/>
          <a:p>
            <a:pPr algn="l"/>
            <a:r>
              <a:rPr sz="1400" b="1">
                <a:solidFill>
                  <a:srgbClr val="FFFFFF"/>
                </a:solidFill>
                <a:latin typeface="Calibri"/>
              </a:rPr>
              <a:t>Tabla</a:t>
            </a:r>
          </a:p>
        </p:txBody>
      </p:sp>
      <p:sp>
        <p:nvSpPr>
          <p:cNvPr id="6" name="TextBox 5"/>
          <p:cNvSpPr txBox="1"/>
          <p:nvPr/>
        </p:nvSpPr>
        <p:spPr>
          <a:xfrm>
            <a:off x="4099560" y="1385880"/>
            <a:ext cx="3413760" cy="438912"/>
          </a:xfrm>
          <a:prstGeom prst="rect">
            <a:avLst/>
          </a:prstGeom>
          <a:noFill/>
        </p:spPr>
        <p:txBody>
          <a:bodyPr wrap="square">
            <a:spAutoFit/>
          </a:bodyPr>
          <a:lstStyle/>
          <a:p>
            <a:pPr algn="l"/>
            <a:r>
              <a:rPr sz="1400" b="1">
                <a:solidFill>
                  <a:srgbClr val="FFFFFF"/>
                </a:solidFill>
                <a:latin typeface="Calibri"/>
              </a:rPr>
              <a:t>Registros</a:t>
            </a:r>
          </a:p>
        </p:txBody>
      </p:sp>
      <p:sp>
        <p:nvSpPr>
          <p:cNvPr id="7" name="TextBox 6"/>
          <p:cNvSpPr txBox="1"/>
          <p:nvPr/>
        </p:nvSpPr>
        <p:spPr>
          <a:xfrm>
            <a:off x="7604760" y="1385880"/>
            <a:ext cx="3413760" cy="438912"/>
          </a:xfrm>
          <a:prstGeom prst="rect">
            <a:avLst/>
          </a:prstGeom>
          <a:noFill/>
        </p:spPr>
        <p:txBody>
          <a:bodyPr wrap="square">
            <a:spAutoFit/>
          </a:bodyPr>
          <a:lstStyle/>
          <a:p>
            <a:pPr algn="l"/>
            <a:r>
              <a:rPr sz="1400" b="1">
                <a:solidFill>
                  <a:srgbClr val="FFFFFF"/>
                </a:solidFill>
                <a:latin typeface="Calibri"/>
              </a:rPr>
              <a:t>Descripción</a:t>
            </a:r>
          </a:p>
        </p:txBody>
      </p:sp>
      <p:sp>
        <p:nvSpPr>
          <p:cNvPr id="8" name="Rectangle 7"/>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14792"/>
            <a:ext cx="3413760" cy="438912"/>
          </a:xfrm>
          <a:prstGeom prst="rect">
            <a:avLst/>
          </a:prstGeom>
          <a:noFill/>
        </p:spPr>
        <p:txBody>
          <a:bodyPr wrap="square">
            <a:spAutoFit/>
          </a:bodyPr>
          <a:lstStyle/>
          <a:p>
            <a:pPr algn="l"/>
            <a:r>
              <a:rPr sz="1300" b="0">
                <a:solidFill>
                  <a:srgbClr val="B8C0CC"/>
                </a:solidFill>
                <a:latin typeface="Calibri"/>
              </a:rPr>
              <a:t>core_members</a:t>
            </a:r>
          </a:p>
        </p:txBody>
      </p:sp>
      <p:sp>
        <p:nvSpPr>
          <p:cNvPr id="10" name="TextBox 9"/>
          <p:cNvSpPr txBox="1"/>
          <p:nvPr/>
        </p:nvSpPr>
        <p:spPr>
          <a:xfrm>
            <a:off x="4099560" y="1814792"/>
            <a:ext cx="3413760" cy="438912"/>
          </a:xfrm>
          <a:prstGeom prst="rect">
            <a:avLst/>
          </a:prstGeom>
          <a:noFill/>
        </p:spPr>
        <p:txBody>
          <a:bodyPr wrap="square">
            <a:spAutoFit/>
          </a:bodyPr>
          <a:lstStyle/>
          <a:p>
            <a:pPr algn="l"/>
            <a:r>
              <a:rPr sz="1300" b="0">
                <a:solidFill>
                  <a:srgbClr val="B8C0CC"/>
                </a:solidFill>
                <a:latin typeface="Calibri"/>
              </a:rPr>
              <a:t>~18,000</a:t>
            </a:r>
          </a:p>
        </p:txBody>
      </p:sp>
      <p:sp>
        <p:nvSpPr>
          <p:cNvPr id="11" name="TextBox 10"/>
          <p:cNvSpPr txBox="1"/>
          <p:nvPr/>
        </p:nvSpPr>
        <p:spPr>
          <a:xfrm>
            <a:off x="7604760" y="1814792"/>
            <a:ext cx="3413760" cy="438912"/>
          </a:xfrm>
          <a:prstGeom prst="rect">
            <a:avLst/>
          </a:prstGeom>
          <a:noFill/>
        </p:spPr>
        <p:txBody>
          <a:bodyPr wrap="square">
            <a:spAutoFit/>
          </a:bodyPr>
          <a:lstStyle/>
          <a:p>
            <a:pPr algn="l"/>
            <a:r>
              <a:rPr sz="1300" b="0">
                <a:solidFill>
                  <a:srgbClr val="B8C0CC"/>
                </a:solidFill>
                <a:latin typeface="Calibri"/>
              </a:rPr>
              <a:t>Usuarios registrados</a:t>
            </a:r>
          </a:p>
        </p:txBody>
      </p:sp>
      <p:sp>
        <p:nvSpPr>
          <p:cNvPr id="12" name="Rectangle 11"/>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53704"/>
            <a:ext cx="3413760" cy="438912"/>
          </a:xfrm>
          <a:prstGeom prst="rect">
            <a:avLst/>
          </a:prstGeom>
          <a:noFill/>
        </p:spPr>
        <p:txBody>
          <a:bodyPr wrap="square">
            <a:spAutoFit/>
          </a:bodyPr>
          <a:lstStyle/>
          <a:p>
            <a:pPr algn="l"/>
            <a:r>
              <a:rPr sz="1300" b="0">
                <a:solidFill>
                  <a:srgbClr val="B8C0CC"/>
                </a:solidFill>
                <a:latin typeface="Calibri"/>
              </a:rPr>
              <a:t>forums_posts</a:t>
            </a:r>
          </a:p>
        </p:txBody>
      </p:sp>
      <p:sp>
        <p:nvSpPr>
          <p:cNvPr id="14" name="TextBox 13"/>
          <p:cNvSpPr txBox="1"/>
          <p:nvPr/>
        </p:nvSpPr>
        <p:spPr>
          <a:xfrm>
            <a:off x="4099560" y="2253704"/>
            <a:ext cx="3413760" cy="438912"/>
          </a:xfrm>
          <a:prstGeom prst="rect">
            <a:avLst/>
          </a:prstGeom>
          <a:noFill/>
        </p:spPr>
        <p:txBody>
          <a:bodyPr wrap="square">
            <a:spAutoFit/>
          </a:bodyPr>
          <a:lstStyle/>
          <a:p>
            <a:pPr algn="l"/>
            <a:r>
              <a:rPr sz="1300" b="0">
                <a:solidFill>
                  <a:srgbClr val="B8C0CC"/>
                </a:solidFill>
                <a:latin typeface="Calibri"/>
              </a:rPr>
              <a:t>~194,000</a:t>
            </a:r>
          </a:p>
        </p:txBody>
      </p:sp>
      <p:sp>
        <p:nvSpPr>
          <p:cNvPr id="15" name="TextBox 14"/>
          <p:cNvSpPr txBox="1"/>
          <p:nvPr/>
        </p:nvSpPr>
        <p:spPr>
          <a:xfrm>
            <a:off x="7604760" y="2253704"/>
            <a:ext cx="3413760" cy="438912"/>
          </a:xfrm>
          <a:prstGeom prst="rect">
            <a:avLst/>
          </a:prstGeom>
          <a:noFill/>
        </p:spPr>
        <p:txBody>
          <a:bodyPr wrap="square">
            <a:spAutoFit/>
          </a:bodyPr>
          <a:lstStyle/>
          <a:p>
            <a:pPr algn="l"/>
            <a:r>
              <a:rPr sz="1300" b="0">
                <a:solidFill>
                  <a:srgbClr val="B8C0CC"/>
                </a:solidFill>
                <a:latin typeface="Calibri"/>
              </a:rPr>
              <a:t>Posts públicos</a:t>
            </a:r>
          </a:p>
        </p:txBody>
      </p:sp>
      <p:sp>
        <p:nvSpPr>
          <p:cNvPr id="16" name="Rectangle 15"/>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692616"/>
            <a:ext cx="3413760" cy="438912"/>
          </a:xfrm>
          <a:prstGeom prst="rect">
            <a:avLst/>
          </a:prstGeom>
          <a:noFill/>
        </p:spPr>
        <p:txBody>
          <a:bodyPr wrap="square">
            <a:spAutoFit/>
          </a:bodyPr>
          <a:lstStyle/>
          <a:p>
            <a:pPr algn="l"/>
            <a:r>
              <a:rPr sz="1300" b="0">
                <a:solidFill>
                  <a:srgbClr val="B8C0CC"/>
                </a:solidFill>
                <a:latin typeface="Calibri"/>
              </a:rPr>
              <a:t>forums_threads</a:t>
            </a:r>
          </a:p>
        </p:txBody>
      </p:sp>
      <p:sp>
        <p:nvSpPr>
          <p:cNvPr id="18" name="TextBox 17"/>
          <p:cNvSpPr txBox="1"/>
          <p:nvPr/>
        </p:nvSpPr>
        <p:spPr>
          <a:xfrm>
            <a:off x="4099560" y="2692616"/>
            <a:ext cx="3413760" cy="438912"/>
          </a:xfrm>
          <a:prstGeom prst="rect">
            <a:avLst/>
          </a:prstGeom>
          <a:noFill/>
        </p:spPr>
        <p:txBody>
          <a:bodyPr wrap="square">
            <a:spAutoFit/>
          </a:bodyPr>
          <a:lstStyle/>
          <a:p>
            <a:pPr algn="l"/>
            <a:r>
              <a:rPr sz="1300" b="0">
                <a:solidFill>
                  <a:srgbClr val="B8C0CC"/>
                </a:solidFill>
                <a:latin typeface="Calibri"/>
              </a:rPr>
              <a:t>~14,000</a:t>
            </a:r>
          </a:p>
        </p:txBody>
      </p:sp>
      <p:sp>
        <p:nvSpPr>
          <p:cNvPr id="19" name="TextBox 18"/>
          <p:cNvSpPr txBox="1"/>
          <p:nvPr/>
        </p:nvSpPr>
        <p:spPr>
          <a:xfrm>
            <a:off x="7604760" y="2692616"/>
            <a:ext cx="3413760" cy="438912"/>
          </a:xfrm>
          <a:prstGeom prst="rect">
            <a:avLst/>
          </a:prstGeom>
          <a:noFill/>
        </p:spPr>
        <p:txBody>
          <a:bodyPr wrap="square">
            <a:spAutoFit/>
          </a:bodyPr>
          <a:lstStyle/>
          <a:p>
            <a:pPr algn="l"/>
            <a:r>
              <a:rPr sz="1300" b="0">
                <a:solidFill>
                  <a:srgbClr val="B8C0CC"/>
                </a:solidFill>
                <a:latin typeface="Calibri"/>
              </a:rPr>
              <a:t>Hilos de discusión</a:t>
            </a:r>
          </a:p>
        </p:txBody>
      </p:sp>
      <p:sp>
        <p:nvSpPr>
          <p:cNvPr id="20" name="Rectangle 19"/>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131528"/>
            <a:ext cx="3413760" cy="438912"/>
          </a:xfrm>
          <a:prstGeom prst="rect">
            <a:avLst/>
          </a:prstGeom>
          <a:noFill/>
        </p:spPr>
        <p:txBody>
          <a:bodyPr wrap="square">
            <a:spAutoFit/>
          </a:bodyPr>
          <a:lstStyle/>
          <a:p>
            <a:pPr algn="l"/>
            <a:r>
              <a:rPr sz="1300" b="0">
                <a:solidFill>
                  <a:srgbClr val="B8C0CC"/>
                </a:solidFill>
                <a:latin typeface="Calibri"/>
              </a:rPr>
              <a:t>forums_forums</a:t>
            </a:r>
          </a:p>
        </p:txBody>
      </p:sp>
      <p:sp>
        <p:nvSpPr>
          <p:cNvPr id="22" name="TextBox 21"/>
          <p:cNvSpPr txBox="1"/>
          <p:nvPr/>
        </p:nvSpPr>
        <p:spPr>
          <a:xfrm>
            <a:off x="4099560" y="3131528"/>
            <a:ext cx="3413760" cy="438912"/>
          </a:xfrm>
          <a:prstGeom prst="rect">
            <a:avLst/>
          </a:prstGeom>
          <a:noFill/>
        </p:spPr>
        <p:txBody>
          <a:bodyPr wrap="square">
            <a:spAutoFit/>
          </a:bodyPr>
          <a:lstStyle/>
          <a:p>
            <a:pPr algn="l"/>
            <a:r>
              <a:rPr sz="1300" b="0">
                <a:solidFill>
                  <a:srgbClr val="B8C0CC"/>
                </a:solidFill>
                <a:latin typeface="Calibri"/>
              </a:rPr>
              <a:t>~138</a:t>
            </a:r>
          </a:p>
        </p:txBody>
      </p:sp>
      <p:sp>
        <p:nvSpPr>
          <p:cNvPr id="23" name="TextBox 22"/>
          <p:cNvSpPr txBox="1"/>
          <p:nvPr/>
        </p:nvSpPr>
        <p:spPr>
          <a:xfrm>
            <a:off x="7604760" y="3131528"/>
            <a:ext cx="3413760" cy="438912"/>
          </a:xfrm>
          <a:prstGeom prst="rect">
            <a:avLst/>
          </a:prstGeom>
          <a:noFill/>
        </p:spPr>
        <p:txBody>
          <a:bodyPr wrap="square">
            <a:spAutoFit/>
          </a:bodyPr>
          <a:lstStyle/>
          <a:p>
            <a:pPr algn="l"/>
            <a:r>
              <a:rPr sz="1300" b="0">
                <a:solidFill>
                  <a:srgbClr val="B8C0CC"/>
                </a:solidFill>
                <a:latin typeface="Calibri"/>
              </a:rPr>
              <a:t>Subforos</a:t>
            </a:r>
          </a:p>
        </p:txBody>
      </p:sp>
      <p:sp>
        <p:nvSpPr>
          <p:cNvPr id="24" name="Rectangle 23"/>
          <p:cNvSpPr/>
          <p:nvPr/>
        </p:nvSpPr>
        <p:spPr>
          <a:xfrm>
            <a:off x="548640" y="3520440"/>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570440"/>
            <a:ext cx="3413760" cy="438912"/>
          </a:xfrm>
          <a:prstGeom prst="rect">
            <a:avLst/>
          </a:prstGeom>
          <a:noFill/>
        </p:spPr>
        <p:txBody>
          <a:bodyPr wrap="square">
            <a:spAutoFit/>
          </a:bodyPr>
          <a:lstStyle/>
          <a:p>
            <a:pPr algn="l"/>
            <a:r>
              <a:rPr sz="1300" b="0">
                <a:solidFill>
                  <a:srgbClr val="B8C0CC"/>
                </a:solidFill>
                <a:latin typeface="Calibri"/>
              </a:rPr>
              <a:t>core_message_posts</a:t>
            </a:r>
          </a:p>
        </p:txBody>
      </p:sp>
      <p:sp>
        <p:nvSpPr>
          <p:cNvPr id="26" name="TextBox 25"/>
          <p:cNvSpPr txBox="1"/>
          <p:nvPr/>
        </p:nvSpPr>
        <p:spPr>
          <a:xfrm>
            <a:off x="4099560" y="3570440"/>
            <a:ext cx="3413760" cy="438912"/>
          </a:xfrm>
          <a:prstGeom prst="rect">
            <a:avLst/>
          </a:prstGeom>
          <a:noFill/>
        </p:spPr>
        <p:txBody>
          <a:bodyPr wrap="square">
            <a:spAutoFit/>
          </a:bodyPr>
          <a:lstStyle/>
          <a:p>
            <a:pPr algn="l"/>
            <a:r>
              <a:rPr sz="1300" b="0">
                <a:solidFill>
                  <a:srgbClr val="B8C0CC"/>
                </a:solidFill>
                <a:latin typeface="Calibri"/>
              </a:rPr>
              <a:t>~55,000</a:t>
            </a:r>
          </a:p>
        </p:txBody>
      </p:sp>
      <p:sp>
        <p:nvSpPr>
          <p:cNvPr id="27" name="TextBox 26"/>
          <p:cNvSpPr txBox="1"/>
          <p:nvPr/>
        </p:nvSpPr>
        <p:spPr>
          <a:xfrm>
            <a:off x="7604760" y="3570440"/>
            <a:ext cx="3413760" cy="438912"/>
          </a:xfrm>
          <a:prstGeom prst="rect">
            <a:avLst/>
          </a:prstGeom>
          <a:noFill/>
        </p:spPr>
        <p:txBody>
          <a:bodyPr wrap="square">
            <a:spAutoFit/>
          </a:bodyPr>
          <a:lstStyle/>
          <a:p>
            <a:pPr algn="l"/>
            <a:r>
              <a:rPr sz="1300" b="0">
                <a:solidFill>
                  <a:srgbClr val="B8C0CC"/>
                </a:solidFill>
                <a:latin typeface="Calibri"/>
              </a:rPr>
              <a:t>Mensajes privados (PMs) — infrecuente en leaks</a:t>
            </a:r>
          </a:p>
        </p:txBody>
      </p:sp>
      <p:sp>
        <p:nvSpPr>
          <p:cNvPr id="28" name="TextBox 27"/>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Parser: IPS 4.x. Tablas sin prefijo. Columna discriminante: member_id en core_members.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Por qué es excepcional este dataset</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Ground truth real: podemos validar el análisis computacional contra hechos verificados</a:t>
            </a:r>
          </a:p>
          <a:p>
            <a:pPr lvl="1" algn="l" marL="274320" indent="-228600"/>
            <a:r>
              <a:rPr sz="1700" b="0">
                <a:solidFill>
                  <a:srgbClr val="606878"/>
                </a:solidFill>
                <a:latin typeface="Calibri"/>
              </a:rPr>
              <a:t>·  MOONLORD = Alexander Slavros: doxxeado, fundador confirmado, IP rusa</a:t>
            </a:r>
          </a:p>
          <a:p>
            <a:pPr lvl="1" algn="l" marL="274320" indent="-228600"/>
            <a:r>
              <a:rPr sz="1700" b="0">
                <a:solidFill>
                  <a:srgbClr val="606878"/>
                </a:solidFill>
                <a:latin typeface="Calibri"/>
              </a:rPr>
              <a:t>·  Usuario 255 (userid=0): cuenta admin con 53% del betweenness en PMs</a:t>
            </a:r>
          </a:p>
          <a:p>
            <a:pPr lvl="1" algn="l" marL="274320" indent="-228600"/>
            <a:r>
              <a:rPr sz="1700" b="0">
                <a:solidFill>
                  <a:srgbClr val="606878"/>
                </a:solidFill>
                <a:latin typeface="Calibri"/>
              </a:rPr>
              <a:t>·  Miembros identificados en casos judiciales en EEUU, Europa y Australia</a:t>
            </a:r>
          </a:p>
          <a:p>
            <a:pPr algn="l" marL="0" indent="-228600"/>
            <a:r>
              <a:rPr sz="2000" b="0">
                <a:solidFill>
                  <a:srgbClr val="B8C0CC"/>
                </a:solidFill>
                <a:latin typeface="Calibri"/>
              </a:rPr>
              <a:t>▸  Dato infrecuente: 55K mensajes privados intactos → red de influencia oculta</a:t>
            </a:r>
          </a:p>
          <a:p>
            <a:pPr algn="l" marL="0" indent="-228600"/>
            <a:r>
              <a:rPr sz="2000" b="0">
                <a:solidFill>
                  <a:srgbClr val="B8C0CC"/>
                </a:solidFill>
                <a:latin typeface="Calibri"/>
              </a:rPr>
              <a:t>▸  Cierre documentado: el servidor fue confiscado, no abandonado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2</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Exploración y red de influencia</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Notebook 00 + estructura de 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EDA — primeras métricas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836 usuarios activos (≥5 posts) sobre ~18K registros → foro pequeño y denso</a:t>
            </a:r>
          </a:p>
          <a:p>
            <a:pPr algn="l" marL="0" indent="-228600"/>
            <a:r>
              <a:rPr sz="2000" b="0">
                <a:solidFill>
                  <a:srgbClr val="B8C0CC"/>
                </a:solidFill>
                <a:latin typeface="Calibri"/>
              </a:rPr>
              <a:t>▸  157,779 posts válidos tras limpieza: media de 189 posts/usuario activo</a:t>
            </a:r>
          </a:p>
          <a:p>
            <a:pPr algn="l" marL="0" indent="-228600"/>
            <a:r>
              <a:rPr sz="2000" b="0">
                <a:solidFill>
                  <a:srgbClr val="B8C0CC"/>
                </a:solidFill>
                <a:latin typeface="Calibri"/>
              </a:rPr>
              <a:t>▸  Actividad: 2011–2017. Pico en 2015 (atentados de París) → +62% baseline</a:t>
            </a:r>
          </a:p>
          <a:p>
            <a:pPr algn="l" marL="0" indent="-228600"/>
            <a:r>
              <a:rPr sz="2000" b="0">
                <a:solidFill>
                  <a:srgbClr val="B8C0CC"/>
                </a:solidFill>
                <a:latin typeface="Calibri"/>
              </a:rPr>
              <a:t>▸  138 subforos activos, pero concentración alta: top-5 generan el 60% del tráfico</a:t>
            </a:r>
          </a:p>
          <a:p>
            <a:pPr algn="l" marL="0" indent="-228600"/>
            <a:r>
              <a:rPr sz="2000" b="0">
                <a:solidFill>
                  <a:srgbClr val="B8C0CC"/>
                </a:solidFill>
                <a:latin typeface="Calibri"/>
              </a:rPr>
              <a:t>▸  Idioma: inglés (verificado por detección automática) → pipeline estándar válido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Dos redes, dos capas de influencia</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Red pública (co-participación en threads)</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836 nodos, 100% en componente gigante</a:t>
            </a:r>
          </a:p>
          <a:p>
            <a:r>
              <a:rPr sz="1800">
                <a:solidFill>
                  <a:srgbClr val="B8C0CC"/>
                </a:solidFill>
                <a:latin typeface="Calibri"/>
              </a:rPr>
              <a:t>▸  Broker principal: MOONLORD (Slavros)</a:t>
            </a:r>
          </a:p>
          <a:p>
            <a:r>
              <a:rPr sz="1800">
                <a:solidFill>
                  <a:srgbClr val="B8C0CC"/>
                </a:solidFill>
                <a:latin typeface="Calibri"/>
              </a:rPr>
              <a:t>▸  Estructura de hub-and-spoke: el fundador conecta grupos ideológicos</a:t>
            </a:r>
          </a:p>
          <a:p>
            <a:r>
              <a:rPr sz="1800">
                <a:solidFill>
                  <a:srgbClr val="B8C0CC"/>
                </a:solidFill>
                <a:latin typeface="Calibri"/>
              </a:rPr>
              <a:t>▸  Hilos filosóficos (Evola, Spengler) concentran el betweenness</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Red privada (mensajes privados)</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55K PMs — dato rarísimo en leaks de foros</a:t>
            </a:r>
          </a:p>
          <a:p>
            <a:r>
              <a:rPr sz="1800">
                <a:solidFill>
                  <a:srgbClr val="B8C0CC"/>
                </a:solidFill>
                <a:latin typeface="Calibri"/>
              </a:rPr>
              <a:t>▸  Broker principal: usuario 255 (userid=0, admin)</a:t>
            </a:r>
          </a:p>
          <a:p>
            <a:r>
              <a:rPr sz="1800">
                <a:solidFill>
                  <a:srgbClr val="B8C0CC"/>
                </a:solidFill>
                <a:latin typeface="Calibri"/>
              </a:rPr>
              <a:t>▸  53% del betweenness en la red privada</a:t>
            </a:r>
          </a:p>
          <a:p>
            <a:r>
              <a:rPr sz="1800">
                <a:solidFill>
                  <a:srgbClr val="B8C0CC"/>
                </a:solidFill>
                <a:latin typeface="Calibri"/>
              </a:rPr>
              <a:t>▸  Los brokers públicos y privados NO coinciden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Detección de idioma — paso obligatorio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Burrows' Delta, NER y BERTopic son idioma-específicos</a:t>
            </a:r>
          </a:p>
          <a:p>
            <a:pPr algn="l" marL="0" indent="-228600"/>
            <a:r>
              <a:rPr sz="2000" b="0">
                <a:solidFill>
                  <a:srgbClr val="B8C0CC"/>
                </a:solidFill>
                <a:latin typeface="Calibri"/>
              </a:rPr>
              <a:t>▸  Sin verificación previa, aplicar el pipeline inglés a texto ruso produce ruido</a:t>
            </a:r>
          </a:p>
          <a:p>
            <a:pPr algn="l" marL="0" indent="-228600"/>
            <a:r>
              <a:rPr sz="2000" b="0">
                <a:solidFill>
                  <a:srgbClr val="B8C0CC"/>
                </a:solidFill>
                <a:latin typeface="Calibri"/>
              </a:rPr>
              <a:t>▸  Resultado IronMarch: &gt;95% inglés → pipeline estándar válido</a:t>
            </a:r>
          </a:p>
          <a:p>
            <a:pPr algn="l" marL="0" indent="-228600"/>
            <a:r>
              <a:rPr sz="2000" b="0">
                <a:solidFill>
                  <a:srgbClr val="B8C0CC"/>
                </a:solidFill>
                <a:latin typeface="Calibri"/>
              </a:rPr>
              <a:t>▸  La misma metodología aplicada a un foro en ruso requeriría un pipeline distinto</a:t>
            </a:r>
          </a:p>
          <a:p>
            <a:pPr algn="l" marL="0" indent="-228600"/>
            <a:r>
              <a:rPr sz="2000" b="0">
                <a:solidFill>
                  <a:srgbClr val="B8C0CC"/>
                </a:solidFill>
                <a:latin typeface="Calibri"/>
              </a:rPr>
              <a:t>▸  Regla general: detectar idioma ANTES de cualquier modelo NLP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red de co-participación</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IronMarch/00_extract_and_explore.ipynb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Abrir notebook 00_extract_and_explore</a:t>
            </a:r>
          </a:p>
          <a:p>
            <a:r>
              <a:rPr sz="1900">
                <a:solidFill>
                  <a:srgbClr val="B8C0CC"/>
                </a:solidFill>
                <a:latin typeface="Calibri"/>
              </a:rPr>
              <a:t>2.  Ejecutar sección 3: grafo usuario↔usuario por threads compartidos</a:t>
            </a:r>
          </a:p>
          <a:p>
            <a:r>
              <a:rPr sz="1900">
                <a:solidFill>
                  <a:srgbClr val="B8C0CC"/>
                </a:solidFill>
                <a:latin typeface="Calibri"/>
              </a:rPr>
              <a:t>3.  Visualización Plotly interactiva: top-150 nodos por degree</a:t>
            </a:r>
          </a:p>
          <a:p>
            <a:r>
              <a:rPr sz="1900">
                <a:solidFill>
                  <a:srgbClr val="B8C0CC"/>
                </a:solidFill>
                <a:latin typeface="Calibri"/>
              </a:rPr>
              <a:t>4.  Comparar con sección 4: red de PMs — ¿los mismos brokers?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3</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Análisis con LLM local</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BERTopic + NER con qwen2.5:14b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BERTopic — descubrimiento de temas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Objetivo: ¿de qué habla el foro sin imponer categorías a priori?</a:t>
            </a:r>
          </a:p>
          <a:p>
            <a:pPr algn="l" marL="0" indent="-228600"/>
            <a:r>
              <a:rPr sz="2000" b="0">
                <a:solidFill>
                  <a:srgbClr val="B8C0CC"/>
                </a:solidFill>
                <a:latin typeface="Calibri"/>
              </a:rPr>
              <a:t>▸  Validación cruzada: comparar topics automáticos vs. subforos reales</a:t>
            </a:r>
          </a:p>
          <a:p>
            <a:pPr algn="l" marL="0" indent="-228600"/>
            <a:r>
              <a:rPr sz="2000" b="0">
                <a:solidFill>
                  <a:srgbClr val="B8C0CC"/>
                </a:solidFill>
                <a:latin typeface="Calibri"/>
              </a:rPr>
              <a:t>▸  Top topics: racismo científico, estética fascista, Evola/Spengler, violencia política</a:t>
            </a:r>
          </a:p>
          <a:p>
            <a:pPr algn="l" marL="0" indent="-228600"/>
            <a:r>
              <a:rPr sz="2000" b="0">
                <a:solidFill>
                  <a:srgbClr val="B8C0CC"/>
                </a:solidFill>
                <a:latin typeface="Calibri"/>
              </a:rPr>
              <a:t>▸  Hallazgo: topics no respetan fronteras de subforos — ideología permea todo el foro</a:t>
            </a:r>
          </a:p>
          <a:p>
            <a:pPr algn="l" marL="0" indent="-228600"/>
            <a:r>
              <a:rPr sz="2000" b="0">
                <a:solidFill>
                  <a:srgbClr val="B8C0CC"/>
                </a:solidFill>
                <a:latin typeface="Calibri"/>
              </a:rPr>
              <a:t>▸  Modelo: sentence-transformers + UMAP + HDBSCAN (sin LLM, rápido y reproducible)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NER con qwen2.5:14b — entidades clave</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Estrategia: top-50 usuarios por volumen, hasta 50 posts por usuario</a:t>
            </a:r>
          </a:p>
          <a:p>
            <a:pPr algn="l" marL="0" indent="-228600"/>
            <a:r>
              <a:rPr sz="2000" b="0">
                <a:solidFill>
                  <a:srgbClr val="B8C0CC"/>
                </a:solidFill>
                <a:latin typeface="Calibri"/>
              </a:rPr>
              <a:t>▸  Tipos de entidad: PERSON, ORG, LOCATION, IDEOLOGY, WEAPON, EVENT</a:t>
            </a:r>
          </a:p>
          <a:p>
            <a:pPr algn="l" marL="0" indent="-228600"/>
            <a:r>
              <a:rPr sz="2000" b="0">
                <a:solidFill>
                  <a:srgbClr val="B8C0CC"/>
                </a:solidFill>
                <a:latin typeface="Calibri"/>
              </a:rPr>
              <a:t>▸  2,515 entidades extraídas en 1,500 posts</a:t>
            </a:r>
          </a:p>
          <a:p>
            <a:pPr lvl="1" algn="l" marL="274320" indent="-228600"/>
            <a:r>
              <a:rPr sz="1700" b="0">
                <a:solidFill>
                  <a:srgbClr val="606878"/>
                </a:solidFill>
                <a:latin typeface="Calibri"/>
              </a:rPr>
              <a:t>·  Hitler: ×28  |  Evola: ×15  |  Golden Dawn: ×10</a:t>
            </a:r>
          </a:p>
          <a:p>
            <a:pPr lvl="1" algn="l" marL="274320" indent="-228600"/>
            <a:r>
              <a:rPr sz="1700" b="0">
                <a:solidFill>
                  <a:srgbClr val="606878"/>
                </a:solidFill>
                <a:latin typeface="Calibri"/>
              </a:rPr>
              <a:t>·  Atomwaffen Division mencionada 3 años antes de su clasificación como terrorista</a:t>
            </a:r>
          </a:p>
          <a:p>
            <a:pPr algn="l" marL="0" indent="-228600"/>
            <a:r>
              <a:rPr sz="2000" b="0">
                <a:solidFill>
                  <a:srgbClr val="B8C0CC"/>
                </a:solidFill>
                <a:latin typeface="Calibri"/>
              </a:rPr>
              <a:t>▸  Presencia de Evola casi al nivel de Hitler: rasgo distintivo vs. otros foros de ultraderecha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Picos de actividad — análisis temporal + topics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Método: z-score semanal sobre serie temporal de posts (umbral: µ + 2σ)</a:t>
            </a:r>
          </a:p>
          <a:p>
            <a:pPr algn="l" marL="0" indent="-228600"/>
            <a:r>
              <a:rPr sz="2000" b="0">
                <a:solidFill>
                  <a:srgbClr val="B8C0CC"/>
                </a:solidFill>
                <a:latin typeface="Calibri"/>
              </a:rPr>
              <a:t>▸  Índice compuesto: volumen × longitud × señales de arousal (CAPS, !)</a:t>
            </a:r>
          </a:p>
          <a:p>
            <a:pPr algn="l" marL="0" indent="-228600"/>
            <a:r>
              <a:rPr sz="2000" b="0">
                <a:solidFill>
                  <a:srgbClr val="B8C0CC"/>
                </a:solidFill>
                <a:latin typeface="Calibri"/>
              </a:rPr>
              <a:t>▸  Atentados de París (nov 2015): ×1.62 baseline → único spike estadístico confirmado</a:t>
            </a:r>
          </a:p>
          <a:p>
            <a:pPr lvl="1" algn="l" marL="274320" indent="-228600"/>
            <a:r>
              <a:rPr sz="1700" b="0">
                <a:solidFill>
                  <a:srgbClr val="606878"/>
                </a:solidFill>
                <a:latin typeface="Calibri"/>
              </a:rPr>
              <a:t>·  Reacción: islamofóbica, no racista — 'paris' ×22, 'refugee' ×16, 'white' baja</a:t>
            </a:r>
          </a:p>
          <a:p>
            <a:pPr algn="l" marL="0" indent="-228600"/>
            <a:r>
              <a:rPr sz="2000" b="0">
                <a:solidFill>
                  <a:srgbClr val="B8C0CC"/>
                </a:solidFill>
                <a:latin typeface="Calibri"/>
              </a:rPr>
              <a:t>▸  Trump 2016: ×1.03 — sin spike. Charlottesville 2017: ×0.96 — el foro ya estaba en declive</a:t>
            </a:r>
          </a:p>
          <a:p>
            <a:pPr algn="l" marL="0" indent="-228600"/>
            <a:r>
              <a:rPr sz="2000" b="0">
                <a:solidFill>
                  <a:srgbClr val="B8C0CC"/>
                </a:solidFill>
                <a:latin typeface="Calibri"/>
              </a:rPr>
              <a:t>▸  Conclusión: la comunidad usó el atentado como munición narrativa anti-inmigración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NER y picos de actividad</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IronMarch/02_llm_analysis.ipynb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Abrir notebook 02_llm_analysis</a:t>
            </a:r>
          </a:p>
          <a:p>
            <a:r>
              <a:rPr sz="1900">
                <a:solidFill>
                  <a:srgbClr val="B8C0CC"/>
                </a:solidFill>
                <a:latin typeface="Calibri"/>
              </a:rPr>
              <a:t>2.  Sección 2: ejecutar NER sobre top-50 usuarios (checkpoint automático)</a:t>
            </a:r>
          </a:p>
          <a:p>
            <a:r>
              <a:rPr sz="1900">
                <a:solidFill>
                  <a:srgbClr val="B8C0CC"/>
                </a:solidFill>
                <a:latin typeface="Calibri"/>
              </a:rPr>
              <a:t>3.  Sección 3: visualizar picos temporales con z-score</a:t>
            </a:r>
          </a:p>
          <a:p>
            <a:r>
              <a:rPr sz="1900">
                <a:solidFill>
                  <a:srgbClr val="B8C0CC"/>
                </a:solidFill>
                <a:latin typeface="Calibri"/>
              </a:rPr>
              <a:t>4.  Cruzar: ¿qué usuarios están más activos en los picos?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4</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Embeddings y estilometría</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qwen3-embedding + Burrows' Delta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Cinco estrategias de embedding por usuario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Pregunta: ¿cuántos posts necesitamos para representar bien a un usuario?</a:t>
            </a:r>
          </a:p>
          <a:p>
            <a:pPr algn="l" marL="0" indent="-228600"/>
            <a:r>
              <a:rPr sz="2000" b="0">
                <a:solidFill>
                  <a:srgbClr val="B8C0CC"/>
                </a:solidFill>
                <a:latin typeface="Calibri"/>
              </a:rPr>
              <a:t>▸  A — embed_users: concatenar TODOS los posts → 1 vector (truncado a 50K chars)</a:t>
            </a:r>
          </a:p>
          <a:p>
            <a:pPr algn="l" marL="0" indent="-228600"/>
            <a:r>
              <a:rPr sz="2000" b="0">
                <a:solidFill>
                  <a:srgbClr val="B8C0CC"/>
                </a:solidFill>
                <a:latin typeface="Calibri"/>
              </a:rPr>
              <a:t>▸  B — centroids full: 1 embedding por post, promedio → referencia (ground truth)</a:t>
            </a:r>
          </a:p>
          <a:p>
            <a:pPr algn="l" marL="0" indent="-228600"/>
            <a:r>
              <a:rPr sz="2000" b="0">
                <a:solidFill>
                  <a:srgbClr val="B8C0CC"/>
                </a:solidFill>
                <a:latin typeface="Calibri"/>
              </a:rPr>
              <a:t>▸  C/D/E — centroids muestreados: top-50/100/150 posts MÁS LARGOS por usuario</a:t>
            </a:r>
          </a:p>
          <a:p>
            <a:pPr algn="l" marL="0" indent="-228600"/>
            <a:r>
              <a:rPr sz="2000" b="0">
                <a:solidFill>
                  <a:srgbClr val="B8C0CC"/>
                </a:solidFill>
                <a:latin typeface="Calibri"/>
              </a:rPr>
              <a:t>▸  Métrica: Spearman ρ entre ranking de similitudes de cada estrategia vs. B</a:t>
            </a:r>
          </a:p>
          <a:p>
            <a:pPr algn="l" marL="0" indent="-228600"/>
            <a:r>
              <a:rPr sz="2000" b="0">
                <a:solidFill>
                  <a:srgbClr val="B8C0CC"/>
                </a:solidFill>
                <a:latin typeface="Calibri"/>
              </a:rPr>
              <a:t>▸  Punto óptimo: D (top-100) → ρ=0.860, 3h 33min vs. ~9h completo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Resultados del experimento de muestreo</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2011680" cy="438912"/>
          </a:xfrm>
          <a:prstGeom prst="rect">
            <a:avLst/>
          </a:prstGeom>
          <a:noFill/>
        </p:spPr>
        <p:txBody>
          <a:bodyPr wrap="square">
            <a:spAutoFit/>
          </a:bodyPr>
          <a:lstStyle/>
          <a:p>
            <a:pPr algn="l"/>
            <a:r>
              <a:rPr sz="1400" b="1">
                <a:solidFill>
                  <a:srgbClr val="FFFFFF"/>
                </a:solidFill>
                <a:latin typeface="Calibri"/>
              </a:rPr>
              <a:t>Estrategia</a:t>
            </a:r>
          </a:p>
        </p:txBody>
      </p:sp>
      <p:sp>
        <p:nvSpPr>
          <p:cNvPr id="6" name="TextBox 5"/>
          <p:cNvSpPr txBox="1"/>
          <p:nvPr/>
        </p:nvSpPr>
        <p:spPr>
          <a:xfrm>
            <a:off x="2697480" y="1385880"/>
            <a:ext cx="2011680" cy="438912"/>
          </a:xfrm>
          <a:prstGeom prst="rect">
            <a:avLst/>
          </a:prstGeom>
          <a:noFill/>
        </p:spPr>
        <p:txBody>
          <a:bodyPr wrap="square">
            <a:spAutoFit/>
          </a:bodyPr>
          <a:lstStyle/>
          <a:p>
            <a:pPr algn="l"/>
            <a:r>
              <a:rPr sz="1400" b="1">
                <a:solidFill>
                  <a:srgbClr val="FFFFFF"/>
                </a:solidFill>
                <a:latin typeface="Calibri"/>
              </a:rPr>
              <a:t>Posts</a:t>
            </a:r>
          </a:p>
        </p:txBody>
      </p:sp>
      <p:sp>
        <p:nvSpPr>
          <p:cNvPr id="7" name="TextBox 6"/>
          <p:cNvSpPr txBox="1"/>
          <p:nvPr/>
        </p:nvSpPr>
        <p:spPr>
          <a:xfrm>
            <a:off x="4800600" y="1385880"/>
            <a:ext cx="2011680" cy="438912"/>
          </a:xfrm>
          <a:prstGeom prst="rect">
            <a:avLst/>
          </a:prstGeom>
          <a:noFill/>
        </p:spPr>
        <p:txBody>
          <a:bodyPr wrap="square">
            <a:spAutoFit/>
          </a:bodyPr>
          <a:lstStyle/>
          <a:p>
            <a:pPr algn="l"/>
            <a:r>
              <a:rPr sz="1400" b="1">
                <a:solidFill>
                  <a:srgbClr val="FFFFFF"/>
                </a:solidFill>
                <a:latin typeface="Calibri"/>
              </a:rPr>
              <a:t>Tiempo GPU</a:t>
            </a:r>
          </a:p>
        </p:txBody>
      </p:sp>
      <p:sp>
        <p:nvSpPr>
          <p:cNvPr id="8" name="TextBox 7"/>
          <p:cNvSpPr txBox="1"/>
          <p:nvPr/>
        </p:nvSpPr>
        <p:spPr>
          <a:xfrm>
            <a:off x="6903720" y="1385880"/>
            <a:ext cx="2011680" cy="438912"/>
          </a:xfrm>
          <a:prstGeom prst="rect">
            <a:avLst/>
          </a:prstGeom>
          <a:noFill/>
        </p:spPr>
        <p:txBody>
          <a:bodyPr wrap="square">
            <a:spAutoFit/>
          </a:bodyPr>
          <a:lstStyle/>
          <a:p>
            <a:pPr algn="l"/>
            <a:r>
              <a:rPr sz="1400" b="1">
                <a:solidFill>
                  <a:srgbClr val="FFFFFF"/>
                </a:solidFill>
                <a:latin typeface="Calibri"/>
              </a:rPr>
              <a:t>Spearman ρ vs full</a:t>
            </a:r>
          </a:p>
        </p:txBody>
      </p:sp>
      <p:sp>
        <p:nvSpPr>
          <p:cNvPr id="9" name="TextBox 8"/>
          <p:cNvSpPr txBox="1"/>
          <p:nvPr/>
        </p:nvSpPr>
        <p:spPr>
          <a:xfrm>
            <a:off x="9006840" y="1385880"/>
            <a:ext cx="2011680" cy="438912"/>
          </a:xfrm>
          <a:prstGeom prst="rect">
            <a:avLst/>
          </a:prstGeom>
          <a:noFill/>
        </p:spPr>
        <p:txBody>
          <a:bodyPr wrap="square">
            <a:spAutoFit/>
          </a:bodyPr>
          <a:lstStyle/>
          <a:p>
            <a:pPr algn="l"/>
            <a:r>
              <a:rPr sz="1400" b="1">
                <a:solidFill>
                  <a:srgbClr val="FFFFFF"/>
                </a:solidFill>
                <a:latin typeface="Calibri"/>
              </a:rPr>
              <a:t>Δρ</a:t>
            </a:r>
          </a:p>
        </p:txBody>
      </p:sp>
      <p:sp>
        <p:nvSpPr>
          <p:cNvPr id="10" name="Rectangle 9"/>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814792"/>
            <a:ext cx="2011680" cy="438912"/>
          </a:xfrm>
          <a:prstGeom prst="rect">
            <a:avLst/>
          </a:prstGeom>
          <a:noFill/>
        </p:spPr>
        <p:txBody>
          <a:bodyPr wrap="square">
            <a:spAutoFit/>
          </a:bodyPr>
          <a:lstStyle/>
          <a:p>
            <a:pPr algn="l"/>
            <a:r>
              <a:rPr sz="1300" b="0">
                <a:solidFill>
                  <a:srgbClr val="B8C0CC"/>
                </a:solidFill>
                <a:latin typeface="Calibri"/>
              </a:rPr>
              <a:t>B — full</a:t>
            </a:r>
          </a:p>
        </p:txBody>
      </p:sp>
      <p:sp>
        <p:nvSpPr>
          <p:cNvPr id="12" name="TextBox 11"/>
          <p:cNvSpPr txBox="1"/>
          <p:nvPr/>
        </p:nvSpPr>
        <p:spPr>
          <a:xfrm>
            <a:off x="2697480" y="1814792"/>
            <a:ext cx="2011680" cy="438912"/>
          </a:xfrm>
          <a:prstGeom prst="rect">
            <a:avLst/>
          </a:prstGeom>
          <a:noFill/>
        </p:spPr>
        <p:txBody>
          <a:bodyPr wrap="square">
            <a:spAutoFit/>
          </a:bodyPr>
          <a:lstStyle/>
          <a:p>
            <a:pPr algn="l"/>
            <a:r>
              <a:rPr sz="1300" b="0">
                <a:solidFill>
                  <a:srgbClr val="B8C0CC"/>
                </a:solidFill>
                <a:latin typeface="Calibri"/>
              </a:rPr>
              <a:t>157,779</a:t>
            </a:r>
          </a:p>
        </p:txBody>
      </p:sp>
      <p:sp>
        <p:nvSpPr>
          <p:cNvPr id="13" name="TextBox 12"/>
          <p:cNvSpPr txBox="1"/>
          <p:nvPr/>
        </p:nvSpPr>
        <p:spPr>
          <a:xfrm>
            <a:off x="4800600" y="1814792"/>
            <a:ext cx="2011680" cy="438912"/>
          </a:xfrm>
          <a:prstGeom prst="rect">
            <a:avLst/>
          </a:prstGeom>
          <a:noFill/>
        </p:spPr>
        <p:txBody>
          <a:bodyPr wrap="square">
            <a:spAutoFit/>
          </a:bodyPr>
          <a:lstStyle/>
          <a:p>
            <a:pPr algn="l"/>
            <a:r>
              <a:rPr sz="1300" b="0">
                <a:solidFill>
                  <a:srgbClr val="B8C0CC"/>
                </a:solidFill>
                <a:latin typeface="Calibri"/>
              </a:rPr>
              <a:t>~9 h</a:t>
            </a:r>
          </a:p>
        </p:txBody>
      </p:sp>
      <p:sp>
        <p:nvSpPr>
          <p:cNvPr id="14" name="TextBox 13"/>
          <p:cNvSpPr txBox="1"/>
          <p:nvPr/>
        </p:nvSpPr>
        <p:spPr>
          <a:xfrm>
            <a:off x="6903720" y="1814792"/>
            <a:ext cx="2011680" cy="438912"/>
          </a:xfrm>
          <a:prstGeom prst="rect">
            <a:avLst/>
          </a:prstGeom>
          <a:noFill/>
        </p:spPr>
        <p:txBody>
          <a:bodyPr wrap="square">
            <a:spAutoFit/>
          </a:bodyPr>
          <a:lstStyle/>
          <a:p>
            <a:pPr algn="l"/>
            <a:r>
              <a:rPr sz="1300" b="0">
                <a:solidFill>
                  <a:srgbClr val="B8C0CC"/>
                </a:solidFill>
                <a:latin typeface="Calibri"/>
              </a:rPr>
              <a:t>referencia</a:t>
            </a:r>
          </a:p>
        </p:txBody>
      </p:sp>
      <p:sp>
        <p:nvSpPr>
          <p:cNvPr id="15" name="TextBox 14"/>
          <p:cNvSpPr txBox="1"/>
          <p:nvPr/>
        </p:nvSpPr>
        <p:spPr>
          <a:xfrm>
            <a:off x="9006840" y="1814792"/>
            <a:ext cx="2011680" cy="438912"/>
          </a:xfrm>
          <a:prstGeom prst="rect">
            <a:avLst/>
          </a:prstGeom>
          <a:noFill/>
        </p:spPr>
        <p:txBody>
          <a:bodyPr wrap="square">
            <a:spAutoFit/>
          </a:bodyPr>
          <a:lstStyle/>
          <a:p>
            <a:pPr algn="l"/>
            <a:r>
              <a:rPr sz="1300" b="0">
                <a:solidFill>
                  <a:srgbClr val="B8C0CC"/>
                </a:solidFill>
                <a:latin typeface="Calibri"/>
              </a:rPr>
              <a:t>—</a:t>
            </a:r>
          </a:p>
        </p:txBody>
      </p:sp>
      <p:sp>
        <p:nvSpPr>
          <p:cNvPr id="16" name="Rectangle 15"/>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253704"/>
            <a:ext cx="2011680" cy="438912"/>
          </a:xfrm>
          <a:prstGeom prst="rect">
            <a:avLst/>
          </a:prstGeom>
          <a:noFill/>
        </p:spPr>
        <p:txBody>
          <a:bodyPr wrap="square">
            <a:spAutoFit/>
          </a:bodyPr>
          <a:lstStyle/>
          <a:p>
            <a:pPr algn="l"/>
            <a:r>
              <a:rPr sz="1300" b="0">
                <a:solidFill>
                  <a:srgbClr val="B8C0CC"/>
                </a:solidFill>
                <a:latin typeface="Calibri"/>
              </a:rPr>
              <a:t>C — top-50</a:t>
            </a:r>
          </a:p>
        </p:txBody>
      </p:sp>
      <p:sp>
        <p:nvSpPr>
          <p:cNvPr id="18" name="TextBox 17"/>
          <p:cNvSpPr txBox="1"/>
          <p:nvPr/>
        </p:nvSpPr>
        <p:spPr>
          <a:xfrm>
            <a:off x="2697480" y="2253704"/>
            <a:ext cx="2011680" cy="438912"/>
          </a:xfrm>
          <a:prstGeom prst="rect">
            <a:avLst/>
          </a:prstGeom>
          <a:noFill/>
        </p:spPr>
        <p:txBody>
          <a:bodyPr wrap="square">
            <a:spAutoFit/>
          </a:bodyPr>
          <a:lstStyle/>
          <a:p>
            <a:pPr algn="l"/>
            <a:r>
              <a:rPr sz="1300" b="0">
                <a:solidFill>
                  <a:srgbClr val="B8C0CC"/>
                </a:solidFill>
                <a:latin typeface="Calibri"/>
              </a:rPr>
              <a:t>≤41,800</a:t>
            </a:r>
          </a:p>
        </p:txBody>
      </p:sp>
      <p:sp>
        <p:nvSpPr>
          <p:cNvPr id="19" name="TextBox 18"/>
          <p:cNvSpPr txBox="1"/>
          <p:nvPr/>
        </p:nvSpPr>
        <p:spPr>
          <a:xfrm>
            <a:off x="4800600" y="2253704"/>
            <a:ext cx="2011680" cy="438912"/>
          </a:xfrm>
          <a:prstGeom prst="rect">
            <a:avLst/>
          </a:prstGeom>
          <a:noFill/>
        </p:spPr>
        <p:txBody>
          <a:bodyPr wrap="square">
            <a:spAutoFit/>
          </a:bodyPr>
          <a:lstStyle/>
          <a:p>
            <a:pPr algn="l"/>
            <a:r>
              <a:rPr sz="1300" b="0">
                <a:solidFill>
                  <a:srgbClr val="B8C0CC"/>
                </a:solidFill>
                <a:latin typeface="Calibri"/>
              </a:rPr>
              <a:t>2h 35min</a:t>
            </a:r>
          </a:p>
        </p:txBody>
      </p:sp>
      <p:sp>
        <p:nvSpPr>
          <p:cNvPr id="20" name="TextBox 19"/>
          <p:cNvSpPr txBox="1"/>
          <p:nvPr/>
        </p:nvSpPr>
        <p:spPr>
          <a:xfrm>
            <a:off x="6903720" y="2253704"/>
            <a:ext cx="2011680" cy="438912"/>
          </a:xfrm>
          <a:prstGeom prst="rect">
            <a:avLst/>
          </a:prstGeom>
          <a:noFill/>
        </p:spPr>
        <p:txBody>
          <a:bodyPr wrap="square">
            <a:spAutoFit/>
          </a:bodyPr>
          <a:lstStyle/>
          <a:p>
            <a:pPr algn="l"/>
            <a:r>
              <a:rPr sz="1300" b="0">
                <a:solidFill>
                  <a:srgbClr val="B8C0CC"/>
                </a:solidFill>
                <a:latin typeface="Calibri"/>
              </a:rPr>
              <a:t>0.799</a:t>
            </a:r>
          </a:p>
        </p:txBody>
      </p:sp>
      <p:sp>
        <p:nvSpPr>
          <p:cNvPr id="21" name="TextBox 20"/>
          <p:cNvSpPr txBox="1"/>
          <p:nvPr/>
        </p:nvSpPr>
        <p:spPr>
          <a:xfrm>
            <a:off x="9006840" y="2253704"/>
            <a:ext cx="2011680" cy="438912"/>
          </a:xfrm>
          <a:prstGeom prst="rect">
            <a:avLst/>
          </a:prstGeom>
          <a:noFill/>
        </p:spPr>
        <p:txBody>
          <a:bodyPr wrap="square">
            <a:spAutoFit/>
          </a:bodyPr>
          <a:lstStyle/>
          <a:p>
            <a:pPr algn="l"/>
            <a:r>
              <a:rPr sz="1300" b="0">
                <a:solidFill>
                  <a:srgbClr val="B8C0CC"/>
                </a:solidFill>
                <a:latin typeface="Calibri"/>
              </a:rPr>
              <a:t>—</a:t>
            </a:r>
          </a:p>
        </p:txBody>
      </p:sp>
      <p:sp>
        <p:nvSpPr>
          <p:cNvPr id="22" name="Rectangle 21"/>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2692616"/>
            <a:ext cx="2011680" cy="438912"/>
          </a:xfrm>
          <a:prstGeom prst="rect">
            <a:avLst/>
          </a:prstGeom>
          <a:noFill/>
        </p:spPr>
        <p:txBody>
          <a:bodyPr wrap="square">
            <a:spAutoFit/>
          </a:bodyPr>
          <a:lstStyle/>
          <a:p>
            <a:pPr algn="l"/>
            <a:r>
              <a:rPr sz="1300" b="0">
                <a:solidFill>
                  <a:srgbClr val="B8C0CC"/>
                </a:solidFill>
                <a:latin typeface="Calibri"/>
              </a:rPr>
              <a:t>D — top-100</a:t>
            </a:r>
          </a:p>
        </p:txBody>
      </p:sp>
      <p:sp>
        <p:nvSpPr>
          <p:cNvPr id="24" name="TextBox 23"/>
          <p:cNvSpPr txBox="1"/>
          <p:nvPr/>
        </p:nvSpPr>
        <p:spPr>
          <a:xfrm>
            <a:off x="2697480" y="2692616"/>
            <a:ext cx="2011680" cy="438912"/>
          </a:xfrm>
          <a:prstGeom prst="rect">
            <a:avLst/>
          </a:prstGeom>
          <a:noFill/>
        </p:spPr>
        <p:txBody>
          <a:bodyPr wrap="square">
            <a:spAutoFit/>
          </a:bodyPr>
          <a:lstStyle/>
          <a:p>
            <a:pPr algn="l"/>
            <a:r>
              <a:rPr sz="1300" b="0">
                <a:solidFill>
                  <a:srgbClr val="B8C0CC"/>
                </a:solidFill>
                <a:latin typeface="Calibri"/>
              </a:rPr>
              <a:t>41,319</a:t>
            </a:r>
          </a:p>
        </p:txBody>
      </p:sp>
      <p:sp>
        <p:nvSpPr>
          <p:cNvPr id="25" name="TextBox 24"/>
          <p:cNvSpPr txBox="1"/>
          <p:nvPr/>
        </p:nvSpPr>
        <p:spPr>
          <a:xfrm>
            <a:off x="4800600" y="2692616"/>
            <a:ext cx="2011680" cy="438912"/>
          </a:xfrm>
          <a:prstGeom prst="rect">
            <a:avLst/>
          </a:prstGeom>
          <a:noFill/>
        </p:spPr>
        <p:txBody>
          <a:bodyPr wrap="square">
            <a:spAutoFit/>
          </a:bodyPr>
          <a:lstStyle/>
          <a:p>
            <a:pPr algn="l"/>
            <a:r>
              <a:rPr sz="1300" b="0">
                <a:solidFill>
                  <a:srgbClr val="B8C0CC"/>
                </a:solidFill>
                <a:latin typeface="Calibri"/>
              </a:rPr>
              <a:t>3h 33min</a:t>
            </a:r>
          </a:p>
        </p:txBody>
      </p:sp>
      <p:sp>
        <p:nvSpPr>
          <p:cNvPr id="26" name="TextBox 25"/>
          <p:cNvSpPr txBox="1"/>
          <p:nvPr/>
        </p:nvSpPr>
        <p:spPr>
          <a:xfrm>
            <a:off x="6903720" y="2692616"/>
            <a:ext cx="2011680" cy="438912"/>
          </a:xfrm>
          <a:prstGeom prst="rect">
            <a:avLst/>
          </a:prstGeom>
          <a:noFill/>
        </p:spPr>
        <p:txBody>
          <a:bodyPr wrap="square">
            <a:spAutoFit/>
          </a:bodyPr>
          <a:lstStyle/>
          <a:p>
            <a:pPr algn="l"/>
            <a:r>
              <a:rPr sz="1300" b="0">
                <a:solidFill>
                  <a:srgbClr val="B8C0CC"/>
                </a:solidFill>
                <a:latin typeface="Calibri"/>
              </a:rPr>
              <a:t>0.860</a:t>
            </a:r>
          </a:p>
        </p:txBody>
      </p:sp>
      <p:sp>
        <p:nvSpPr>
          <p:cNvPr id="27" name="TextBox 26"/>
          <p:cNvSpPr txBox="1"/>
          <p:nvPr/>
        </p:nvSpPr>
        <p:spPr>
          <a:xfrm>
            <a:off x="9006840" y="2692616"/>
            <a:ext cx="2011680" cy="438912"/>
          </a:xfrm>
          <a:prstGeom prst="rect">
            <a:avLst/>
          </a:prstGeom>
          <a:noFill/>
        </p:spPr>
        <p:txBody>
          <a:bodyPr wrap="square">
            <a:spAutoFit/>
          </a:bodyPr>
          <a:lstStyle/>
          <a:p>
            <a:pPr algn="l"/>
            <a:r>
              <a:rPr sz="1300" b="0">
                <a:solidFill>
                  <a:srgbClr val="B8C0CC"/>
                </a:solidFill>
                <a:latin typeface="Calibri"/>
              </a:rPr>
              <a:t>+0.061</a:t>
            </a:r>
          </a:p>
        </p:txBody>
      </p:sp>
      <p:sp>
        <p:nvSpPr>
          <p:cNvPr id="28" name="Rectangle 27"/>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131528"/>
            <a:ext cx="2011680" cy="438912"/>
          </a:xfrm>
          <a:prstGeom prst="rect">
            <a:avLst/>
          </a:prstGeom>
          <a:noFill/>
        </p:spPr>
        <p:txBody>
          <a:bodyPr wrap="square">
            <a:spAutoFit/>
          </a:bodyPr>
          <a:lstStyle/>
          <a:p>
            <a:pPr algn="l"/>
            <a:r>
              <a:rPr sz="1300" b="0">
                <a:solidFill>
                  <a:srgbClr val="B8C0CC"/>
                </a:solidFill>
                <a:latin typeface="Calibri"/>
              </a:rPr>
              <a:t>E — top-150</a:t>
            </a:r>
          </a:p>
        </p:txBody>
      </p:sp>
      <p:sp>
        <p:nvSpPr>
          <p:cNvPr id="30" name="TextBox 29"/>
          <p:cNvSpPr txBox="1"/>
          <p:nvPr/>
        </p:nvSpPr>
        <p:spPr>
          <a:xfrm>
            <a:off x="2697480" y="3131528"/>
            <a:ext cx="2011680" cy="438912"/>
          </a:xfrm>
          <a:prstGeom prst="rect">
            <a:avLst/>
          </a:prstGeom>
          <a:noFill/>
        </p:spPr>
        <p:txBody>
          <a:bodyPr wrap="square">
            <a:spAutoFit/>
          </a:bodyPr>
          <a:lstStyle/>
          <a:p>
            <a:pPr algn="l"/>
            <a:r>
              <a:rPr sz="1300" b="0">
                <a:solidFill>
                  <a:srgbClr val="B8C0CC"/>
                </a:solidFill>
                <a:latin typeface="Calibri"/>
              </a:rPr>
              <a:t>53,193</a:t>
            </a:r>
          </a:p>
        </p:txBody>
      </p:sp>
      <p:sp>
        <p:nvSpPr>
          <p:cNvPr id="31" name="TextBox 30"/>
          <p:cNvSpPr txBox="1"/>
          <p:nvPr/>
        </p:nvSpPr>
        <p:spPr>
          <a:xfrm>
            <a:off x="4800600" y="3131528"/>
            <a:ext cx="2011680" cy="438912"/>
          </a:xfrm>
          <a:prstGeom prst="rect">
            <a:avLst/>
          </a:prstGeom>
          <a:noFill/>
        </p:spPr>
        <p:txBody>
          <a:bodyPr wrap="square">
            <a:spAutoFit/>
          </a:bodyPr>
          <a:lstStyle/>
          <a:p>
            <a:pPr algn="l"/>
            <a:r>
              <a:rPr sz="1300" b="0">
                <a:solidFill>
                  <a:srgbClr val="B8C0CC"/>
                </a:solidFill>
                <a:latin typeface="Calibri"/>
              </a:rPr>
              <a:t>4h 12min</a:t>
            </a:r>
          </a:p>
        </p:txBody>
      </p:sp>
      <p:sp>
        <p:nvSpPr>
          <p:cNvPr id="32" name="TextBox 31"/>
          <p:cNvSpPr txBox="1"/>
          <p:nvPr/>
        </p:nvSpPr>
        <p:spPr>
          <a:xfrm>
            <a:off x="6903720" y="3131528"/>
            <a:ext cx="2011680" cy="438912"/>
          </a:xfrm>
          <a:prstGeom prst="rect">
            <a:avLst/>
          </a:prstGeom>
          <a:noFill/>
        </p:spPr>
        <p:txBody>
          <a:bodyPr wrap="square">
            <a:spAutoFit/>
          </a:bodyPr>
          <a:lstStyle/>
          <a:p>
            <a:pPr algn="l"/>
            <a:r>
              <a:rPr sz="1300" b="0">
                <a:solidFill>
                  <a:srgbClr val="B8C0CC"/>
                </a:solidFill>
                <a:latin typeface="Calibri"/>
              </a:rPr>
              <a:t>0.896</a:t>
            </a:r>
          </a:p>
        </p:txBody>
      </p:sp>
      <p:sp>
        <p:nvSpPr>
          <p:cNvPr id="33" name="TextBox 32"/>
          <p:cNvSpPr txBox="1"/>
          <p:nvPr/>
        </p:nvSpPr>
        <p:spPr>
          <a:xfrm>
            <a:off x="9006840" y="3131528"/>
            <a:ext cx="2011680" cy="438912"/>
          </a:xfrm>
          <a:prstGeom prst="rect">
            <a:avLst/>
          </a:prstGeom>
          <a:noFill/>
        </p:spPr>
        <p:txBody>
          <a:bodyPr wrap="square">
            <a:spAutoFit/>
          </a:bodyPr>
          <a:lstStyle/>
          <a:p>
            <a:pPr algn="l"/>
            <a:r>
              <a:rPr sz="1300" b="0">
                <a:solidFill>
                  <a:srgbClr val="B8C0CC"/>
                </a:solidFill>
                <a:latin typeface="Calibri"/>
              </a:rPr>
              <a:t>+0.036</a:t>
            </a:r>
          </a:p>
        </p:txBody>
      </p:sp>
      <p:sp>
        <p:nvSpPr>
          <p:cNvPr id="34" name="TextBox 33"/>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Rendimiento marginal decreciente: C→D (+37min, +6.1ρ) es mejor inversión que D→E (+39min, +3.6ρ).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UMAP + HDBSCAN — estructura del espacio de usuarios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UMAP reduce 4096D → 2D preservando estructura de vecindad local</a:t>
            </a:r>
          </a:p>
          <a:p>
            <a:pPr algn="l" marL="0" indent="-228600"/>
            <a:r>
              <a:rPr sz="2000" b="0">
                <a:solidFill>
                  <a:srgbClr val="B8C0CC"/>
                </a:solidFill>
                <a:latin typeface="Calibri"/>
              </a:rPr>
              <a:t>▸  HDBSCAN detecta clusters densos sin fijar K a priori</a:t>
            </a:r>
          </a:p>
          <a:p>
            <a:pPr algn="l" marL="0" indent="-228600"/>
            <a:r>
              <a:rPr sz="2000" b="0">
                <a:solidFill>
                  <a:srgbClr val="B8C0CC"/>
                </a:solidFill>
                <a:latin typeface="Calibri"/>
              </a:rPr>
              <a:t>▸  Visualización interactiva Plotly: hover = nombre de usuario + cluster</a:t>
            </a:r>
          </a:p>
          <a:p>
            <a:pPr algn="l" marL="0" indent="-228600"/>
            <a:r>
              <a:rPr sz="2000" b="0">
                <a:solidFill>
                  <a:srgbClr val="B8C0CC"/>
                </a:solidFill>
                <a:latin typeface="Calibri"/>
              </a:rPr>
              <a:t>▸  Clusters identificados: grupos ideológicos coherentes (aceleracionistas, nacional-bolcheviques...)</a:t>
            </a:r>
          </a:p>
          <a:p>
            <a:pPr algn="l" marL="0" indent="-228600"/>
            <a:r>
              <a:rPr sz="2000" b="0">
                <a:solidFill>
                  <a:srgbClr val="B8C0CC"/>
                </a:solidFill>
                <a:latin typeface="Calibri"/>
              </a:rPr>
              <a:t>▸  Ruido (cluster -1): usuarios esporádicos sin afiliación ideológica clara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Burrows' Delta — estilometría para sockpuppets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Mide frecuencia relativa de las N palabras más comunes, normalizada por z-score</a:t>
            </a:r>
          </a:p>
          <a:p>
            <a:pPr algn="l" marL="0" indent="-228600"/>
            <a:r>
              <a:rPr sz="2000" b="0">
                <a:solidFill>
                  <a:srgbClr val="B8C0CC"/>
                </a:solidFill>
                <a:latin typeface="Calibri"/>
              </a:rPr>
              <a:t>▸  Delta bajo entre dos usuarios → estilo similar → candidato a misma persona</a:t>
            </a:r>
          </a:p>
          <a:p>
            <a:pPr algn="l" marL="0" indent="-228600"/>
            <a:r>
              <a:rPr sz="2000" b="0">
                <a:solidFill>
                  <a:srgbClr val="B8C0CC"/>
                </a:solidFill>
                <a:latin typeface="Calibri"/>
              </a:rPr>
              <a:t>▸  Corpus IronMarch: top-200 palabras función, top-150 usuarios (≥500 palabras)</a:t>
            </a:r>
          </a:p>
          <a:p>
            <a:pPr algn="l" marL="0" indent="-228600"/>
            <a:r>
              <a:rPr sz="2000" b="0">
                <a:solidFill>
                  <a:srgbClr val="B8C0CC"/>
                </a:solidFill>
                <a:latin typeface="Calibri"/>
              </a:rPr>
              <a:t>▸  Delta medio: 1.08  |  mínimo: 0.46  |  máximo: 2.03</a:t>
            </a:r>
          </a:p>
          <a:p>
            <a:pPr algn="l" marL="0" indent="-228600"/>
            <a:r>
              <a:rPr sz="2000" b="0">
                <a:solidFill>
                  <a:srgbClr val="B8C0CC"/>
                </a:solidFill>
                <a:latin typeface="Calibri"/>
              </a:rPr>
              <a:t>▸  Par más sospechoso: 255 + Talleyrand</a:t>
            </a:r>
          </a:p>
          <a:p>
            <a:pPr lvl="1" algn="l" marL="274320" indent="-228600"/>
            <a:r>
              <a:rPr sz="1700" b="0">
                <a:solidFill>
                  <a:srgbClr val="606878"/>
                </a:solidFill>
                <a:latin typeface="Calibri"/>
              </a:rPr>
              <a:t>·  Delta=0.46, similitud temporal=0.99, Talleyrand: anicot@elon.edu, activo 2011–2014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embeddings y Delta</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IronMarch/03_embeddings_profiling.ipynb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Abrir notebook 03_embeddings_profiling</a:t>
            </a:r>
          </a:p>
          <a:p>
            <a:r>
              <a:rPr sz="1900">
                <a:solidFill>
                  <a:srgbClr val="B8C0CC"/>
                </a:solidFill>
                <a:latin typeface="Calibri"/>
              </a:rPr>
              <a:t>2.  Sección 1: verificar que las estrategias C/D/E están cacheadas</a:t>
            </a:r>
          </a:p>
          <a:p>
            <a:r>
              <a:rPr sz="1900">
                <a:solidFill>
                  <a:srgbClr val="B8C0CC"/>
                </a:solidFill>
                <a:latin typeface="Calibri"/>
              </a:rPr>
              <a:t>3.  Sección 2: UMAP interactivo → identificar clusters ideológicos</a:t>
            </a:r>
          </a:p>
          <a:p>
            <a:r>
              <a:rPr sz="1900">
                <a:solidFill>
                  <a:srgbClr val="B8C0CC"/>
                </a:solidFill>
                <a:latin typeface="Calibri"/>
              </a:rPr>
              <a:t>4.  Sección 3: heatmap Burrows' Delta → par 255+Talleyrand en esquina inferior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5</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Atribución y conclusiones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Señal combinada + limitaciones éticas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Señal combinada de atribución</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Ninguna señal sola es suficiente — se requiere convergencia</a:t>
            </a:r>
          </a:p>
          <a:p>
            <a:pPr algn="l" marL="0" indent="-228600"/>
            <a:r>
              <a:rPr sz="2000" b="0">
                <a:solidFill>
                  <a:srgbClr val="B8C0CC"/>
                </a:solidFill>
                <a:latin typeface="Calibri"/>
              </a:rPr>
              <a:t>▸  Burrows' Delta bajo → mismo estilo de escritura</a:t>
            </a:r>
          </a:p>
          <a:p>
            <a:pPr algn="l" marL="0" indent="-228600"/>
            <a:r>
              <a:rPr sz="2000" b="0">
                <a:solidFill>
                  <a:srgbClr val="B8C0CC"/>
                </a:solidFill>
                <a:latin typeface="Calibri"/>
              </a:rPr>
              <a:t>▸  Similitud temporal alta → mismo horario de actividad → mismo huso horario</a:t>
            </a:r>
          </a:p>
          <a:p>
            <a:pPr algn="l" marL="0" indent="-228600"/>
            <a:r>
              <a:rPr sz="2000" b="0">
                <a:solidFill>
                  <a:srgbClr val="B8C0CC"/>
                </a:solidFill>
                <a:latin typeface="Calibri"/>
              </a:rPr>
              <a:t>▸  Presencia en clusters UMAP cercanos → misma ideología y vocabulario</a:t>
            </a:r>
          </a:p>
          <a:p>
            <a:pPr algn="l" marL="0" indent="-228600"/>
            <a:r>
              <a:rPr sz="2000" b="0">
                <a:solidFill>
                  <a:srgbClr val="B8C0CC"/>
                </a:solidFill>
                <a:latin typeface="Calibri"/>
              </a:rPr>
              <a:t>▸  Co-participación en threads privados (PMs) → relación directa</a:t>
            </a:r>
          </a:p>
          <a:p>
            <a:pPr algn="l" marL="0" indent="-228600"/>
            <a:r>
              <a:rPr sz="2000" b="0">
                <a:solidFill>
                  <a:srgbClr val="B8C0CC"/>
                </a:solidFill>
                <a:latin typeface="Calibri"/>
              </a:rPr>
              <a:t>▸  Regla de tres: si ≥3 señales coinciden, el par merece investigación adicional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Resumen ejecutivo</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Hallazgos técnicos</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100% de usuarios en componente gigante</a:t>
            </a:r>
          </a:p>
          <a:p>
            <a:r>
              <a:rPr sz="1800">
                <a:solidFill>
                  <a:srgbClr val="B8C0CC"/>
                </a:solidFill>
                <a:latin typeface="Calibri"/>
              </a:rPr>
              <a:t>▸  Dos capas de influencia: pública (MOONLORD) y oculta (usuario 255)</a:t>
            </a:r>
          </a:p>
          <a:p>
            <a:r>
              <a:rPr sz="1800">
                <a:solidFill>
                  <a:srgbClr val="B8C0CC"/>
                </a:solidFill>
                <a:latin typeface="Calibri"/>
              </a:rPr>
              <a:t>▸  Top-100 posts = 86% de fidelidad al embedding completo</a:t>
            </a:r>
          </a:p>
          <a:p>
            <a:r>
              <a:rPr sz="1800">
                <a:solidFill>
                  <a:srgbClr val="B8C0CC"/>
                </a:solidFill>
                <a:latin typeface="Calibri"/>
              </a:rPr>
              <a:t>▸  Atentados de París: único evento con spike confirmado (×1.62)</a:t>
            </a:r>
          </a:p>
          <a:p>
            <a:r>
              <a:rPr sz="1800">
                <a:solidFill>
                  <a:srgbClr val="B8C0CC"/>
                </a:solidFill>
                <a:latin typeface="Calibri"/>
              </a:rPr>
              <a:t>▸  Par 255+Talleyrand: candidato prioritario a investigación</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Limitaciones y ética</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Análisis exploratorio: los resultados son leads, no pruebas</a:t>
            </a:r>
          </a:p>
          <a:p>
            <a:r>
              <a:rPr sz="1800">
                <a:solidFill>
                  <a:srgbClr val="B8C0CC"/>
                </a:solidFill>
                <a:latin typeface="Calibri"/>
              </a:rPr>
              <a:t>▸  Delta en corpus homogéneo tiene menor poder discriminante</a:t>
            </a:r>
          </a:p>
          <a:p>
            <a:r>
              <a:rPr sz="1800">
                <a:solidFill>
                  <a:srgbClr val="B8C0CC"/>
                </a:solidFill>
                <a:latin typeface="Calibri"/>
              </a:rPr>
              <a:t>▸  Datos de personas reales: manejo mínimamente invasivo</a:t>
            </a:r>
          </a:p>
          <a:p>
            <a:r>
              <a:rPr sz="1800">
                <a:solidFill>
                  <a:srgbClr val="B8C0CC"/>
                </a:solidFill>
                <a:latin typeface="Calibri"/>
              </a:rPr>
              <a:t>▸  Objetivo defensivo: entender la red, no publicar perfiles</a:t>
            </a:r>
          </a:p>
          <a:p>
            <a:r>
              <a:rPr sz="1800">
                <a:solidFill>
                  <a:srgbClr val="B8C0CC"/>
                </a:solidFill>
                <a:latin typeface="Calibri"/>
              </a:rPr>
              <a:t>▸  Ground truth valida la metodología, no identifica nuevos actores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¿Qué aprendemos del caso IronMarch?</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La estructura del foro revela la ideología: jerarquía plana + concentración de PMs = liderazgo carismático</a:t>
            </a:r>
          </a:p>
          <a:p>
            <a:pPr algn="l" marL="0" indent="-228600"/>
            <a:r>
              <a:rPr sz="2000" b="0">
                <a:solidFill>
                  <a:srgbClr val="B8C0CC"/>
                </a:solidFill>
                <a:latin typeface="Calibri"/>
              </a:rPr>
              <a:t>▸  Los LLMs locales hacen viable el análisis de contenido sensible sin APIs externas</a:t>
            </a:r>
          </a:p>
          <a:p>
            <a:pPr algn="l" marL="0" indent="-228600"/>
            <a:r>
              <a:rPr sz="2000" b="0">
                <a:solidFill>
                  <a:srgbClr val="B8C0CC"/>
                </a:solidFill>
                <a:latin typeface="Calibri"/>
              </a:rPr>
              <a:t>▸  El muestreo inteligente (top-N por longitud) preserva señal estilométrica a fracción del coste</a:t>
            </a:r>
          </a:p>
          <a:p>
            <a:pPr algn="l" marL="0" indent="-228600"/>
            <a:r>
              <a:rPr sz="2000" b="0">
                <a:solidFill>
                  <a:srgbClr val="B8C0CC"/>
                </a:solidFill>
                <a:latin typeface="Calibri"/>
              </a:rPr>
              <a:t>▸  La convergencia de señales (estilo + tiempo + red) es más robusta que cualquier métrica aislada</a:t>
            </a:r>
          </a:p>
          <a:p>
            <a:pPr algn="l" marL="0" indent="-228600"/>
            <a:r>
              <a:rPr sz="2000" b="0">
                <a:solidFill>
                  <a:srgbClr val="B8C0CC"/>
                </a:solidFill>
                <a:latin typeface="Calibri"/>
              </a:rPr>
              <a:t>▸  Ground truth es raro y valiosísimo: cuando existe, calibra todo el pipeline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