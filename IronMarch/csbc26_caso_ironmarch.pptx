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IronMarch: foro chico, impacto grande</a:t>
            </a:r>
          </a:p>
          <a:p>
            <a:r>
              <a:t>Miembros ligados a grupos terroristas</a:t>
            </a:r>
          </a:p>
          <a:p>
            <a:r>
              <a:t>Clave: ground truth judicial para validar</a:t>
            </a:r>
          </a:p>
          <a:p>
            <a:r>
              <a:t>Pregunta guía: red filtrada → liderazgo real</a:t>
            </a:r>
          </a:p>
          <a:p>
            <a:r>
              <a:t>→ recorrido: dataset, LLM, estilometría, ética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Primero: qué es Iron March, qué contiene el dump</a:t>
            </a:r>
          </a:p>
          <a:p>
            <a:r>
              <a:t>Estructura de tablas IPS 4.x</a:t>
            </a:r>
          </a:p>
          <a:p>
            <a:r>
              <a:t>→ por qué este leak es distinto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Foro chico, pero nodo del fascismo internacional</a:t>
            </a:r>
          </a:p>
          <a:p>
            <a:r>
              <a:t>No son sospechas: vínculos judiciales confirmados</a:t>
            </a:r>
          </a:p>
          <a:p>
            <a:r>
              <a:t>Leak 2019: dump SQL completo, poco común</a:t>
            </a:r>
          </a:p>
          <a:p>
            <a:r>
              <a:t>→ ground truth: contrastamos hallazgos vs. justicia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Esquema típico IPS 4.x, familiar del curso</a:t>
            </a:r>
          </a:p>
          <a:p>
            <a:r>
              <a:t>Ojo: 55K PMs, cifra rarísima en leaks</a:t>
            </a:r>
          </a:p>
          <a:p>
            <a:r>
              <a:t>→ clave para comparar red pública vs. oculta</a:t>
            </a:r>
          </a:p>
          <a:p>
            <a:r>
              <a:t>member_id: columna discriminante para reproducir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qué este caso: calibrable contra la realidad</a:t>
            </a:r>
          </a:p>
          <a:p>
            <a:r>
              <a:t>MOONLORD doxxeado = Slavros, IP rusa confirmada</a:t>
            </a:r>
          </a:p>
          <a:p>
            <a:r>
              <a:t>Hallazgo clave: usuario 255, 53% betweenness en PMs</a:t>
            </a:r>
          </a:p>
          <a:p>
            <a:r>
              <a:t>→ liderazgo visible ≠ liderazgo real</a:t>
            </a:r>
          </a:p>
          <a:p>
            <a:r>
              <a:t>Cierre: confiscación judicial, no abandono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Ahora: exploración de datos, notebook 00</a:t>
            </a:r>
          </a:p>
          <a:p>
            <a:r>
              <a:t>Construir dos redes: pública threads vs. PMs ocultos</a:t>
            </a:r>
          </a:p>
          <a:p>
            <a:r>
              <a:t>→ primeros números concretos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reducido a lo mínimo: foro pequeño y denso</a:t>
            </a:r>
          </a:p>
          <a:p>
            <a:r>
              <a:t>Idioma verificado, pipeline estándar OK</a:t>
            </a:r>
          </a:p>
          <a:p>
            <a:r>
              <a:t>→ el protagonista de hoy es la red, no el EDA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 clave: red pública vs. red privada</a:t>
            </a:r>
          </a:p>
          <a:p>
            <a:r>
              <a:t>Pública: broker = MOONLORD, esperable</a:t>
            </a:r>
          </a:p>
          <a:p>
            <a:r>
              <a:t>Privada: usuario 255, 53% betweenness en PMs, invisible en público</a:t>
            </a:r>
          </a:p>
          <a:p>
            <a:r>
              <a:t>Influencia visible ≠ influencia estructural real</a:t>
            </a:r>
          </a:p>
          <a:p>
            <a:r>
              <a:t>Ground truth judicial (MOONLORD=Slavros doxxeado, casos judiciales) valida el hallazgo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Trade-off coste/precisión: exacto es O(V·E), horas</a:t>
            </a:r>
          </a:p>
          <a:p>
            <a:r>
              <a:t>k=300 (pública) / k=200 (PMs): suficiente para el ranking top</a:t>
            </a:r>
          </a:p>
          <a:p>
            <a:r>
              <a:t>Mismo principio de rendimientos decrecientes que el muestreo de embeddings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Paso trivial en apariencia, error frecuente</a:t>
            </a:r>
          </a:p>
          <a:p>
            <a:r>
              <a:t>Modelo inglés en corpus ruso → ruido silencioso, no error</a:t>
            </a:r>
          </a:p>
          <a:p>
            <a:r>
              <a:t>Confirmado: &gt;95% inglés, pipeline estándar OK</a:t>
            </a:r>
          </a:p>
          <a:p>
            <a:r>
              <a:t>Regla general: verificar idioma SIEMPRE antes de NLP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Práctica: notebook 00, grafo de co-participación</a:t>
            </a:r>
          </a:p>
          <a:p>
            <a:r>
              <a:t>Visualización top-150 nodos → hub-and-spoke MOONLORD</a:t>
            </a:r>
          </a:p>
          <a:p>
            <a:r>
              <a:t>→ comparar con red de PMs, sección 4</a:t>
            </a:r>
          </a:p>
          <a:p>
            <a:r>
              <a:t>¿Coinciden los brokers? en vivo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Ahora: NLP — BERTopic (temas) + NER (entidades)</a:t>
            </a:r>
          </a:p>
          <a:p>
            <a:r>
              <a:t>Modelo local: qwen2.5:14b</a:t>
            </a:r>
          </a:p>
          <a:p>
            <a:r>
              <a:t>→ sin enviar datos sensibles a APIs externas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BERTopic: apoyo, no protagonista de este caso</a:t>
            </a:r>
          </a:p>
          <a:p>
            <a:r>
              <a:t>→ ideología permea todo el foro, sin fronteras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local: entidades sobre top-50 usuarios</a:t>
            </a:r>
          </a:p>
          <a:p>
            <a:r>
              <a:t>Hitler esperable, pero Evola casi al mismo nivel</a:t>
            </a:r>
          </a:p>
          <a:p>
            <a:r>
              <a:t>→ firma distintiva de Iron March</a:t>
            </a:r>
          </a:p>
          <a:p>
            <a:r>
              <a:t>Atomwaffen: mencionado 3 años antes de ser terrorista</a:t>
            </a:r>
          </a:p>
          <a:p>
            <a:r>
              <a:t>Foro como semillero temprano, no eco tardío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Pregunta: qué eventos reales activaron la comunidad</a:t>
            </a:r>
          </a:p>
          <a:p>
            <a:r>
              <a:t>Único pico confirmado: atentados París 2015</a:t>
            </a:r>
          </a:p>
          <a:p>
            <a:r>
              <a:t>Reacción islamófoba, no racista clásica</a:t>
            </a:r>
          </a:p>
          <a:p>
            <a:r>
              <a:t>Sin pico: Trump 2016, Charlottesville 2017 (declive)</a:t>
            </a:r>
          </a:p>
          <a:p>
            <a:r>
              <a:t>→ atentado usado como munición anti-inmigración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notebook 02, NER top-50 (checkpoint automático)</a:t>
            </a:r>
          </a:p>
          <a:p>
            <a:r>
              <a:t>Visualizar picos con z-score</a:t>
            </a:r>
          </a:p>
          <a:p>
            <a:r>
              <a:t>→ ejercicio en vivo: usuarios activos en nov. 2015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Ahora: perfilado individual, usuario como vector</a:t>
            </a:r>
          </a:p>
          <a:p>
            <a:r>
              <a:t>Detectar estilos similares con Burrows' Delta</a:t>
            </a:r>
          </a:p>
          <a:p>
            <a:r>
              <a:t>→ clave para atribución de sockpuppets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de ingeniería: cuántos posts por usuario</a:t>
            </a:r>
          </a:p>
          <a:p>
            <a:r>
              <a:t>5 estrategias probadas, de concatenar a promediar</a:t>
            </a:r>
          </a:p>
          <a:p>
            <a:r>
              <a:t>Óptimo: D (top-100) → ρ=0.86, un tercio del tiempo</a:t>
            </a:r>
          </a:p>
          <a:p>
            <a:r>
              <a:t>Lección: muestreo inteligente &gt; procesamiento exhaustivo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Evidencia numérica de la decisión anterior</a:t>
            </a:r>
          </a:p>
          <a:p>
            <a:r>
              <a:t>C→D: +37min, +6.1ρ — buena inversión</a:t>
            </a:r>
          </a:p>
          <a:p>
            <a:r>
              <a:t>D→E: tiempo similar, mitad de mejora</a:t>
            </a:r>
          </a:p>
          <a:p>
            <a:r>
              <a:t>→ rendimientos decrecientes: más datos ≠ siempre mejor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UMAP: 4096D → 2D, preserva vecindad local</a:t>
            </a:r>
          </a:p>
          <a:p>
            <a:r>
              <a:t>HDBSCAN: clusters sin fijar K a priori</a:t>
            </a:r>
          </a:p>
          <a:p>
            <a:r>
              <a:t>→ clusters = corrientes ideológicas coherentes</a:t>
            </a:r>
          </a:p>
          <a:p>
            <a:r>
              <a:t>Ruido (-1): usuarios sin afiliación clara, señal real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Burrows' Delta: técnica clásica de estilometría</a:t>
            </a:r>
          </a:p>
          <a:p>
            <a:r>
              <a:t>Aplicado a 150 usuarios, ≥500 palabras</a:t>
            </a:r>
          </a:p>
          <a:p>
            <a:r>
              <a:t>Par más sospechoso: 255 + Talleyrand</a:t>
            </a:r>
          </a:p>
          <a:p>
            <a:r>
              <a:t>Delta=0.46 + similitud temporal 99%</a:t>
            </a:r>
          </a:p>
          <a:p>
            <a:r>
              <a:t>→ evidencia circunstancial, no prueba definitiva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notebook 03, estrategias C/D/E cacheadas</a:t>
            </a:r>
          </a:p>
          <a:p>
            <a:r>
              <a:t>UMAP interactivo → clusters ideológicos</a:t>
            </a:r>
          </a:p>
          <a:p>
            <a:r>
              <a:t>→ heatmap Delta: par 255+Talleyrand, valor más bajo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combinar señales — estilo, tiempo, red</a:t>
            </a:r>
          </a:p>
          <a:p>
            <a:r>
              <a:t>Criterio de atribución</a:t>
            </a:r>
          </a:p>
          <a:p>
            <a:r>
              <a:t>→ límites éticos y metodológicos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Ninguna técnica es concluyente por sí sola</a:t>
            </a:r>
          </a:p>
          <a:p>
            <a:r>
              <a:t>Regla de convergencia: ≥3 señales → investigar</a:t>
            </a:r>
          </a:p>
          <a:p>
            <a:r>
              <a:t>Nunca conclusión automática</a:t>
            </a:r>
          </a:p>
          <a:p>
            <a:r>
              <a:t>→ estándar forense: acumulación de indicios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Resumen: red, muestreo, hallazgo temporal</a:t>
            </a:r>
          </a:p>
          <a:p>
            <a:r>
              <a:t>Detenerse en columna derecha: limitaciones</a:t>
            </a:r>
          </a:p>
          <a:p>
            <a:r>
              <a:t>Resultados = leads, no pruebas periciales</a:t>
            </a:r>
          </a:p>
          <a:p>
            <a:r>
              <a:t>Datos reales → manejo mínimamente invasivo</a:t>
            </a:r>
          </a:p>
          <a:p>
            <a:r>
              <a:t>→ objetivo defensivo, no exponer perfiles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ideas para cerrar el caso</a:t>
            </a:r>
          </a:p>
          <a:p>
            <a:r>
              <a:t>Estructura de red revela tipo de liderazgo</a:t>
            </a:r>
          </a:p>
          <a:p>
            <a:r>
              <a:t>LLMs locales: viable analizar contenido sensible</a:t>
            </a:r>
          </a:p>
          <a:p>
            <a:r>
              <a:t>Muestreo inteligente preserva señal, baja costo</a:t>
            </a:r>
          </a:p>
          <a:p>
            <a:r>
              <a:t>→ ground truth escaso: calibra toda la metodología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Caso IronMarch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Análisis forense de un foro de extrema derecha (2011–2017)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Análisis de Leaks Underground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Dataset y contexto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¿Qué es Iron March y qué datos tenemos?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Iron March — ¿qué fue?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1711816"/>
            <a:ext cx="10084904" cy="3873058"/>
          </a:xfrm>
        </p:spPr>
        <p:txBody>
          <a:bodyPr wrap="square"/>
          <a:lstStyle/>
          <a:p>
            <a:r>
              <a:t>Foro fundado en 2011 por Alexander Slavros (MOONLORD), cerrado en noviembre de 2017</a:t>
            </a:r>
          </a:p>
          <a:p>
            <a:r>
              <a:t>Punto de encuentro del fascismo internacional online: neo-nazismo, aceleracionismo, Evola</a:t>
            </a:r>
          </a:p>
          <a:p>
            <a:r>
              <a:t>Miembros vinculados a grupos terroristas: Atomwaffen Division, The Base, SIEGE culture</a:t>
            </a:r>
          </a:p>
          <a:p>
            <a:r>
              <a:t>Leak: noviembre 2019 — dump SQL completo filtrado por un tercero</a:t>
            </a:r>
          </a:p>
          <a:p>
            <a:r>
              <a:t>Ground truth disponible: fundador doxxeado, miembros identificados en causas judiciales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Estructura del dataset (IPS 4.x)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286000"/>
          <a:ext cx="100584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Tabla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Registros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Descripción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core_members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~18,000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Usuarios registrados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forums_posts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~194,000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Posts públicos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forums_threads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~14,000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Hilos de discusión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forums_forums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~138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Subforos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core_message_posts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~55,000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Mensajes privados (PMs) — infrecuente en leaks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Parser: IPS 4.x. Tablas sin prefijo. Columna discriminante: member_id en core_members.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Por qué es excepcional este dataset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Ground truth real: podemos validar el análisis computacional contra hechos verificados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MOONLORD = Alexander Slavros: doxxeado, fundador confirmado, IP rusa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Usuario 255 (userid=0): cuenta admin con 53% del betweenness en PMs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Miembros identificados en casos judiciales en EEUU, Europa y Australia</a:t>
            </a:r>
          </a:p>
          <a:p>
            <a:r>
              <a:t>Dato infrecuente: 55K mensajes privados intactos → red de influencia oculta</a:t>
            </a:r>
          </a:p>
          <a:p>
            <a:r>
              <a:t>Cierre documentado: el servidor fue confiscado, no abandonado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Exploración y red de influencia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Notebook 00 + estructura de red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EDA — primeras métricas (apoyo, no protagonista)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836 usuarios activos (≥5 posts) sobre ~18K registros → foro pequeño y denso</a:t>
            </a:r>
          </a:p>
          <a:p>
            <a:r>
              <a:t>157,779 posts válidos, top-5 de 138 subforos concentran el 60% del tráfico</a:t>
            </a:r>
          </a:p>
          <a:p>
            <a:r>
              <a:t>Idioma: &gt;95% inglés (verificado) → pipeline estándar válido sin ajustes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Dos redes, dos capas de influencia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Red pública (co-participación en threads)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836 nodos, 100% en componente gigante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Broker principal: MOONLORD (Slavros)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Estructura de hub-and-spoke: el fundador conecta grupos ideológicos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Hilos filosóficos (Evola, Spengler) concentran el betweenness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Red privada (mensajes privados)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55K PMs — dato rarísimo en leaks de foros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Broker principal: usuario 255 (userid=0, admin)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53% del betweenness en PMs, invisible en la actividad pública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Influencia visible ≠ influencia estructural real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¿Por qué muestreo (k) y no betweenness exacto?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3317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65461"/>
                </a:solidFill>
                <a:latin typeface="Arial"/>
              </a:rPr>
              <a:t>Betweenness exacto es O(V·E) — horas en grafos grandes. Estimamos con k nodos origen al azar: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80360"/>
            <a:ext cx="10149840" cy="2926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017520"/>
            <a:ext cx="978408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8FF78"/>
                </a:solidFill>
                <a:latin typeface="Consolas"/>
              </a:rPr>
              <a:t>k_sample = min(300, G_public.number_of_nodes())  # red pública
btw_cent = nx.betweenness_centrality(
    G_public, k=k_sample, normalized=True, weight='weight')
k_pm = min(200, G_pm_und.number_of_nodes())        # red de PMs
btw_pm = nx.betweenness_centrality(G_pm_und, k=k_pm, normalized=True)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7888"/>
                </a:solidFill>
                <a:latin typeface="Arial"/>
              </a:rPr>
              <a:t>ℹ  El ranking de brokers converge con la muestra — no hace falta el valor exacto para identificar quién ocupa el top.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Detección de idioma — paso obligatorio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Burrows' Delta, NER y BERTopic son idioma-específicos</a:t>
            </a:r>
          </a:p>
          <a:p>
            <a:r>
              <a:t>Sin verificación previa, aplicar el pipeline inglés a texto ruso produce ruido</a:t>
            </a:r>
          </a:p>
          <a:p>
            <a:r>
              <a:t>Resultado IronMarch: &gt;95% inglés → pipeline estándar válido</a:t>
            </a:r>
          </a:p>
          <a:p>
            <a:r>
              <a:t>La misma metodología aplicada a un foro en ruso requeriría un pipeline distinto</a:t>
            </a:r>
          </a:p>
          <a:p>
            <a:r>
              <a:t>Regla general: detectar idioma ANTES de cualquier modelo NLP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red de co-participación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IronMarch/00_extract_and_explore.ipynb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00_extract_and_explore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Ejecutar sección 3: grafo usuario↔usuario por threads compartidos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Visualización Plotly interactiva: top-150 nodos por degree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Comparar con sección 4: red de PMs — ¿los mismos brokers?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Análisis con LLM local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BERTopic + NER con qwen2.5:14b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BERTopic — apoyo, no protagonista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Solo evidencia de apoyo: el protagonista de este caso es la red de influencia, no los topics</a:t>
            </a:r>
          </a:p>
          <a:p>
            <a:r>
              <a:t>Hallazgo a retener: los topics no respetan fronteras de subforos — la ideología permea todo el foro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NER con qwen2.5:14b — entidades clave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Estrategia: top-50 usuarios por volumen, hasta 50 posts por usuario</a:t>
            </a:r>
          </a:p>
          <a:p>
            <a:r>
              <a:t>Tipos de entidad: PERSON, ORG, LOCATION, IDEOLOGY, WEAPON, EVENT</a:t>
            </a:r>
          </a:p>
          <a:p>
            <a:r>
              <a:t>2,515 entidades extraídas en 1,500 posts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Hitler: ×28  |  Evola: ×15  |  Golden Dawn: ×10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Atomwaffen Division mencionada 3 años antes de su clasificación como terrorista</a:t>
            </a:r>
          </a:p>
          <a:p>
            <a:r>
              <a:t>Presencia de Evola casi al nivel de Hitler: rasgo distintivo vs. otros foros de ultraderecha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Picos de actividad — análisis temporal + topics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Método: z-score semanal sobre serie temporal de posts (umbral: µ + 2σ)</a:t>
            </a:r>
          </a:p>
          <a:p>
            <a:r>
              <a:t>Índice compuesto: volumen × longitud × señales de arousal (CAPS, !)</a:t>
            </a:r>
          </a:p>
          <a:p>
            <a:r>
              <a:t>Atentados de París (nov 2015): ×1.62 baseline → único spike estadístico confirmado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Reacción: islamofóbica, no racista — 'paris' ×22, 'refugee' ×16, 'white' baja</a:t>
            </a:r>
          </a:p>
          <a:p>
            <a:r>
              <a:t>Trump 2016: ×1.03 — sin spike. Charlottesville 2017: ×0.96 — el foro ya estaba en declive</a:t>
            </a:r>
          </a:p>
          <a:p>
            <a:r>
              <a:t>Conclusión: la comunidad usó el atentado como munición narrativa anti-inmigración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NER y picos de actividad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IronMarch/02_llm_analysis.ipynb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02_llm_analysis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Sección 2: ejecutar NER sobre top-50 usuarios (checkpoint automático)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Sección 3: visualizar picos temporales con z-score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Cruzar: ¿qué usuarios están más activos en los picos?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4</a:t>
            </a:r>
          </a:p>
          <a:p>
            <a:pPr algn="ctr"/>
            <a:r>
              <a:t>Embeddings y estilometría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qwen3-embedding + Burrows' Delta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Cinco estrategias de embedding por usuario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Pregunta: ¿cuántos posts necesitamos para representar bien a un usuario?</a:t>
            </a:r>
          </a:p>
          <a:p>
            <a:r>
              <a:t>A — embed_users: concatenar TODOS los posts → 1 vector (truncado a 50K chars)</a:t>
            </a:r>
          </a:p>
          <a:p>
            <a:r>
              <a:t>B — centroids full: 1 embedding por post, promedio → referencia (ground truth)</a:t>
            </a:r>
          </a:p>
          <a:p>
            <a:r>
              <a:t>C/D/E — centroids muestreados: top-50/100/150 posts MÁS LARGOS por usuario</a:t>
            </a:r>
          </a:p>
          <a:p>
            <a:r>
              <a:t>Métrica: Spearman ρ entre ranking de similitudes de cada estrategia vs. B</a:t>
            </a:r>
          </a:p>
          <a:p>
            <a:r>
              <a:t>Punto óptimo: D (top-100) → ρ=0.860, 3h 33min vs. ~9h completo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Resultados del experimento de muestreo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286000"/>
          <a:ext cx="100584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Estrategia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Posts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Tiempo GPU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Spearman ρ vs full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Δρ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 — full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157,779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~9 h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referencia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 — top-50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≤41,800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2h 35min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0.799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 — top-100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41,319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3h 33min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0.860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+0.061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E — top-150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53,193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4h 12min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0.896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+0.036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Rendimiento marginal decreciente: C→D (+37min, +6.1ρ) es mejor inversión que D→E (+39min, +3.6ρ).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UMAP + HDBSCAN — estructura del espacio de usuarios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717656"/>
            <a:ext cx="10084904" cy="2867218"/>
          </a:xfrm>
        </p:spPr>
        <p:txBody>
          <a:bodyPr wrap="square"/>
          <a:lstStyle/>
          <a:p>
            <a:r>
              <a:t>UMAP reduce 4096D → 2D preservando estructura de vecindad local</a:t>
            </a:r>
          </a:p>
          <a:p>
            <a:r>
              <a:t>HDBSCAN detecta clusters densos sin fijar K a priori</a:t>
            </a:r>
          </a:p>
          <a:p>
            <a:r>
              <a:t>Visualización interactiva Plotly: hover = nombre de usuario + cluster</a:t>
            </a:r>
          </a:p>
          <a:p>
            <a:r>
              <a:t>Clusters identificados: grupos ideológicos coherentes (aceleracionistas, nacional-bolcheviques...)</a:t>
            </a:r>
          </a:p>
          <a:p>
            <a:r>
              <a:t>Ruido (cluster -1): usuarios esporádicos sin afiliación ideológica clara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Burrows' Delta — estilometría para sockpuppets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717656"/>
            <a:ext cx="10084904" cy="2867218"/>
          </a:xfrm>
        </p:spPr>
        <p:txBody>
          <a:bodyPr wrap="square"/>
          <a:lstStyle/>
          <a:p>
            <a:r>
              <a:t>Mide frecuencia relativa de las N palabras más comunes, normalizada por z-score</a:t>
            </a:r>
          </a:p>
          <a:p>
            <a:r>
              <a:t>Delta bajo entre dos usuarios → estilo similar → candidato a misma persona</a:t>
            </a:r>
          </a:p>
          <a:p>
            <a:r>
              <a:t>Corpus IronMarch: top-200 palabras función, top-150 usuarios (≥500 palabras)</a:t>
            </a:r>
          </a:p>
          <a:p>
            <a:r>
              <a:t>Delta medio: 1.08  |  mínimo: 0.46  |  máximo: 2.03</a:t>
            </a:r>
          </a:p>
          <a:p>
            <a:r>
              <a:t>Par más sospechoso: 255 + Talleyrand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Delta=0.46, similitud temporal=0.99, Talleyrand: anicot@elon.edu, activo 2011–2014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embeddings y Delta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IronMarch/03_embeddings_profiling.ipynb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03_embeddings_profiling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Sección 1: verificar que las estrategias C/D/E están cacheadas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Sección 2: UMAP interactivo → identificar clusters ideológicos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Sección 3: heatmap Burrows' Delta → par 255+Talleyrand en esquina inferior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5</a:t>
            </a:r>
          </a:p>
          <a:p>
            <a:pPr algn="ctr"/>
            <a:r>
              <a:t>Atribución y conclusiones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Señal combinada + limitaciones éticas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Señal combinada de atribución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Ninguna señal sola es suficiente — se requiere convergencia</a:t>
            </a:r>
          </a:p>
          <a:p>
            <a:r>
              <a:t>Burrows' Delta bajo → mismo estilo de escritura</a:t>
            </a:r>
          </a:p>
          <a:p>
            <a:r>
              <a:t>Similitud temporal alta → mismo horario de actividad → mismo huso horario</a:t>
            </a:r>
          </a:p>
          <a:p>
            <a:r>
              <a:t>Presencia en clusters UMAP cercanos → misma ideología y vocabulario</a:t>
            </a:r>
          </a:p>
          <a:p>
            <a:r>
              <a:t>Co-participación en threads privados (PMs) → relación directa</a:t>
            </a:r>
          </a:p>
          <a:p>
            <a:r>
              <a:t>Regla de tres: si ≥3 señales coinciden, el par merece investigación adicional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Resumen ejecutivo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828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Hallazgos técnicos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100% de usuarios en componente gigante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Dos capas de influencia: pública (MOONLORD) y oculta (usuario 255)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Top-100 posts = 86% de fidelidad al embedding completo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Atentados de París: único evento con spike confirmado (×1.62)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Par 255+Talleyrand: candidato prioritario a investigación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828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Limitaciones y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286000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Análisis exploratorio: los resultados son leads, no pruebas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Delta en corpus homogéneo tiene menor poder discriminante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Datos de personas reales: manejo mínimamente invasivo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Objetivo defensivo: entender la red, no publicar perfiles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Ground truth valida la metodología, no identifica nuevos actores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aprendemos del caso IronMarch?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La estructura del foro revela la ideología: jerarquía plana + concentración de PMs = liderazgo carismático</a:t>
            </a:r>
          </a:p>
          <a:p>
            <a:r>
              <a:t>Los LLMs locales hacen viable el análisis de contenido sensible sin APIs externas</a:t>
            </a:r>
          </a:p>
          <a:p>
            <a:r>
              <a:t>El muestreo inteligente (top-N por longitud) preserva señal estilométrica a fracción del coste</a:t>
            </a:r>
          </a:p>
          <a:p>
            <a:r>
              <a:t>La convergencia de señales (estilo + tiempo + red) es más robusta que cualquier métrica aislada</a:t>
            </a:r>
          </a:p>
          <a:p>
            <a:r>
              <a:t>Ground truth es raro y valiosísimo: cuando existe, calibra todo el 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