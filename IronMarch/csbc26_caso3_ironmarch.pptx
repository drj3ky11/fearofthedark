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Caso 3 — Iron March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566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B8C0CC"/>
                </a:solidFill>
                <a:latin typeface="Calibri"/>
              </a:rPr>
              <a:t>Análisis forense de un foro de extrema derecha (2011–2017)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754880"/>
            <a:ext cx="3291840" cy="411480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7731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06878"/>
                </a:solidFill>
                <a:latin typeface="Calibri"/>
              </a:rPr>
              <a:t>CSBC26 · Análisis de Leaks Underground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09360"/>
            <a:ext cx="10515600" cy="45720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73152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0" b="1">
                <a:solidFill>
                  <a:srgbClr val="252545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94E4E"/>
                </a:solidFill>
                <a:latin typeface="Calibri"/>
              </a:rPr>
              <a:t>SECCIÓN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Dataset y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8C0CC"/>
                </a:solidFill>
                <a:latin typeface="Calibri"/>
              </a:rPr>
              <a:t>¿Qué es Iron March y qué datos tenemos?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Iron March — ¿qué fue?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Foro fundado en 2011 por Alexander Slavros (MOONLORD), cerrado en noviembre de 2017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Punto de encuentro del fascismo internacional online: neo-nazismo, aceleracionismo, Evola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Miembros vinculados a grupos terroristas: Atomwaffen Division, The Base, SIEGE culture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Leak: noviembre 2019 — dump SQL completo filtrado por un tercero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Ground truth disponible: fundador doxxeado, miembros identificados en causas judiciales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Estructura del dataset (IPS 4.x)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515600" cy="43891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85880"/>
            <a:ext cx="341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Tabla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99560" y="1385880"/>
            <a:ext cx="341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Registros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4760" y="1385880"/>
            <a:ext cx="341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Descripción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64792"/>
            <a:ext cx="10515600" cy="438912"/>
          </a:xfrm>
          <a:prstGeom prst="rect">
            <a:avLst/>
          </a:prstGeom>
          <a:solidFill>
            <a:srgbClr val="2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14792"/>
            <a:ext cx="341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core_members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99560" y="1814792"/>
            <a:ext cx="341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~18,000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4760" y="1814792"/>
            <a:ext cx="341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Usuarios registrados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03704"/>
            <a:ext cx="10515600" cy="438912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253704"/>
            <a:ext cx="341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forums_posts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9560" y="2253704"/>
            <a:ext cx="341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~194,000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04760" y="2253704"/>
            <a:ext cx="341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Posts públicos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642616"/>
            <a:ext cx="10515600" cy="438912"/>
          </a:xfrm>
          <a:prstGeom prst="rect">
            <a:avLst/>
          </a:prstGeom>
          <a:solidFill>
            <a:srgbClr val="2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692616"/>
            <a:ext cx="341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forums_threads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99560" y="2692616"/>
            <a:ext cx="341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~14,000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04760" y="2692616"/>
            <a:ext cx="341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Hilos de discusión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081528"/>
            <a:ext cx="10515600" cy="438912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131528"/>
            <a:ext cx="341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forums_forums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99560" y="3131528"/>
            <a:ext cx="341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~138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04760" y="3131528"/>
            <a:ext cx="341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Subforos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520440"/>
            <a:ext cx="10515600" cy="438912"/>
          </a:xfrm>
          <a:prstGeom prst="rect">
            <a:avLst/>
          </a:prstGeom>
          <a:solidFill>
            <a:srgbClr val="2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570440"/>
            <a:ext cx="341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core_message_posts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99560" y="3570440"/>
            <a:ext cx="341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~55,000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04760" y="3570440"/>
            <a:ext cx="341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Mensajes privados (PMs) — infrecuente en leaks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878"/>
                </a:solidFill>
                <a:latin typeface="Calibri"/>
              </a:rPr>
              <a:t>ℹ  Parser: IPS 4.x. Tablas sin prefijo. Columna discriminante: member_id en core_members.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Por qué es excepcional este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Ground truth real: podemos validar el análisis computacional contra hechos verificados</a:t>
            </a:r>
          </a:p>
          <a:p>
            <a:pPr lvl="1" algn="l" marL="274320" indent="-228600"/>
            <a:r>
              <a:rPr sz="1700" b="0">
                <a:solidFill>
                  <a:srgbClr val="606878"/>
                </a:solidFill>
                <a:latin typeface="Calibri"/>
              </a:rPr>
              <a:t>·  MOONLORD = Alexander Slavros: doxxeado, fundador confirmado, IP rusa</a:t>
            </a:r>
          </a:p>
          <a:p>
            <a:pPr lvl="1" algn="l" marL="274320" indent="-228600"/>
            <a:r>
              <a:rPr sz="1700" b="0">
                <a:solidFill>
                  <a:srgbClr val="606878"/>
                </a:solidFill>
                <a:latin typeface="Calibri"/>
              </a:rPr>
              <a:t>·  Usuario 255 (userid=0): cuenta admin con 53% del betweenness en PMs</a:t>
            </a:r>
          </a:p>
          <a:p>
            <a:pPr lvl="1" algn="l" marL="274320" indent="-228600"/>
            <a:r>
              <a:rPr sz="1700" b="0">
                <a:solidFill>
                  <a:srgbClr val="606878"/>
                </a:solidFill>
                <a:latin typeface="Calibri"/>
              </a:rPr>
              <a:t>·  Miembros identificados en casos judiciales en EEUU, Europa y Australia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Dato infrecuente: 55K mensajes privados intactos → red de influencia oculta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Cierre documentado: el servidor fue confiscado, no abandonado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73152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0" b="1">
                <a:solidFill>
                  <a:srgbClr val="252545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94E4E"/>
                </a:solidFill>
                <a:latin typeface="Calibri"/>
              </a:rPr>
              <a:t>SECCIÓN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Exploración y red de influencia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8C0CC"/>
                </a:solidFill>
                <a:latin typeface="Calibri"/>
              </a:rPr>
              <a:t>Notebook 00 + estructura de red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EDA — primeras métricas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836 usuarios activos (≥5 posts) sobre ~18K registros → foro pequeño y denso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157,779 posts válidos tras limpieza: media de 189 posts/usuario activo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Actividad: 2011–2017. Pico en 2015 (atentados de París) → +62% baseline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138 subforos activos, pero concentración alta: top-5 generan el 60% del tráfico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Idioma: inglés (verificado por detección automática) → pipeline estándar válido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Dos redes, dos capas de influencia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94E4E"/>
                </a:solidFill>
                <a:latin typeface="Calibri"/>
              </a:rPr>
              <a:t>Red pública (co-participación en threads)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B8C0CC"/>
                </a:solidFill>
                <a:latin typeface="Calibri"/>
              </a:rPr>
              <a:t>▸  836 nodos, 100% en componente gigante</a:t>
            </a:r>
          </a:p>
          <a:p>
            <a:r>
              <a:rPr sz="1800">
                <a:solidFill>
                  <a:srgbClr val="B8C0CC"/>
                </a:solidFill>
                <a:latin typeface="Calibri"/>
              </a:rPr>
              <a:t>▸  Broker principal: MOONLORD (Slavros)</a:t>
            </a:r>
          </a:p>
          <a:p>
            <a:r>
              <a:rPr sz="1800">
                <a:solidFill>
                  <a:srgbClr val="B8C0CC"/>
                </a:solidFill>
                <a:latin typeface="Calibri"/>
              </a:rPr>
              <a:t>▸  Estructura de hub-and-spoke: el fundador conecta grupos ideológicos</a:t>
            </a:r>
          </a:p>
          <a:p>
            <a:r>
              <a:rPr sz="1800">
                <a:solidFill>
                  <a:srgbClr val="B8C0CC"/>
                </a:solidFill>
                <a:latin typeface="Calibri"/>
              </a:rPr>
              <a:t>▸  Hilos filosóficos (Evola, Spengler) concentran el betweenness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716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94E4E"/>
                </a:solidFill>
                <a:latin typeface="Calibri"/>
              </a:rPr>
              <a:t>Red privada (mensajes privados)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9202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B8C0CC"/>
                </a:solidFill>
                <a:latin typeface="Calibri"/>
              </a:rPr>
              <a:t>▸  55K PMs — dato rarísimo en leaks de foros</a:t>
            </a:r>
          </a:p>
          <a:p>
            <a:r>
              <a:rPr sz="1800">
                <a:solidFill>
                  <a:srgbClr val="B8C0CC"/>
                </a:solidFill>
                <a:latin typeface="Calibri"/>
              </a:rPr>
              <a:t>▸  Broker principal: usuario 255 (userid=0, admin)</a:t>
            </a:r>
          </a:p>
          <a:p>
            <a:r>
              <a:rPr sz="1800">
                <a:solidFill>
                  <a:srgbClr val="B8C0CC"/>
                </a:solidFill>
                <a:latin typeface="Calibri"/>
              </a:rPr>
              <a:t>▸  53% del betweenness en la red privada</a:t>
            </a:r>
          </a:p>
          <a:p>
            <a:r>
              <a:rPr sz="1800">
                <a:solidFill>
                  <a:srgbClr val="B8C0CC"/>
                </a:solidFill>
                <a:latin typeface="Calibri"/>
              </a:rPr>
              <a:t>▸  Los brokers públicos y privados NO coinciden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Detección de idioma — paso obligatorio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Burrows' Delta, NER y BERTopic son idioma-específicos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Sin verificación previa, aplicar el pipeline inglés a texto ruso produce ruido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Resultado IronMarch: &gt;95% inglés → pipeline estándar válido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La misma metodología aplicada a un foro en ruso requeriría un pipeline distinto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Regla general: detectar idioma ANTES de cualquier modelo NLP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4E4E"/>
                </a:solidFill>
                <a:latin typeface="Calibri"/>
              </a:rPr>
              <a:t>DEMO EN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Demo — red de co-participación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06878"/>
                </a:solidFill>
                <a:latin typeface="Calibri"/>
              </a:rPr>
              <a:t>IronMarch/00_extract_and_explore.ipynb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B8C0CC"/>
                </a:solidFill>
                <a:latin typeface="Calibri"/>
              </a:rPr>
              <a:t>1.  Abrir notebook 00_extract_and_explore</a:t>
            </a:r>
          </a:p>
          <a:p>
            <a:r>
              <a:rPr sz="1900">
                <a:solidFill>
                  <a:srgbClr val="B8C0CC"/>
                </a:solidFill>
                <a:latin typeface="Calibri"/>
              </a:rPr>
              <a:t>2.  Ejecutar sección 3: grafo usuario↔usuario por threads compartidos</a:t>
            </a:r>
          </a:p>
          <a:p>
            <a:r>
              <a:rPr sz="1900">
                <a:solidFill>
                  <a:srgbClr val="B8C0CC"/>
                </a:solidFill>
                <a:latin typeface="Calibri"/>
              </a:rPr>
              <a:t>3.  Visualización Plotly interactiva: top-150 nodos por degree</a:t>
            </a:r>
          </a:p>
          <a:p>
            <a:r>
              <a:rPr sz="1900">
                <a:solidFill>
                  <a:srgbClr val="B8C0CC"/>
                </a:solidFill>
                <a:latin typeface="Calibri"/>
              </a:rPr>
              <a:t>4.  Comparar con sección 4: red de PMs — ¿los mismos brokers?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73152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0" b="1">
                <a:solidFill>
                  <a:srgbClr val="252545"/>
                </a:solidFill>
                <a:latin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94E4E"/>
                </a:solidFill>
                <a:latin typeface="Calibri"/>
              </a:rPr>
              <a:t>SECCIÓN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Análisis con LLM local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8C0CC"/>
                </a:solidFill>
                <a:latin typeface="Calibri"/>
              </a:rPr>
              <a:t>BERTopic + NER con qwen2.5:14b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BERTopic — descubrimiento de temas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Objetivo: ¿de qué habla el foro sin imponer categorías a priori?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Validación cruzada: comparar topics automáticos vs. subforos reales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Top topics: racismo científico, estética fascista, Evola/Spengler, violencia política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Hallazgo: topics no respetan fronteras de subforos — ideología permea todo el foro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Modelo: sentence-transformers + UMAP + HDBSCAN (sin LLM, rápido y reproducible)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NER con qwen2.5:14b — entidades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Estrategia: top-50 usuarios por volumen, hasta 50 posts por usuario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Tipos de entidad: PERSON, ORG, LOCATION, IDEOLOGY, WEAPON, EVENT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2,515 entidades extraídas en 1,500 posts</a:t>
            </a:r>
          </a:p>
          <a:p>
            <a:pPr lvl="1" algn="l" marL="274320" indent="-228600"/>
            <a:r>
              <a:rPr sz="1700" b="0">
                <a:solidFill>
                  <a:srgbClr val="606878"/>
                </a:solidFill>
                <a:latin typeface="Calibri"/>
              </a:rPr>
              <a:t>·  Hitler: ×28  |  Evola: ×15  |  Golden Dawn: ×10</a:t>
            </a:r>
          </a:p>
          <a:p>
            <a:pPr lvl="1" algn="l" marL="274320" indent="-228600"/>
            <a:r>
              <a:rPr sz="1700" b="0">
                <a:solidFill>
                  <a:srgbClr val="606878"/>
                </a:solidFill>
                <a:latin typeface="Calibri"/>
              </a:rPr>
              <a:t>·  Atomwaffen Division mencionada 3 años antes de su clasificación como terrorista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Presencia de Evola casi al nivel de Hitler: rasgo distintivo vs. otros foros de ultraderecha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Picos de actividad — análisis temporal + topics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Método: z-score semanal sobre serie temporal de posts (umbral: µ + 2σ)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Índice compuesto: volumen × longitud × señales de arousal (CAPS, !)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Atentados de París (nov 2015): ×1.62 baseline → único spike estadístico confirmado</a:t>
            </a:r>
          </a:p>
          <a:p>
            <a:pPr lvl="1" algn="l" marL="274320" indent="-228600"/>
            <a:r>
              <a:rPr sz="1700" b="0">
                <a:solidFill>
                  <a:srgbClr val="606878"/>
                </a:solidFill>
                <a:latin typeface="Calibri"/>
              </a:rPr>
              <a:t>·  Reacción: islamofóbica, no racista — 'paris' ×22, 'refugee' ×16, 'white' baja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Trump 2016: ×1.03 — sin spike. Charlottesville 2017: ×0.96 — el foro ya estaba en declive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Conclusión: la comunidad usó el atentado como munición narrativa anti-inmigración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4E4E"/>
                </a:solidFill>
                <a:latin typeface="Calibri"/>
              </a:rPr>
              <a:t>DEMO EN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Demo — NER y picos de actividad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06878"/>
                </a:solidFill>
                <a:latin typeface="Calibri"/>
              </a:rPr>
              <a:t>IronMarch/02_llm_analysis.ipynb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B8C0CC"/>
                </a:solidFill>
                <a:latin typeface="Calibri"/>
              </a:rPr>
              <a:t>1.  Abrir notebook 02_llm_analysis</a:t>
            </a:r>
          </a:p>
          <a:p>
            <a:r>
              <a:rPr sz="1900">
                <a:solidFill>
                  <a:srgbClr val="B8C0CC"/>
                </a:solidFill>
                <a:latin typeface="Calibri"/>
              </a:rPr>
              <a:t>2.  Sección 2: ejecutar NER sobre top-50 usuarios (checkpoint automático)</a:t>
            </a:r>
          </a:p>
          <a:p>
            <a:r>
              <a:rPr sz="1900">
                <a:solidFill>
                  <a:srgbClr val="B8C0CC"/>
                </a:solidFill>
                <a:latin typeface="Calibri"/>
              </a:rPr>
              <a:t>3.  Sección 3: visualizar picos temporales con z-score</a:t>
            </a:r>
          </a:p>
          <a:p>
            <a:r>
              <a:rPr sz="1900">
                <a:solidFill>
                  <a:srgbClr val="B8C0CC"/>
                </a:solidFill>
                <a:latin typeface="Calibri"/>
              </a:rPr>
              <a:t>4.  Cruzar: ¿qué usuarios están más activos en los picos?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73152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0" b="1">
                <a:solidFill>
                  <a:srgbClr val="252545"/>
                </a:solidFill>
                <a:latin typeface="Calibr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94E4E"/>
                </a:solidFill>
                <a:latin typeface="Calibri"/>
              </a:rPr>
              <a:t>SECCIÓN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Embeddings y estilometría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8C0CC"/>
                </a:solidFill>
                <a:latin typeface="Calibri"/>
              </a:rPr>
              <a:t>qwen3-embedding + Burrows' Delta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Cinco estrategias de embedding por usuario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Pregunta: ¿cuántos posts necesitamos para representar bien a un usuario?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A — embed_users: concatenar TODOS los posts → 1 vector (truncado a 50K chars)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B — centroids full: 1 embedding por post, promedio → referencia (ground truth)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C/D/E — centroids muestreados: top-50/100/150 posts MÁS LARGOS por usuario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Métrica: Spearman ρ entre ranking de similitudes de cada estrategia vs. B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Punto óptimo: D (top-100) → ρ=0.860, 3h 33min vs. ~9h completo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Resultados del experimento de muestreo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515600" cy="43891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85880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Estrategia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97480" y="1385880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Posts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600" y="1385880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Tiempo GPU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1385880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Spearman ρ vs full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1385880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Δρ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764792"/>
            <a:ext cx="10515600" cy="438912"/>
          </a:xfrm>
          <a:prstGeom prst="rect">
            <a:avLst/>
          </a:prstGeom>
          <a:solidFill>
            <a:srgbClr val="2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814792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B — full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1814792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157,779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1814792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~9 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1814792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referencia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1814792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203704"/>
            <a:ext cx="10515600" cy="438912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253704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C — top-50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2253704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≤41,800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2253704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2h 35min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2253704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0.799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2253704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642616"/>
            <a:ext cx="10515600" cy="438912"/>
          </a:xfrm>
          <a:prstGeom prst="rect">
            <a:avLst/>
          </a:prstGeom>
          <a:solidFill>
            <a:srgbClr val="2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2692616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D — top-100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2692616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41,319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2692616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3h 33min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2692616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0.860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2692616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+0.061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081528"/>
            <a:ext cx="10515600" cy="438912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3131528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E — top-150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97480" y="3131528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53,193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3131528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4h 12min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3131528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0.896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6840" y="3131528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+0.036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878"/>
                </a:solidFill>
                <a:latin typeface="Calibri"/>
              </a:rPr>
              <a:t>ℹ  Rendimiento marginal decreciente: C→D (+37min, +6.1ρ) es mejor inversión que D→E (+39min, +3.6ρ).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UMAP + HDBSCAN — estructura del espacio de usuarios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UMAP reduce 4096D → 2D preservando estructura de vecindad local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HDBSCAN detecta clusters densos sin fijar K a priori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Visualización interactiva Plotly: hover = nombre de usuario + cluster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Clusters identificados: grupos ideológicos coherentes (aceleracionistas, nacional-bolcheviques...)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Ruido (cluster -1): usuarios esporádicos sin afiliación ideológica clara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Burrows' Delta — estilometría para sockpuppets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Mide frecuencia relativa de las N palabras más comunes, normalizada por z-score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Delta bajo entre dos usuarios → estilo similar → candidato a misma persona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Corpus IronMarch: top-200 palabras función, top-150 usuarios (≥500 palabras)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Delta medio: 1.08  |  mínimo: 0.46  |  máximo: 2.03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Par más sospechoso: 255 + Talleyrand</a:t>
            </a:r>
          </a:p>
          <a:p>
            <a:pPr lvl="1" algn="l" marL="274320" indent="-228600"/>
            <a:r>
              <a:rPr sz="1700" b="0">
                <a:solidFill>
                  <a:srgbClr val="606878"/>
                </a:solidFill>
                <a:latin typeface="Calibri"/>
              </a:rPr>
              <a:t>·  Delta=0.46, similitud temporal=0.99, Talleyrand: anicot@elon.edu, activo 2011–2014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4E4E"/>
                </a:solidFill>
                <a:latin typeface="Calibri"/>
              </a:rPr>
              <a:t>DEMO EN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Demo — embeddings y Delta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06878"/>
                </a:solidFill>
                <a:latin typeface="Calibri"/>
              </a:rPr>
              <a:t>IronMarch/03_embeddings_profiling.ipynb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B8C0CC"/>
                </a:solidFill>
                <a:latin typeface="Calibri"/>
              </a:rPr>
              <a:t>1.  Abrir notebook 03_embeddings_profiling</a:t>
            </a:r>
          </a:p>
          <a:p>
            <a:r>
              <a:rPr sz="1900">
                <a:solidFill>
                  <a:srgbClr val="B8C0CC"/>
                </a:solidFill>
                <a:latin typeface="Calibri"/>
              </a:rPr>
              <a:t>2.  Sección 1: verificar que las estrategias C/D/E están cacheadas</a:t>
            </a:r>
          </a:p>
          <a:p>
            <a:r>
              <a:rPr sz="1900">
                <a:solidFill>
                  <a:srgbClr val="B8C0CC"/>
                </a:solidFill>
                <a:latin typeface="Calibri"/>
              </a:rPr>
              <a:t>3.  Sección 2: UMAP interactivo → identificar clusters ideológicos</a:t>
            </a:r>
          </a:p>
          <a:p>
            <a:r>
              <a:rPr sz="1900">
                <a:solidFill>
                  <a:srgbClr val="B8C0CC"/>
                </a:solidFill>
                <a:latin typeface="Calibri"/>
              </a:rPr>
              <a:t>4.  Sección 3: heatmap Burrows' Delta → par 255+Talleyrand en esquina inferior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73152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0" b="1">
                <a:solidFill>
                  <a:srgbClr val="252545"/>
                </a:solidFill>
                <a:latin typeface="Calibri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94E4E"/>
                </a:solidFill>
                <a:latin typeface="Calibri"/>
              </a:rPr>
              <a:t>SECCIÓN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Atribución y conclusiones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8C0CC"/>
                </a:solidFill>
                <a:latin typeface="Calibri"/>
              </a:rPr>
              <a:t>Señal combinada + limitaciones éticas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Señal combinada de atribución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Ninguna señal sola es suficiente — se requiere convergencia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Burrows' Delta bajo → mismo estilo de escritura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Similitud temporal alta → mismo horario de actividad → mismo huso horario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Presencia en clusters UMAP cercanos → misma ideología y vocabulario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Co-participación en threads privados (PMs) → relación directa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Regla de tres: si ≥3 señales coinciden, el par merece investigación adicional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Resumen ejecutivo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94E4E"/>
                </a:solidFill>
                <a:latin typeface="Calibri"/>
              </a:rPr>
              <a:t>Hallazgos técnicos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B8C0CC"/>
                </a:solidFill>
                <a:latin typeface="Calibri"/>
              </a:rPr>
              <a:t>▸  100% de usuarios en componente gigante</a:t>
            </a:r>
          </a:p>
          <a:p>
            <a:r>
              <a:rPr sz="1800">
                <a:solidFill>
                  <a:srgbClr val="B8C0CC"/>
                </a:solidFill>
                <a:latin typeface="Calibri"/>
              </a:rPr>
              <a:t>▸  Dos capas de influencia: pública (MOONLORD) y oculta (usuario 255)</a:t>
            </a:r>
          </a:p>
          <a:p>
            <a:r>
              <a:rPr sz="1800">
                <a:solidFill>
                  <a:srgbClr val="B8C0CC"/>
                </a:solidFill>
                <a:latin typeface="Calibri"/>
              </a:rPr>
              <a:t>▸  Top-100 posts = 86% de fidelidad al embedding completo</a:t>
            </a:r>
          </a:p>
          <a:p>
            <a:r>
              <a:rPr sz="1800">
                <a:solidFill>
                  <a:srgbClr val="B8C0CC"/>
                </a:solidFill>
                <a:latin typeface="Calibri"/>
              </a:rPr>
              <a:t>▸  Atentados de París: único evento con spike confirmado (×1.62)</a:t>
            </a:r>
          </a:p>
          <a:p>
            <a:r>
              <a:rPr sz="1800">
                <a:solidFill>
                  <a:srgbClr val="B8C0CC"/>
                </a:solidFill>
                <a:latin typeface="Calibri"/>
              </a:rPr>
              <a:t>▸  Par 255+Talleyrand: candidato prioritario a investigación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716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94E4E"/>
                </a:solidFill>
                <a:latin typeface="Calibri"/>
              </a:rPr>
              <a:t>Limitaciones y ética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9202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B8C0CC"/>
                </a:solidFill>
                <a:latin typeface="Calibri"/>
              </a:rPr>
              <a:t>▸  Análisis exploratorio: los resultados son leads, no pruebas</a:t>
            </a:r>
          </a:p>
          <a:p>
            <a:r>
              <a:rPr sz="1800">
                <a:solidFill>
                  <a:srgbClr val="B8C0CC"/>
                </a:solidFill>
                <a:latin typeface="Calibri"/>
              </a:rPr>
              <a:t>▸  Delta en corpus homogéneo tiene menor poder discriminante</a:t>
            </a:r>
          </a:p>
          <a:p>
            <a:r>
              <a:rPr sz="1800">
                <a:solidFill>
                  <a:srgbClr val="B8C0CC"/>
                </a:solidFill>
                <a:latin typeface="Calibri"/>
              </a:rPr>
              <a:t>▸  Datos de personas reales: manejo mínimamente invasivo</a:t>
            </a:r>
          </a:p>
          <a:p>
            <a:r>
              <a:rPr sz="1800">
                <a:solidFill>
                  <a:srgbClr val="B8C0CC"/>
                </a:solidFill>
                <a:latin typeface="Calibri"/>
              </a:rPr>
              <a:t>▸  Objetivo defensivo: entender la red, no publicar perfiles</a:t>
            </a:r>
          </a:p>
          <a:p>
            <a:r>
              <a:rPr sz="1800">
                <a:solidFill>
                  <a:srgbClr val="B8C0CC"/>
                </a:solidFill>
                <a:latin typeface="Calibri"/>
              </a:rPr>
              <a:t>▸  Ground truth valida la metodología, no identifica nuevos actores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¿Qué aprendemos del caso IronMarch?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La estructura del foro revela la ideología: jerarquía plana + concentración de PMs = liderazgo carismático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Los LLMs locales hacen viable el análisis de contenido sensible sin APIs externas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El muestreo inteligente (top-N por longitud) preserva señal estilométrica a fracción del coste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La convergencia de señales (estilo + tiempo + red) es más robusta que cualquier métrica aislada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Ground truth es raro y valiosísimo: cuando existe, calibra todo el pipeline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