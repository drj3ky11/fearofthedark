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0"/>
  </p:handoutMasterIdLst>
  <p:sldIdLst>
    <p:sldId id="256" r:id="rId9"/>
    <p:sldId id="257" r:id="rId7"/>
    <p:sldId id="258" r:id="rId6"/>
    <p:sldId id="259" r:id="rId5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4075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E21EB7-A449-C9A7-B083-33970A869E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1C30A0-AB18-FF58-1BBF-A835B7EF1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4A67E-5C62-4248-8E27-543754807F34}" type="datetimeFigureOut">
              <a:rPr lang="es-ES" smtClean="0"/>
              <a:t>24/4/26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513B9E-52A1-7905-7509-F51EFE4E4A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B344FA-FDBF-1F60-8936-278AE3F813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0A6A-A667-4942-BEA4-D0EB8CB80A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6975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 — big data aplicado a leaks</a:t>
            </a:r>
          </a:p>
          <a:p>
            <a:r>
              <a:t>Antes de modelar: mirar los datos (volumen, suciedad, patrones)</a:t>
            </a:r>
          </a:p>
          <a:p>
            <a:r>
              <a:t>1h30: estadística, redes sociales, text mining</a:t>
            </a:r>
          </a:p>
          <a:p>
            <a:r>
              <a:t>→ pregunta clave: explorar antes de modelar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de escala</a:t>
            </a:r>
          </a:p>
          <a:p>
            <a:r>
              <a:t>Ojo: no es cómputo distribuido a gran escala ni petabytes</a:t>
            </a:r>
          </a:p>
          <a:p>
            <a:r>
              <a:t>Datos sucios, volumen moderado</a:t>
            </a:r>
          </a:p>
          <a:p>
            <a:r>
              <a:t>→ limpieza y exploración van primero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Expectativa clara: nada de cluster distribuido a gran escala</a:t>
            </a:r>
          </a:p>
          <a:p>
            <a:r>
              <a:t>Problema real = suciedad, no volumen</a:t>
            </a:r>
          </a:p>
          <a:p>
            <a:r>
              <a:t>Explorar la forma primero: power-law es un ejemplo, no un dato aislado (1% usuarios, 80% contenido)</a:t>
            </a:r>
          </a:p>
          <a:p>
            <a:r>
              <a:t>→ regla de oro: explorar forma antes de modelar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Métricas obligatorias, sin excepción</a:t>
            </a:r>
          </a:p>
          <a:p>
            <a:r>
              <a:t>Distribución actividad: casi nunca normal, ver completa</a:t>
            </a:r>
          </a:p>
          <a:p>
            <a:r>
              <a:t>Truco: timezone de timestamps &gt; perfil declarado</a:t>
            </a:r>
          </a:p>
          <a:p>
            <a:r>
              <a:t>Validar rangos: timestamp 1970 = epoch corrupto</a:t>
            </a:r>
          </a:p>
          <a:p>
            <a:r>
              <a:t>→ validar recuentos siempre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Análisis de red social</a:t>
            </a:r>
          </a:p>
          <a:p>
            <a:r>
              <a:t>Idea central: foro = grafo, no solo texto</a:t>
            </a:r>
          </a:p>
          <a:p>
            <a:r>
              <a:t>Cada respuesta = conexión</a:t>
            </a:r>
          </a:p>
          <a:p>
            <a:r>
              <a:t>→ quién manda, quién conecta, quién pasa desapercibido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Grafo básico: respuesta = arista dirigida</a:t>
            </a:r>
          </a:p>
          <a:p>
            <a:r>
              <a:t>Degree centrality: conexiones directas</a:t>
            </a:r>
          </a:p>
          <a:p>
            <a:r>
              <a:t>Betweenness = métrica clave, identifica brokers</a:t>
            </a:r>
          </a:p>
          <a:p>
            <a:r>
              <a:t>Louvain: maximiza modularidad, sin fijar K, fusiones locales iterativas hasta converger</a:t>
            </a:r>
          </a:p>
          <a:p>
            <a:r>
              <a:t>→ speaker note: mostrar animación Louvain en vivo (fuente externa) si hay tiempo, no GIF embebido</a:t>
            </a:r>
          </a:p>
          <a:p>
            <a:r>
              <a:t>→ limitación honesta: muestra 5.000 threads, 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Fácil confundir estas dos redes</a:t>
            </a:r>
          </a:p>
          <a:p>
            <a:r>
              <a:t>Pública: reputación visible, sesgada a activos</a:t>
            </a:r>
          </a:p>
          <a:p>
            <a:r>
              <a:t>Privada: no universal, pero varios leaks del curso sí la incluyen — oro puro, confianza real</a:t>
            </a:r>
          </a:p>
          <a:p>
            <a:r>
              <a:t>→ dato sorprendente: brokers público y privado casi nunca coinciden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paso rápido, no la técnica más potente del bloque</a:t>
            </a:r>
          </a:p>
          <a:p>
            <a:r>
              <a:t>Hipótesis: operadores reutilizan handles/emails</a:t>
            </a:r>
          </a:p>
          <a:p>
            <a:r>
              <a:t>3 pasos: normalizar → matching exacto → fuzzy (rapidfuzz)</a:t>
            </a:r>
          </a:p>
          <a:p>
            <a:r>
              <a:t>Resultado: grafo de identidades cross-plataforma</a:t>
            </a:r>
          </a:p>
          <a:p>
            <a:r>
              <a:t>→ complementario a estilometría (Burrows' Delta) en HackingForums, no la reemplaza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bloque: tiempo y frecuencia</a:t>
            </a:r>
          </a:p>
          <a:p>
            <a:r>
              <a:t>Técnicas infravaloradas</a:t>
            </a:r>
          </a:p>
          <a:p>
            <a:r>
              <a:t>Antes de semántica compleja</a:t>
            </a:r>
          </a:p>
          <a:p>
            <a:r>
              <a:t>→ mucha info en cuándo y qué palabras se repiten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Dimensión más ignorada, pistas rápidas</a:t>
            </a:r>
          </a:p>
          <a:p>
            <a:r>
              <a:t>Patrones horarios → timezone real</a:t>
            </a:r>
          </a:p>
          <a:p>
            <a:r>
              <a:t>Patrones semanales → profesional vs aficionado</a:t>
            </a:r>
          </a:p>
          <a:p>
            <a:r>
              <a:t>Evolución anual → ciclo de vida del foro</a:t>
            </a:r>
          </a:p>
          <a:p>
            <a:r>
              <a:t>→ spikes: z-score, umbral µ+2σ</a:t>
            </a:r>
          </a:p>
          <a:p>
            <a:r>
              <a:t>→ forward-ref: el mismo patrón semanal profesional reaparece en Ransomware como señal de operación profesionalizada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Desmontar mito: no hace falta GPU</a:t>
            </a:r>
          </a:p>
          <a:p>
            <a:r>
              <a:t>TF-IDF = Term Frequency–Inverse Document Frequency: términos discriminantes por foro/periodo</a:t>
            </a:r>
          </a:p>
          <a:p>
            <a:r>
              <a:t>LDA: topic modeling sin etiquetar a mano</a:t>
            </a:r>
          </a:p>
          <a:p>
            <a:r>
              <a:t>Funciona bien con texto ruidoso/jerga (ya vista en D3)</a:t>
            </a:r>
          </a:p>
          <a:p>
            <a:r>
              <a:t>→ limitación crítica: idioma del pipeline debe coincidir (ruso+pipeline inglés = basura)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frecuente: ¿traducir antes de analizar?</a:t>
            </a:r>
          </a:p>
          <a:p>
            <a:r>
              <a:t>Depende de la técnica</a:t>
            </a:r>
          </a:p>
          <a:p>
            <a:r>
              <a:t>TF-IDF/LDA: idioma importa mucho</a:t>
            </a:r>
          </a:p>
          <a:p>
            <a:r>
              <a:t>→ estadística y redes: idioma irrelevante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práctica — notebook demo_bigdata.ipynb (dataset CardingForums)</a:t>
            </a:r>
          </a:p>
          <a:p>
            <a:r>
              <a:t>Cargar datos ya limpios (parquet), sin volver a parsear</a:t>
            </a:r>
          </a:p>
          <a:p>
            <a:r>
              <a:t>Estadística descriptiva + grafo usuario-usuario</a:t>
            </a:r>
          </a:p>
          <a:p>
            <a:r>
              <a:t>→ momento clave: betweenness centrality en vivo</a:t>
            </a:r>
          </a:p>
          <a:p>
            <a:r>
              <a:t>→ cierre: visualización Plotly interactiva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esent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9C55D48E-29CC-44DC-AF42-41191B622C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2860" y="1440430"/>
            <a:ext cx="5029563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5091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secció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1C0BD042-7BE4-41D3-933E-4B59E0E64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914" y="2048608"/>
            <a:ext cx="7174172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sección</a:t>
            </a:r>
          </a:p>
        </p:txBody>
      </p:sp>
    </p:spTree>
    <p:extLst>
      <p:ext uri="{BB962C8B-B14F-4D97-AF65-F5344CB8AC3E}">
        <p14:creationId xmlns:p14="http://schemas.microsoft.com/office/powerpoint/2010/main" val="29802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7" y="77846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ÍNDICE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8F17752-9230-46BD-B02B-330D1C9AB7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5582"/>
            <a:ext cx="10071652" cy="39811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3"/>
              </a:buBlip>
              <a:defRPr sz="28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465461"/>
              </a:buClr>
              <a:buFontTx/>
              <a:buBlip>
                <a:blip r:embed="rId4"/>
              </a:buBlip>
              <a:defRPr sz="2400" b="0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 r:embed="rId5"/>
              </a:buBlip>
              <a:defRPr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s-ES" dirty="0"/>
              <a:t>01. Título</a:t>
            </a:r>
          </a:p>
          <a:p>
            <a:pPr lvl="1"/>
            <a:r>
              <a:rPr lang="es-ES" dirty="0"/>
              <a:t>01.1. Subtítulo</a:t>
            </a:r>
          </a:p>
          <a:p>
            <a:pPr lvl="2"/>
            <a:r>
              <a:rPr lang="es-ES" dirty="0"/>
              <a:t>01.1.1. Subtítulo 2</a:t>
            </a:r>
          </a:p>
          <a:p>
            <a:pPr lvl="0"/>
            <a:r>
              <a:rPr lang="es-ES" dirty="0"/>
              <a:t>02. Esta diapositiva puede llevar imagen de fondo o no.</a:t>
            </a:r>
          </a:p>
        </p:txBody>
      </p:sp>
    </p:spTree>
    <p:extLst>
      <p:ext uri="{BB962C8B-B14F-4D97-AF65-F5344CB8AC3E}">
        <p14:creationId xmlns:p14="http://schemas.microsoft.com/office/powerpoint/2010/main" val="150555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195539"/>
            <a:ext cx="10058400" cy="34034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2871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4053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9"/>
            <a:ext cx="6467061" cy="3262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1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2308079"/>
            <a:ext cx="3225925" cy="32627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5240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2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3"/>
            <a:ext cx="3591339" cy="32908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5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2308073"/>
            <a:ext cx="5738191" cy="329086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502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2213517"/>
            <a:ext cx="6453809" cy="338542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2213518"/>
            <a:ext cx="3225925" cy="338542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D3E1EB6-CB68-4AD5-A0BA-9B5DE1C02A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6592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9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2213523"/>
            <a:ext cx="10084904" cy="33713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2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0007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0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2830782-65CF-4B35-B7AD-2DCDE86A9C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7563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AB954431-C521-4129-ACDE-549CF6B556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568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43308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481395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3"/>
            <a:ext cx="10058400" cy="38098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477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5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2"/>
            <a:ext cx="6453809" cy="38238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1746932"/>
            <a:ext cx="3225925" cy="382387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433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577415"/>
            <a:ext cx="3591339" cy="39933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1577414"/>
            <a:ext cx="5738191" cy="399339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48481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4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1767845"/>
            <a:ext cx="6453809" cy="38170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1767845"/>
            <a:ext cx="3225925" cy="381702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693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4656"/>
            <a:ext cx="10084904" cy="40102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</p:spTree>
    <p:extLst>
      <p:ext uri="{BB962C8B-B14F-4D97-AF65-F5344CB8AC3E}">
        <p14:creationId xmlns:p14="http://schemas.microsoft.com/office/powerpoint/2010/main" val="85586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2BBD0A9D-1BFD-A053-6A15-CE05D9D928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0378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3D92F3C-706C-DDDB-E34C-F1A36AD82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8383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56697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2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1" r:id="rId3"/>
    <p:sldLayoutId id="2147483662" r:id="rId4"/>
    <p:sldLayoutId id="2147483663" r:id="rId5"/>
    <p:sldLayoutId id="2147483665" r:id="rId6"/>
    <p:sldLayoutId id="2147483667" r:id="rId7"/>
    <p:sldLayoutId id="2147483669" r:id="rId8"/>
    <p:sldLayoutId id="2147483670" r:id="rId9"/>
    <p:sldLayoutId id="2147483650" r:id="rId10"/>
    <p:sldLayoutId id="2147483660" r:id="rId11"/>
    <p:sldLayoutId id="2147483666" r:id="rId12"/>
    <p:sldLayoutId id="2147483664" r:id="rId13"/>
    <p:sldLayoutId id="2147483668" r:id="rId14"/>
    <p:sldLayoutId id="2147483671" r:id="rId15"/>
    <p:sldLayoutId id="214748365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Técnicas de análisis: Big Data</a:t>
            </a:r>
          </a:p>
          <a:p>
            <a:r>
              <a:rPr sz="1800">
                <a:solidFill>
                  <a:srgbClr val="D6DAE2"/>
                </a:solidFill>
                <a:latin typeface="Arial"/>
              </a:rPr>
              <a:t>Explorar antes de modelar — estadística, redes y text mining</a:t>
            </a:r>
          </a:p>
          <a:p>
            <a:r>
              <a:rPr sz="1200" b="1">
                <a:solidFill>
                  <a:srgbClr val="9AA3B5"/>
                </a:solidFill>
                <a:latin typeface="Arial"/>
              </a:rPr>
              <a:t>CSBC26 · Bloque 1 · 1h 30min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1</a:t>
            </a:r>
          </a:p>
          <a:p>
            <a:pPr algn="ctr"/>
            <a:r>
              <a:t>El problema de escala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Datos sucios en volúmenes moderados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¿Qué significa 'big data' en este contexto?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No es un cluster distribuido a gran escala: millones de registros, no billones</a:t>
            </a:r>
          </a:p>
          <a:p>
            <a:r>
              <a:t>El problema real: datos sucios, schemas inconsistentes, duplicados, texto multilingüe (slang, leetspeak)</a:t>
            </a:r>
          </a:p>
          <a:p>
            <a:r>
              <a:t>Primero explorar, luego analizar — entender la forma del dataset antes de medirlo</a:t>
            </a:r>
          </a:p>
          <a:p>
            <a:r>
              <a:t>Ejemplo de esa forma: la curva power-law es universal en foros — el 1% de usuarios genera el 80% del contenido</a:t>
            </a:r>
          </a:p>
          <a:p>
            <a:r>
              <a:t>Un usuario con 1 post puede ser más relevante que uno con 10.000 si el post es crítico</a:t>
            </a:r>
          </a:p>
          <a:p>
            <a:r>
              <a:t>Regla de oro: entender la forma del dataset antes de aplicar cualquier modelo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Estadística descriptiva — métricas básicas obligatorias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Distribución de usuarios por actividad: siempre power-law, siempre asimétrica</a:t>
            </a:r>
          </a:p>
          <a:p>
            <a:r>
              <a:t>Evolución temporal: cuándo creció el foro, cuándo murió, qué eventos marcaron inflexiones</a:t>
            </a:r>
          </a:p>
          <a:p>
            <a:r>
              <a:t>Distribución geográfica: inferida por timezone de los timestamps (no por lo que declara el usuario)</a:t>
            </a:r>
          </a:p>
          <a:p>
            <a:r>
              <a:t>Densidad de contenido: ratio posts/usuario, longitud media, varianza</a:t>
            </a:r>
          </a:p>
          <a:p>
            <a:r>
              <a:t>Siempre validar rangos: timestamps en 1970 = epoch-0 corrupto, no datos de los 70</a:t>
            </a:r>
          </a:p>
          <a:p>
            <a:r>
              <a:t>Siempre validar recuentos: ¿cuántos usuarios esperabas? ¿cuántos cargaste?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2</a:t>
            </a:r>
          </a:p>
          <a:p>
            <a:pPr algn="ctr"/>
            <a:r>
              <a:t>Análisis de red social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Grafos: la técnica estructural central de este bloque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Grafos de interacción — la estructura oculta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Cada respuesta en un hilo es una arista dirigida entre dos usuarios</a:t>
            </a:r>
          </a:p>
          <a:p>
            <a:r>
              <a:t>Degree centrality: quién tiene más conexiones directas</a:t>
            </a:r>
          </a:p>
          <a:p>
            <a:r>
              <a:t>Betweenness centrality: quién actúa de puente entre subgrupos (los brokers)</a:t>
            </a:r>
          </a:p>
          <a:p>
            <a:r>
              <a:t>Louvain: agrupa nodos maximizando modularidad, sin fijar K, por fusiones locales iterativas</a:t>
            </a:r>
          </a:p>
          <a:p>
            <a:r>
              <a:t>NetworkX + Plotly para visualización interactiva sin servidor externo</a:t>
            </a:r>
          </a:p>
          <a:p>
            <a:r>
              <a:t>Limitación práctica: muestra de 5.000 threads para grafos manejables en 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Dos tipos de red en un mismo foro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Red pública (hilos y posts)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889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Conexiones visibles a todos los miembros del foro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Refleja influencia pública y reputación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Broker: el usuario más citado/respondido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Sesgada hacia los usuarios más activos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Red privada (mensajes privados)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889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Conexiones no visibles — solo aparece si el leak los incluye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Refleja confianza real entre actores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Broker privado ≠ broker público (casi siempre)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Cuando está disponible, es el dato más valioso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Pivoting de identidades — primer paso, complementario a la estilometría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3220576"/>
            <a:ext cx="10084904" cy="2364298"/>
          </a:xfrm>
        </p:spPr>
        <p:txBody>
          <a:bodyPr wrap="square"/>
          <a:lstStyle/>
          <a:p>
            <a:r>
              <a:t>Hipótesis: los operadores reutilizan handles, emails y patrones de comportamiento</a:t>
            </a:r>
          </a:p>
          <a:p>
            <a:r>
              <a:t>Paso 1: normalizar identidades (lowercase, eliminar variaciones comunes)</a:t>
            </a:r>
          </a:p>
          <a:p>
            <a:r>
              <a:t>Paso 2: matching exacto → matches de alta confianza sin falsos positivos</a:t>
            </a:r>
          </a:p>
          <a:p>
            <a:r>
              <a:t>Paso 3: fuzzy matching (rapidfuzz, threshold ≥85%) → variaciones deliberadas</a:t>
            </a:r>
          </a:p>
          <a:p>
            <a:r>
              <a:t>Resultado: grafo de identidades donde un nodo es el mismo actor en N plataformas</a:t>
            </a:r>
          </a:p>
          <a:p>
            <a:r>
              <a:t>Pivoting manual, rápido y preparatorio — la confirmación fuerte llega con estilometría (Burrows' Delta, caso HackingForums)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3</a:t>
            </a:r>
          </a:p>
          <a:p>
            <a:pPr algn="ctr"/>
            <a:r>
              <a:t>Análisis temporal y text mining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Tiempo y frecuencia antes de semántica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Análisis temporal — la dimensión más ignorada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Patrones horarios: revelan timezone real independientemente de lo que declara el usuario</a:t>
            </a:r>
          </a:p>
          <a:p>
            <a:r>
              <a:t>Patrones semanales: diferencia profesionales (horario laboral) de aficionados</a:t>
            </a:r>
          </a:p>
          <a:p>
            <a:r>
              <a:t>Evolución anual: ciclo de vida del foro — crecimiento, madurez, declive tras arrests</a:t>
            </a:r>
          </a:p>
          <a:p>
            <a:r>
              <a:t>Detección de spikes: z-score sobre series temporales (umbral: µ + 2σ)</a:t>
            </a:r>
          </a:p>
          <a:p>
            <a:r>
              <a:t>Correlación con eventos externos: arrestos, operaciones policiales, filtraciones competidoras</a:t>
            </a:r>
          </a:p>
          <a:p>
            <a:r>
              <a:t>El cuándo a veces importa tanto como el qué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Text mining clásico — rápido y sin GPU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TF-IDF (Term Frequency – Inverse Document Frequency): términos más discriminantes por foro, período o subgrupo</a:t>
            </a:r>
          </a:p>
          <a:p>
            <a:r>
              <a:t>LDA (Latent Dirichlet Allocation): topic modeling sin etiquetar nada manualmente</a:t>
            </a:r>
          </a:p>
          <a:p>
            <a:r>
              <a:t>Sin GPU, sin modelos grandes — estadística pura sobre frecuencias de tokens</a:t>
            </a:r>
          </a:p>
          <a:p>
            <a:r>
              <a:t>Funciona bien incluso con texto ruidoso, jerga (ya vista) y abreviaciones</a:t>
            </a:r>
          </a:p>
          <a:p>
            <a:r>
              <a:t>Limitación crítica: requiere que stopwords y tokenización soporten el idioma del texto</a:t>
            </a:r>
          </a:p>
          <a:p>
            <a:r>
              <a:t>Texto en ruso con pipeline inglés → las stopwords no se eliminan → resultado basura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Idioma original vs. traducción — cuándo importa en Big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788920"/>
          <a:ext cx="100584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Técnica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Original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Traducción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Por qué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TF-IDF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 si hay stopwords del idioma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 si no hay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Las stopwords en inglés no eliminan preposiciones rusas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LDA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 con tokenización correcta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Aceptable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Sin tokenizador multilingüe, los topics son ruido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Estadística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 siempre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No necesaria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Longitud, fechas, recuentos no dependen del idioma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Red social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 siempre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No necesaria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Las aristas del grafo son independientes del idioma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EDA y análisis de red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bloque1_bigdata/demo_bigdata.ipynb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Cargar datos ya limpios con pd.read_parquet() — sin volver a parsear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Estadística descriptiva: distribución de usuarios, posts por fecha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Construir grafo usuario↔usuario desde threads compartidos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Calcular betweenness centrality → identificar brokers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5.  Visualización Plotly interactiva: top-N nodos por degree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8A314A4-8185-4B55-A7CC-3A7CEDA94EDA}" vid="{7ECAA45A-5413-4556-941F-0D1EE0EF77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05317-1252-447c-bd21-893b663df9a8">
      <Terms xmlns="http://schemas.microsoft.com/office/infopath/2007/PartnerControls"/>
    </lcf76f155ced4ddcb4097134ff3c332f>
    <TaxCatchAll xmlns="82e8a8cd-2885-4bb5-8083-20f3ed61e7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98B10A8FC55C4B8C984524186865FF" ma:contentTypeVersion="11" ma:contentTypeDescription="Crear nuevo documento." ma:contentTypeScope="" ma:versionID="61ecef6567a032f588d7b796b0096457">
  <xsd:schema xmlns:xsd="http://www.w3.org/2001/XMLSchema" xmlns:xs="http://www.w3.org/2001/XMLSchema" xmlns:p="http://schemas.microsoft.com/office/2006/metadata/properties" xmlns:ns2="91505317-1252-447c-bd21-893b663df9a8" xmlns:ns3="82e8a8cd-2885-4bb5-8083-20f3ed61e7f2" targetNamespace="http://schemas.microsoft.com/office/2006/metadata/properties" ma:root="true" ma:fieldsID="3acf16c84cbe939f4efc210e3967d453" ns2:_="" ns3:_="">
    <xsd:import namespace="91505317-1252-447c-bd21-893b663df9a8"/>
    <xsd:import namespace="82e8a8cd-2885-4bb5-8083-20f3ed61e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05317-1252-447c-bd21-893b663df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8a8cd-2885-4bb5-8083-20f3ed61e7f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23810e-d2cb-40f5-8814-ec88b3cf0e80}" ma:internalName="TaxCatchAll" ma:showField="CatchAllData" ma:web="82e8a8cd-2885-4bb5-8083-20f3ed61e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40DA36-330E-4724-B0DD-2D2DF8C87B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D3338C-90C1-4611-94F3-1777FF5BD484}">
  <ds:schemaRefs>
    <ds:schemaRef ds:uri="http://schemas.microsoft.com/office/2006/metadata/properties"/>
    <ds:schemaRef ds:uri="http://schemas.microsoft.com/office/infopath/2007/PartnerControls"/>
    <ds:schemaRef ds:uri="91505317-1252-447c-bd21-893b663df9a8"/>
    <ds:schemaRef ds:uri="82e8a8cd-2885-4bb5-8083-20f3ed61e7f2"/>
  </ds:schemaRefs>
</ds:datastoreItem>
</file>

<file path=customXml/itemProps3.xml><?xml version="1.0" encoding="utf-8"?>
<ds:datastoreItem xmlns:ds="http://schemas.openxmlformats.org/officeDocument/2006/customXml" ds:itemID="{212D29BC-2FDC-48FD-AB0D-B3A0D33AA8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05317-1252-447c-bd21-893b663df9a8"/>
    <ds:schemaRef ds:uri="82e8a8cd-2885-4bb5-8083-20f3ed61e7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PresentaciónCyberSBC2023_esp</Template>
  <TotalTime>89</TotalTime>
  <Words>0</Words>
  <Application>Microsoft Macintosh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Marta Torralbo Calero</dc:creator>
  <cp:lastModifiedBy>Lozano, Maria</cp:lastModifiedBy>
  <cp:revision>4</cp:revision>
  <dcterms:created xsi:type="dcterms:W3CDTF">2024-03-27T14:17:30Z</dcterms:created>
  <dcterms:modified xsi:type="dcterms:W3CDTF">2026-04-24T15:58:42Z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0x0101006C98B10A8FC55C4B8C984524186865FF</vt:lpwstr>
  </property>
</Properties>
</file>