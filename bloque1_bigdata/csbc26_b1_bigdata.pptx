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Bienvenidos a este bloque sobre big data aplicado a leaks. Antes de sacar conclusiones o entrenar cualquier modelo, hay que aprender a mirar los datos: cuánto volumen tenemos, cómo de sucio está y qué patrones estadísticos y de red esconde. En la próxima hora y media vamos a ver estadística descriptiva, análisis de redes sociales y text mining clásico, todo aplicado a foros reales de carding y hacking. La pregunta que quiero que se lleven: ¿por qué explorar antes de modelar nos ahorra errores caros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Empezamos por el problema de escala. Ojo: cuando hablo de big data aquí no me refiero a Hadoop ni a petabytes, sino a datos sucios en volúmenes moderados que igual nos obligan a pensar con cabeza estadística. Vamos a ver por qué la limpieza y la exploración van antes que cualquier análisis sofisticado.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dejar clara una expectativa desde el principio: aquí no vamos a montar un cluster Hadoop, hablamos de millones de registros manejables en una máquina normal. El problema real no es el volumen, es la suciedad: schemas inconsistentes, duplicados, texto en varios idiomas. Fíjense en la power-law: en casi todos los foros que analizamos, un 1% de usuarios genera el 80% del contenido, esto cambia completamente cómo hay que interpretar cualquier métrica agregada. Por eso la regla de oro es explorar la forma del dataset antes de aplicar ningún modelo; si se saltan este paso, van a sacar conclusiones equivocadas sin darse cuenta.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métricas que yo pido siempre, sin excepción, antes de tocar nada más sofisticado. La distribución de actividad por usuario casi nunca es normal, es asimétrica, así que la media sola no dice nada, necesitan ver la distribución completa. Un truco importante: la zona horaria de los timestamps nos da pistas geográficas más fiables que lo que el propio usuario declara en su perfil. Y por favor, validen siempre los rangos: si ven timestamps en 1970, no es que el foro tenga 50 años, es un epoch corrupto en cero. Validar recuentos también es clave, si esperaban 10.000 usuarios y cargaron 200, algo falló en la ingesta.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Pasamos a redes sociales. La idea central de esta sección es simple pero potente: un foro no es solo texto, es un grafo. Cada respuesta es una conexión entre personas, y esas conexiones nos dicen quién manda, quién conecta grupos y quién pasa desapercibido pese a ser clave.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construimos el grafo más básico: cada respuesta en un hilo es una arista dirigida entre dos usuarios. Con eso ya podemos calcular degree centrality, que nos dice quién tiene más conexiones directas, pero la métrica que de verdad me interesa es betweenness centrality, porque identifica a los brokers, los que conectan subgrupos que si no estarían aislados. Usamos Louvain para detectar comunidades sin tener que decidir a mano cuántos grupos buscar, y todo esto se visualiza con NetworkX y Plotly sin depender de ningún servidor externo. Eso sí, sean honestos con la limitación: trabajamos con una muestra de 5.000 threads porque un grafo completo no entra en RAM de forma razonable.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que noten la diferencia entre estas dos redes porque es fácil confundirlas. La red pública, la de hilos y posts, refleja reputación visible, pero está sesgada hacia los usuarios más activos y ruidosos. La red privada, la de mensajes directos, es muchísimo más rara de encontrar en un leak, pero cuando aparece es oro puro porque refleja confianza real entre actores. Y este es el dato que más sorprende a los alumnos: el broker de la red pública casi nunca coincide con el broker de la red privada.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para mí, el análisis más potente de todo el bloque. Partimos de una hipótesis razonable: los operadores reutilizan handles, correos y patrones de comportamiento entre plataformas, aunque intenten disimularlo. El proceso tiene tres pasos: primero normalizamos identidades, después aplicamos matching exacto para quedarnos con coincidencias de alta confianza, y por último fuzzy matching con rapidfuzz para cazar variaciones deliberadas. El resultado final es un grafo de identidades donde un mismo nodo puede representar al mismo actor en varias plataformas distintas, esto es la base de cualquier investigación cross-foro seria.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el bloque con dos técnicas que suelen infravalorarse: el tiempo y la frecuencia de palabras. Antes de meterse en semántica compleja, hay muchísima información en cuándo se escribió algo y qué palabras se repiten.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tiempo es la dimensión que más se ignora y la que más rápido da pistas. Los patrones horarios revelan la zona horaria real de alguien, sin importar lo que diga su perfil. Los patrones semanales son útiles para distinguir a un profesional, que suele operar en horario laboral, de un aficionado que postea a cualquier hora. Y si miran la evolución anual, van a ver el ciclo de vida completo del foro: crecimiento, madurez y declive, muchas veces justo después de un arresto. Para detectar picos anómalos usamos z-score sobre la serie temporal, con un umbral de media más dos desviaciones estándar.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quiero desmontar un mito: no hace falta GPU ni modelos gigantes para sacar información valiosa de texto. Con TF-IDF identificamos los términos más discriminantes por foro o por periodo, y con LDA hacemos topic modeling sin etiquetar nada a mano. Funciona sorprendentemente bien incluso con texto ruidoso y lleno de slang. Pero hay una limitación crítica que quiero que quede clara: si el pipeline de stopwords y tokenización no soporta el idioma del texto, el resultado es basura, texto en ruso con un pipeline en inglés simplemente no va a funcionar.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una pregunta que me hacen mucho: ¿traduzco el texto antes de analizarlo o no? La respuesta depende de la técnica. Para TF-IDF y LDA el idioma importa muchísimo, porque las stopwords en inglés no eliminan preposiciones rusas y sin tokenización correcta los topics salen ruido puro. En cambio, para estadística pura y para análisis de redes el idioma es irrelevante: las fechas, los recuentos y las aristas del grafo no dependen de en qué lengua esté escrito el post.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 ahora a la parte práctica con el notebook de CardingForums. Vamos a cargar el dataset con auto-detección de formato, sacar la estadística descriptiva básica y luego construir el grafo usuario a usuario a partir de threads compartidos. El momento clave de la demo es cuando calculemos betweenness centrality y veamos en vivo quiénes son los brokers reales del foro. Cerramos con una visualización interactiva en Plotly de los nodos con mayor grado de conexión.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1645920"/>
          </a:xfrm>
          <a:prstGeom prst="rect">
            <a:avLst/>
          </a:prstGeom>
          <a:noFill/>
        </p:spPr>
        <p:txBody>
          <a:bodyPr wrap="square">
            <a:spAutoFit/>
          </a:bodyPr>
          <a:lstStyle/>
          <a:p>
            <a:pPr algn="l"/>
            <a:r>
              <a:rPr sz="4400" b="1">
                <a:solidFill>
                  <a:srgbClr val="FFFFFF"/>
                </a:solidFill>
                <a:latin typeface="Calibri"/>
              </a:rPr>
              <a:t>Técnicas de análisis: Big Data</a:t>
            </a:r>
          </a:p>
        </p:txBody>
      </p:sp>
      <p:sp>
        <p:nvSpPr>
          <p:cNvPr id="4" name="TextBox 3"/>
          <p:cNvSpPr txBox="1"/>
          <p:nvPr/>
        </p:nvSpPr>
        <p:spPr>
          <a:xfrm>
            <a:off x="548640" y="3566160"/>
            <a:ext cx="10972800" cy="914400"/>
          </a:xfrm>
          <a:prstGeom prst="rect">
            <a:avLst/>
          </a:prstGeom>
          <a:noFill/>
        </p:spPr>
        <p:txBody>
          <a:bodyPr wrap="square">
            <a:spAutoFit/>
          </a:bodyPr>
          <a:lstStyle/>
          <a:p>
            <a:pPr algn="l"/>
            <a:r>
              <a:rPr sz="2400" b="0">
                <a:solidFill>
                  <a:srgbClr val="B8C0CC"/>
                </a:solidFill>
                <a:latin typeface="Calibri"/>
              </a:rPr>
              <a:t>Explorar antes de modelar — estadística, redes y text mining</a:t>
            </a:r>
          </a:p>
        </p:txBody>
      </p:sp>
      <p:sp>
        <p:nvSpPr>
          <p:cNvPr id="5" name="Rectangle 4"/>
          <p:cNvSpPr/>
          <p:nvPr/>
        </p:nvSpPr>
        <p:spPr>
          <a:xfrm>
            <a:off x="548640" y="4754880"/>
            <a:ext cx="3291840" cy="411480"/>
          </a:xfrm>
          <a:prstGeom prst="rect">
            <a:avLst/>
          </a:prstGeom>
          <a:solidFill>
            <a:srgbClr val="2A2A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73168"/>
            <a:ext cx="3200400" cy="365760"/>
          </a:xfrm>
          <a:prstGeom prst="rect">
            <a:avLst/>
          </a:prstGeom>
          <a:noFill/>
        </p:spPr>
        <p:txBody>
          <a:bodyPr wrap="square">
            <a:spAutoFit/>
          </a:bodyPr>
          <a:lstStyle/>
          <a:p>
            <a:pPr algn="l"/>
            <a:r>
              <a:rPr sz="1400" b="0">
                <a:solidFill>
                  <a:srgbClr val="606878"/>
                </a:solidFill>
                <a:latin typeface="Calibri"/>
              </a:rPr>
              <a:t>CSBC26 · Bloque 1 · 1h 30min</a:t>
            </a:r>
          </a:p>
        </p:txBody>
      </p:sp>
      <p:sp>
        <p:nvSpPr>
          <p:cNvPr id="7" name="Rectangle 6"/>
          <p:cNvSpPr/>
          <p:nvPr/>
        </p:nvSpPr>
        <p:spPr>
          <a:xfrm>
            <a:off x="548640" y="6309360"/>
            <a:ext cx="10515600" cy="4572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1</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El problema de escala</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Datos sucios en volúmenes moderados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¿Qué significa 'big data' en este contexto?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No estamos en Hadoop: millones de registros, no billones</a:t>
            </a:r>
          </a:p>
          <a:p>
            <a:pPr algn="l" marL="0" indent="-228600"/>
            <a:r>
              <a:rPr sz="2000" b="0">
                <a:solidFill>
                  <a:srgbClr val="B8C0CC"/>
                </a:solidFill>
                <a:latin typeface="Calibri"/>
              </a:rPr>
              <a:t>▸  El problema real: datos sucios, schemas inconsistentes, duplicados, texto multilingüe</a:t>
            </a:r>
          </a:p>
          <a:p>
            <a:pPr algn="l" marL="0" indent="-228600"/>
            <a:r>
              <a:rPr sz="2000" b="0">
                <a:solidFill>
                  <a:srgbClr val="B8C0CC"/>
                </a:solidFill>
                <a:latin typeface="Calibri"/>
              </a:rPr>
              <a:t>▸  Primero explorar, luego analizar — no al revés</a:t>
            </a:r>
          </a:p>
          <a:p>
            <a:pPr algn="l" marL="0" indent="-228600"/>
            <a:r>
              <a:rPr sz="2000" b="0">
                <a:solidFill>
                  <a:srgbClr val="B8C0CC"/>
                </a:solidFill>
                <a:latin typeface="Calibri"/>
              </a:rPr>
              <a:t>▸  La curva power-law es universal en foros: el 1% de usuarios genera el 80% del contenido</a:t>
            </a:r>
          </a:p>
          <a:p>
            <a:pPr algn="l" marL="0" indent="-228600"/>
            <a:r>
              <a:rPr sz="2000" b="0">
                <a:solidFill>
                  <a:srgbClr val="B8C0CC"/>
                </a:solidFill>
                <a:latin typeface="Calibri"/>
              </a:rPr>
              <a:t>▸  Un usuario con 1 post puede ser más relevante que uno con 10.000 si el post es crítico</a:t>
            </a:r>
          </a:p>
          <a:p>
            <a:pPr algn="l" marL="0" indent="-228600"/>
            <a:r>
              <a:rPr sz="2000" b="0">
                <a:solidFill>
                  <a:srgbClr val="B8C0CC"/>
                </a:solidFill>
                <a:latin typeface="Calibri"/>
              </a:rPr>
              <a:t>▸  Regla de oro: entender la forma del dataset antes de aplicar cualquier modelo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Estadística descriptiva — métricas básicas obligatorias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Distribución de usuarios por actividad: siempre power-law, siempre asimétrica</a:t>
            </a:r>
          </a:p>
          <a:p>
            <a:pPr algn="l" marL="0" indent="-228600"/>
            <a:r>
              <a:rPr sz="2000" b="0">
                <a:solidFill>
                  <a:srgbClr val="B8C0CC"/>
                </a:solidFill>
                <a:latin typeface="Calibri"/>
              </a:rPr>
              <a:t>▸  Evolución temporal: cuándo creció el foro, cuándo murió, qué eventos marcaron inflexiones</a:t>
            </a:r>
          </a:p>
          <a:p>
            <a:pPr algn="l" marL="0" indent="-228600"/>
            <a:r>
              <a:rPr sz="2000" b="0">
                <a:solidFill>
                  <a:srgbClr val="B8C0CC"/>
                </a:solidFill>
                <a:latin typeface="Calibri"/>
              </a:rPr>
              <a:t>▸  Distribución geográfica: inferida por timezone de los timestamps (no por lo que declara el usuario)</a:t>
            </a:r>
          </a:p>
          <a:p>
            <a:pPr algn="l" marL="0" indent="-228600"/>
            <a:r>
              <a:rPr sz="2000" b="0">
                <a:solidFill>
                  <a:srgbClr val="B8C0CC"/>
                </a:solidFill>
                <a:latin typeface="Calibri"/>
              </a:rPr>
              <a:t>▸  Densidad de contenido: ratio posts/usuario, longitud media, varianza</a:t>
            </a:r>
          </a:p>
          <a:p>
            <a:pPr algn="l" marL="0" indent="-228600"/>
            <a:r>
              <a:rPr sz="2000" b="0">
                <a:solidFill>
                  <a:srgbClr val="B8C0CC"/>
                </a:solidFill>
                <a:latin typeface="Calibri"/>
              </a:rPr>
              <a:t>▸  Siempre validar rangos: timestamps en 1970 = epoch-0 corrupto, no datos de los 70</a:t>
            </a:r>
          </a:p>
          <a:p>
            <a:pPr algn="l" marL="0" indent="-228600"/>
            <a:r>
              <a:rPr sz="2000" b="0">
                <a:solidFill>
                  <a:srgbClr val="B8C0CC"/>
                </a:solidFill>
                <a:latin typeface="Calibri"/>
              </a:rPr>
              <a:t>▸  Siempre validar recuentos: ¿cuántos usuarios esperabas? ¿cuántos cargaste?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2</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Análisis de red social</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Los foros son grafos — úsalos como tales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Grafos de interacción — la estructura oculta</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Cada respuesta en un hilo es una arista dirigida entre dos usuarios</a:t>
            </a:r>
          </a:p>
          <a:p>
            <a:pPr algn="l" marL="0" indent="-228600"/>
            <a:r>
              <a:rPr sz="2000" b="0">
                <a:solidFill>
                  <a:srgbClr val="B8C0CC"/>
                </a:solidFill>
                <a:latin typeface="Calibri"/>
              </a:rPr>
              <a:t>▸  Degree centrality: quién tiene más conexiones directas</a:t>
            </a:r>
          </a:p>
          <a:p>
            <a:pPr algn="l" marL="0" indent="-228600"/>
            <a:r>
              <a:rPr sz="2000" b="0">
                <a:solidFill>
                  <a:srgbClr val="B8C0CC"/>
                </a:solidFill>
                <a:latin typeface="Calibri"/>
              </a:rPr>
              <a:t>▸  Betweenness centrality: quién actúa de puente entre subgrupos (los brokers)</a:t>
            </a:r>
          </a:p>
          <a:p>
            <a:pPr algn="l" marL="0" indent="-228600"/>
            <a:r>
              <a:rPr sz="2000" b="0">
                <a:solidFill>
                  <a:srgbClr val="B8C0CC"/>
                </a:solidFill>
                <a:latin typeface="Calibri"/>
              </a:rPr>
              <a:t>▸  Algoritmos de detección de comunidades: Louvain sin necesidad de especificar K</a:t>
            </a:r>
          </a:p>
          <a:p>
            <a:pPr algn="l" marL="0" indent="-228600"/>
            <a:r>
              <a:rPr sz="2000" b="0">
                <a:solidFill>
                  <a:srgbClr val="B8C0CC"/>
                </a:solidFill>
                <a:latin typeface="Calibri"/>
              </a:rPr>
              <a:t>▸  NetworkX + Plotly para visualización interactiva sin servidor externo</a:t>
            </a:r>
          </a:p>
          <a:p>
            <a:pPr algn="l" marL="0" indent="-228600"/>
            <a:r>
              <a:rPr sz="2000" b="0">
                <a:solidFill>
                  <a:srgbClr val="B8C0CC"/>
                </a:solidFill>
                <a:latin typeface="Calibri"/>
              </a:rPr>
              <a:t>▸  Limitación práctica: muestra de 5.000 threads para grafos manejables en RAM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Dos tipos de red en un mismo foro</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Red pública (hilos y posts)</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Aristas visibles a todos los miembros</a:t>
            </a:r>
          </a:p>
          <a:p>
            <a:r>
              <a:rPr sz="1800">
                <a:solidFill>
                  <a:srgbClr val="B8C0CC"/>
                </a:solidFill>
                <a:latin typeface="Calibri"/>
              </a:rPr>
              <a:t>▸  Refleja influencia pública y reputación</a:t>
            </a:r>
          </a:p>
          <a:p>
            <a:r>
              <a:rPr sz="1800">
                <a:solidFill>
                  <a:srgbClr val="B8C0CC"/>
                </a:solidFill>
                <a:latin typeface="Calibri"/>
              </a:rPr>
              <a:t>▸  Broker: el usuario más citado/respondido</a:t>
            </a:r>
          </a:p>
          <a:p>
            <a:r>
              <a:rPr sz="1800">
                <a:solidFill>
                  <a:srgbClr val="B8C0CC"/>
                </a:solidFill>
                <a:latin typeface="Calibri"/>
              </a:rPr>
              <a:t>▸  Sesgada hacia los usuarios más activos</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Red privada (mensajes privados)</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Aristas ocultas — datos rarísimos en leaks</a:t>
            </a:r>
          </a:p>
          <a:p>
            <a:r>
              <a:rPr sz="1800">
                <a:solidFill>
                  <a:srgbClr val="B8C0CC"/>
                </a:solidFill>
                <a:latin typeface="Calibri"/>
              </a:rPr>
              <a:t>▸  Refleja confianza real entre actores</a:t>
            </a:r>
          </a:p>
          <a:p>
            <a:r>
              <a:rPr sz="1800">
                <a:solidFill>
                  <a:srgbClr val="B8C0CC"/>
                </a:solidFill>
                <a:latin typeface="Calibri"/>
              </a:rPr>
              <a:t>▸  Broker privado ≠ broker público (casi siempre)</a:t>
            </a:r>
          </a:p>
          <a:p>
            <a:r>
              <a:rPr sz="1800">
                <a:solidFill>
                  <a:srgbClr val="B8C0CC"/>
                </a:solidFill>
                <a:latin typeface="Calibri"/>
              </a:rPr>
              <a:t>▸  Cuando está disponible, es el dato más valioso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Pivoting de identidades — el análisis más potente</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Hipótesis: los operadores reutilizan handles, emails y patrones de comportamiento</a:t>
            </a:r>
          </a:p>
          <a:p>
            <a:pPr algn="l" marL="0" indent="-228600"/>
            <a:r>
              <a:rPr sz="2000" b="0">
                <a:solidFill>
                  <a:srgbClr val="B8C0CC"/>
                </a:solidFill>
                <a:latin typeface="Calibri"/>
              </a:rPr>
              <a:t>▸  Paso 1: normalizar identidades (lowercase, eliminar variaciones comunes)</a:t>
            </a:r>
          </a:p>
          <a:p>
            <a:pPr algn="l" marL="0" indent="-228600"/>
            <a:r>
              <a:rPr sz="2000" b="0">
                <a:solidFill>
                  <a:srgbClr val="B8C0CC"/>
                </a:solidFill>
                <a:latin typeface="Calibri"/>
              </a:rPr>
              <a:t>▸  Paso 2: matching exacto → matches de alta confianza sin falsos positivos</a:t>
            </a:r>
          </a:p>
          <a:p>
            <a:pPr algn="l" marL="0" indent="-228600"/>
            <a:r>
              <a:rPr sz="2000" b="0">
                <a:solidFill>
                  <a:srgbClr val="B8C0CC"/>
                </a:solidFill>
                <a:latin typeface="Calibri"/>
              </a:rPr>
              <a:t>▸  Paso 3: fuzzy matching (rapidfuzz, threshold ≥85%) → variaciones deliberadas</a:t>
            </a:r>
          </a:p>
          <a:p>
            <a:pPr algn="l" marL="0" indent="-228600"/>
            <a:r>
              <a:rPr sz="2000" b="0">
                <a:solidFill>
                  <a:srgbClr val="B8C0CC"/>
                </a:solidFill>
                <a:latin typeface="Calibri"/>
              </a:rPr>
              <a:t>▸  Resultado: grafo de identidades donde un nodo es el mismo actor en N plataformas</a:t>
            </a:r>
          </a:p>
          <a:p>
            <a:pPr algn="l" marL="0" indent="-228600"/>
            <a:r>
              <a:rPr sz="2000" b="0">
                <a:solidFill>
                  <a:srgbClr val="B8C0CC"/>
                </a:solidFill>
                <a:latin typeface="Calibri"/>
              </a:rPr>
              <a:t>▸  Esto es pivoting manual — la base de cualquier investigación cross-foro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3</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Análisis temporal y text mining</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Tiempo y frecuencia antes de semántica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Análisis temporal — la dimensión más ignorada</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Patrones horarios: revelan timezone real independientemente de lo que declara el usuario</a:t>
            </a:r>
          </a:p>
          <a:p>
            <a:pPr algn="l" marL="0" indent="-228600"/>
            <a:r>
              <a:rPr sz="2000" b="0">
                <a:solidFill>
                  <a:srgbClr val="B8C0CC"/>
                </a:solidFill>
                <a:latin typeface="Calibri"/>
              </a:rPr>
              <a:t>▸  Patrones semanales: diferencia profesionales (horario laboral) de aficionados</a:t>
            </a:r>
          </a:p>
          <a:p>
            <a:pPr algn="l" marL="0" indent="-228600"/>
            <a:r>
              <a:rPr sz="2000" b="0">
                <a:solidFill>
                  <a:srgbClr val="B8C0CC"/>
                </a:solidFill>
                <a:latin typeface="Calibri"/>
              </a:rPr>
              <a:t>▸  Evolución anual: ciclo de vida del foro — crecimiento, madurez, declive tras arrests</a:t>
            </a:r>
          </a:p>
          <a:p>
            <a:pPr algn="l" marL="0" indent="-228600"/>
            <a:r>
              <a:rPr sz="2000" b="0">
                <a:solidFill>
                  <a:srgbClr val="B8C0CC"/>
                </a:solidFill>
                <a:latin typeface="Calibri"/>
              </a:rPr>
              <a:t>▸  Detección de spikes: z-score sobre series temporales (umbral: µ + 2σ)</a:t>
            </a:r>
          </a:p>
          <a:p>
            <a:pPr algn="l" marL="0" indent="-228600"/>
            <a:r>
              <a:rPr sz="2000" b="0">
                <a:solidFill>
                  <a:srgbClr val="B8C0CC"/>
                </a:solidFill>
                <a:latin typeface="Calibri"/>
              </a:rPr>
              <a:t>▸  Correlación con eventos externos: arrestos, operaciones policiales, filtraciones competidoras</a:t>
            </a:r>
          </a:p>
          <a:p>
            <a:pPr algn="l" marL="0" indent="-228600"/>
            <a:r>
              <a:rPr sz="2000" b="0">
                <a:solidFill>
                  <a:srgbClr val="B8C0CC"/>
                </a:solidFill>
                <a:latin typeface="Calibri"/>
              </a:rPr>
              <a:t>▸  El cuándo a veces importa tanto como el qué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Text mining clásico — rápido y sin GPU</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TF-IDF: términos más discriminantes por foro, por período, por subgrupo</a:t>
            </a:r>
          </a:p>
          <a:p>
            <a:pPr algn="l" marL="0" indent="-228600"/>
            <a:r>
              <a:rPr sz="2000" b="0">
                <a:solidFill>
                  <a:srgbClr val="B8C0CC"/>
                </a:solidFill>
                <a:latin typeface="Calibri"/>
              </a:rPr>
              <a:t>▸  LDA (Latent Dirichlet Allocation): topic modeling sin etiquetar nada manualmente</a:t>
            </a:r>
          </a:p>
          <a:p>
            <a:pPr algn="l" marL="0" indent="-228600"/>
            <a:r>
              <a:rPr sz="2000" b="0">
                <a:solidFill>
                  <a:srgbClr val="B8C0CC"/>
                </a:solidFill>
                <a:latin typeface="Calibri"/>
              </a:rPr>
              <a:t>▸  Sin GPU, sin modelos grandes — estadística pura sobre frecuencias de tokens</a:t>
            </a:r>
          </a:p>
          <a:p>
            <a:pPr algn="l" marL="0" indent="-228600"/>
            <a:r>
              <a:rPr sz="2000" b="0">
                <a:solidFill>
                  <a:srgbClr val="B8C0CC"/>
                </a:solidFill>
                <a:latin typeface="Calibri"/>
              </a:rPr>
              <a:t>▸  Funciona bien incluso con texto ruidoso, slang y abreviaciones</a:t>
            </a:r>
          </a:p>
          <a:p>
            <a:pPr algn="l" marL="0" indent="-228600"/>
            <a:r>
              <a:rPr sz="2000" b="0">
                <a:solidFill>
                  <a:srgbClr val="B8C0CC"/>
                </a:solidFill>
                <a:latin typeface="Calibri"/>
              </a:rPr>
              <a:t>▸  Limitación crítica: requiere que stopwords y tokenización soporten el idioma del texto</a:t>
            </a:r>
          </a:p>
          <a:p>
            <a:pPr algn="l" marL="0" indent="-228600"/>
            <a:r>
              <a:rPr sz="2000" b="0">
                <a:solidFill>
                  <a:srgbClr val="B8C0CC"/>
                </a:solidFill>
                <a:latin typeface="Calibri"/>
              </a:rPr>
              <a:t>▸  Texto en ruso con pipeline inglés → las stopwords no se eliminan → resultado basura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Idioma original vs. traducción — cuándo importa en Big Data</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2537460" cy="438912"/>
          </a:xfrm>
          <a:prstGeom prst="rect">
            <a:avLst/>
          </a:prstGeom>
          <a:noFill/>
        </p:spPr>
        <p:txBody>
          <a:bodyPr wrap="square">
            <a:spAutoFit/>
          </a:bodyPr>
          <a:lstStyle/>
          <a:p>
            <a:pPr algn="l"/>
            <a:r>
              <a:rPr sz="1400" b="1">
                <a:solidFill>
                  <a:srgbClr val="FFFFFF"/>
                </a:solidFill>
                <a:latin typeface="Calibri"/>
              </a:rPr>
              <a:t>Técnica</a:t>
            </a:r>
          </a:p>
        </p:txBody>
      </p:sp>
      <p:sp>
        <p:nvSpPr>
          <p:cNvPr id="6" name="TextBox 5"/>
          <p:cNvSpPr txBox="1"/>
          <p:nvPr/>
        </p:nvSpPr>
        <p:spPr>
          <a:xfrm>
            <a:off x="3223260" y="1385880"/>
            <a:ext cx="2537460" cy="438912"/>
          </a:xfrm>
          <a:prstGeom prst="rect">
            <a:avLst/>
          </a:prstGeom>
          <a:noFill/>
        </p:spPr>
        <p:txBody>
          <a:bodyPr wrap="square">
            <a:spAutoFit/>
          </a:bodyPr>
          <a:lstStyle/>
          <a:p>
            <a:pPr algn="l"/>
            <a:r>
              <a:rPr sz="1400" b="1">
                <a:solidFill>
                  <a:srgbClr val="FFFFFF"/>
                </a:solidFill>
                <a:latin typeface="Calibri"/>
              </a:rPr>
              <a:t>Original</a:t>
            </a:r>
          </a:p>
        </p:txBody>
      </p:sp>
      <p:sp>
        <p:nvSpPr>
          <p:cNvPr id="7" name="TextBox 6"/>
          <p:cNvSpPr txBox="1"/>
          <p:nvPr/>
        </p:nvSpPr>
        <p:spPr>
          <a:xfrm>
            <a:off x="5852160" y="1385880"/>
            <a:ext cx="2537460" cy="438912"/>
          </a:xfrm>
          <a:prstGeom prst="rect">
            <a:avLst/>
          </a:prstGeom>
          <a:noFill/>
        </p:spPr>
        <p:txBody>
          <a:bodyPr wrap="square">
            <a:spAutoFit/>
          </a:bodyPr>
          <a:lstStyle/>
          <a:p>
            <a:pPr algn="l"/>
            <a:r>
              <a:rPr sz="1400" b="1">
                <a:solidFill>
                  <a:srgbClr val="FFFFFF"/>
                </a:solidFill>
                <a:latin typeface="Calibri"/>
              </a:rPr>
              <a:t>Traducción</a:t>
            </a:r>
          </a:p>
        </p:txBody>
      </p:sp>
      <p:sp>
        <p:nvSpPr>
          <p:cNvPr id="8" name="TextBox 7"/>
          <p:cNvSpPr txBox="1"/>
          <p:nvPr/>
        </p:nvSpPr>
        <p:spPr>
          <a:xfrm>
            <a:off x="8481060" y="1385880"/>
            <a:ext cx="2537460" cy="438912"/>
          </a:xfrm>
          <a:prstGeom prst="rect">
            <a:avLst/>
          </a:prstGeom>
          <a:noFill/>
        </p:spPr>
        <p:txBody>
          <a:bodyPr wrap="square">
            <a:spAutoFit/>
          </a:bodyPr>
          <a:lstStyle/>
          <a:p>
            <a:pPr algn="l"/>
            <a:r>
              <a:rPr sz="1400" b="1">
                <a:solidFill>
                  <a:srgbClr val="FFFFFF"/>
                </a:solidFill>
                <a:latin typeface="Calibri"/>
              </a:rPr>
              <a:t>Por qué</a:t>
            </a:r>
          </a:p>
        </p:txBody>
      </p:sp>
      <p:sp>
        <p:nvSpPr>
          <p:cNvPr id="9" name="Rectangle 8"/>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14792"/>
            <a:ext cx="2537460" cy="438912"/>
          </a:xfrm>
          <a:prstGeom prst="rect">
            <a:avLst/>
          </a:prstGeom>
          <a:noFill/>
        </p:spPr>
        <p:txBody>
          <a:bodyPr wrap="square">
            <a:spAutoFit/>
          </a:bodyPr>
          <a:lstStyle/>
          <a:p>
            <a:pPr algn="l"/>
            <a:r>
              <a:rPr sz="1300" b="0">
                <a:solidFill>
                  <a:srgbClr val="B8C0CC"/>
                </a:solidFill>
                <a:latin typeface="Calibri"/>
              </a:rPr>
              <a:t>TF-IDF</a:t>
            </a:r>
          </a:p>
        </p:txBody>
      </p:sp>
      <p:sp>
        <p:nvSpPr>
          <p:cNvPr id="11" name="TextBox 10"/>
          <p:cNvSpPr txBox="1"/>
          <p:nvPr/>
        </p:nvSpPr>
        <p:spPr>
          <a:xfrm>
            <a:off x="3223260" y="1814792"/>
            <a:ext cx="2537460" cy="438912"/>
          </a:xfrm>
          <a:prstGeom prst="rect">
            <a:avLst/>
          </a:prstGeom>
          <a:noFill/>
        </p:spPr>
        <p:txBody>
          <a:bodyPr wrap="square">
            <a:spAutoFit/>
          </a:bodyPr>
          <a:lstStyle/>
          <a:p>
            <a:pPr algn="l"/>
            <a:r>
              <a:rPr sz="1300" b="0">
                <a:solidFill>
                  <a:srgbClr val="B8C0CC"/>
                </a:solidFill>
                <a:latin typeface="Calibri"/>
              </a:rPr>
              <a:t>✓ si hay stopwords del idioma</a:t>
            </a:r>
          </a:p>
        </p:txBody>
      </p:sp>
      <p:sp>
        <p:nvSpPr>
          <p:cNvPr id="12" name="TextBox 11"/>
          <p:cNvSpPr txBox="1"/>
          <p:nvPr/>
        </p:nvSpPr>
        <p:spPr>
          <a:xfrm>
            <a:off x="5852160" y="1814792"/>
            <a:ext cx="2537460" cy="438912"/>
          </a:xfrm>
          <a:prstGeom prst="rect">
            <a:avLst/>
          </a:prstGeom>
          <a:noFill/>
        </p:spPr>
        <p:txBody>
          <a:bodyPr wrap="square">
            <a:spAutoFit/>
          </a:bodyPr>
          <a:lstStyle/>
          <a:p>
            <a:pPr algn="l"/>
            <a:r>
              <a:rPr sz="1300" b="0">
                <a:solidFill>
                  <a:srgbClr val="B8C0CC"/>
                </a:solidFill>
                <a:latin typeface="Calibri"/>
              </a:rPr>
              <a:t>✓ si no hay</a:t>
            </a:r>
          </a:p>
        </p:txBody>
      </p:sp>
      <p:sp>
        <p:nvSpPr>
          <p:cNvPr id="13" name="TextBox 12"/>
          <p:cNvSpPr txBox="1"/>
          <p:nvPr/>
        </p:nvSpPr>
        <p:spPr>
          <a:xfrm>
            <a:off x="8481060" y="1814792"/>
            <a:ext cx="2537460" cy="438912"/>
          </a:xfrm>
          <a:prstGeom prst="rect">
            <a:avLst/>
          </a:prstGeom>
          <a:noFill/>
        </p:spPr>
        <p:txBody>
          <a:bodyPr wrap="square">
            <a:spAutoFit/>
          </a:bodyPr>
          <a:lstStyle/>
          <a:p>
            <a:pPr algn="l"/>
            <a:r>
              <a:rPr sz="1300" b="0">
                <a:solidFill>
                  <a:srgbClr val="B8C0CC"/>
                </a:solidFill>
                <a:latin typeface="Calibri"/>
              </a:rPr>
              <a:t>Las stopwords en inglés no eliminan preposiciones rusas</a:t>
            </a:r>
          </a:p>
        </p:txBody>
      </p:sp>
      <p:sp>
        <p:nvSpPr>
          <p:cNvPr id="14" name="Rectangle 13"/>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253704"/>
            <a:ext cx="2537460" cy="438912"/>
          </a:xfrm>
          <a:prstGeom prst="rect">
            <a:avLst/>
          </a:prstGeom>
          <a:noFill/>
        </p:spPr>
        <p:txBody>
          <a:bodyPr wrap="square">
            <a:spAutoFit/>
          </a:bodyPr>
          <a:lstStyle/>
          <a:p>
            <a:pPr algn="l"/>
            <a:r>
              <a:rPr sz="1300" b="0">
                <a:solidFill>
                  <a:srgbClr val="B8C0CC"/>
                </a:solidFill>
                <a:latin typeface="Calibri"/>
              </a:rPr>
              <a:t>LDA</a:t>
            </a:r>
          </a:p>
        </p:txBody>
      </p:sp>
      <p:sp>
        <p:nvSpPr>
          <p:cNvPr id="16" name="TextBox 15"/>
          <p:cNvSpPr txBox="1"/>
          <p:nvPr/>
        </p:nvSpPr>
        <p:spPr>
          <a:xfrm>
            <a:off x="3223260" y="2253704"/>
            <a:ext cx="2537460" cy="438912"/>
          </a:xfrm>
          <a:prstGeom prst="rect">
            <a:avLst/>
          </a:prstGeom>
          <a:noFill/>
        </p:spPr>
        <p:txBody>
          <a:bodyPr wrap="square">
            <a:spAutoFit/>
          </a:bodyPr>
          <a:lstStyle/>
          <a:p>
            <a:pPr algn="l"/>
            <a:r>
              <a:rPr sz="1300" b="0">
                <a:solidFill>
                  <a:srgbClr val="B8C0CC"/>
                </a:solidFill>
                <a:latin typeface="Calibri"/>
              </a:rPr>
              <a:t>✓ con tokenización correcta</a:t>
            </a:r>
          </a:p>
        </p:txBody>
      </p:sp>
      <p:sp>
        <p:nvSpPr>
          <p:cNvPr id="17" name="TextBox 16"/>
          <p:cNvSpPr txBox="1"/>
          <p:nvPr/>
        </p:nvSpPr>
        <p:spPr>
          <a:xfrm>
            <a:off x="5852160" y="2253704"/>
            <a:ext cx="2537460" cy="438912"/>
          </a:xfrm>
          <a:prstGeom prst="rect">
            <a:avLst/>
          </a:prstGeom>
          <a:noFill/>
        </p:spPr>
        <p:txBody>
          <a:bodyPr wrap="square">
            <a:spAutoFit/>
          </a:bodyPr>
          <a:lstStyle/>
          <a:p>
            <a:pPr algn="l"/>
            <a:r>
              <a:rPr sz="1300" b="0">
                <a:solidFill>
                  <a:srgbClr val="B8C0CC"/>
                </a:solidFill>
                <a:latin typeface="Calibri"/>
              </a:rPr>
              <a:t>Aceptable</a:t>
            </a:r>
          </a:p>
        </p:txBody>
      </p:sp>
      <p:sp>
        <p:nvSpPr>
          <p:cNvPr id="18" name="TextBox 17"/>
          <p:cNvSpPr txBox="1"/>
          <p:nvPr/>
        </p:nvSpPr>
        <p:spPr>
          <a:xfrm>
            <a:off x="8481060" y="2253704"/>
            <a:ext cx="2537460" cy="438912"/>
          </a:xfrm>
          <a:prstGeom prst="rect">
            <a:avLst/>
          </a:prstGeom>
          <a:noFill/>
        </p:spPr>
        <p:txBody>
          <a:bodyPr wrap="square">
            <a:spAutoFit/>
          </a:bodyPr>
          <a:lstStyle/>
          <a:p>
            <a:pPr algn="l"/>
            <a:r>
              <a:rPr sz="1300" b="0">
                <a:solidFill>
                  <a:srgbClr val="B8C0CC"/>
                </a:solidFill>
                <a:latin typeface="Calibri"/>
              </a:rPr>
              <a:t>Sin tokenizador multilingüe, los topics son ruido</a:t>
            </a:r>
          </a:p>
        </p:txBody>
      </p:sp>
      <p:sp>
        <p:nvSpPr>
          <p:cNvPr id="19" name="Rectangle 18"/>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2692616"/>
            <a:ext cx="2537460" cy="438912"/>
          </a:xfrm>
          <a:prstGeom prst="rect">
            <a:avLst/>
          </a:prstGeom>
          <a:noFill/>
        </p:spPr>
        <p:txBody>
          <a:bodyPr wrap="square">
            <a:spAutoFit/>
          </a:bodyPr>
          <a:lstStyle/>
          <a:p>
            <a:pPr algn="l"/>
            <a:r>
              <a:rPr sz="1300" b="0">
                <a:solidFill>
                  <a:srgbClr val="B8C0CC"/>
                </a:solidFill>
                <a:latin typeface="Calibri"/>
              </a:rPr>
              <a:t>Estadística</a:t>
            </a:r>
          </a:p>
        </p:txBody>
      </p:sp>
      <p:sp>
        <p:nvSpPr>
          <p:cNvPr id="21" name="TextBox 20"/>
          <p:cNvSpPr txBox="1"/>
          <p:nvPr/>
        </p:nvSpPr>
        <p:spPr>
          <a:xfrm>
            <a:off x="3223260" y="2692616"/>
            <a:ext cx="2537460" cy="438912"/>
          </a:xfrm>
          <a:prstGeom prst="rect">
            <a:avLst/>
          </a:prstGeom>
          <a:noFill/>
        </p:spPr>
        <p:txBody>
          <a:bodyPr wrap="square">
            <a:spAutoFit/>
          </a:bodyPr>
          <a:lstStyle/>
          <a:p>
            <a:pPr algn="l"/>
            <a:r>
              <a:rPr sz="1300" b="0">
                <a:solidFill>
                  <a:srgbClr val="B8C0CC"/>
                </a:solidFill>
                <a:latin typeface="Calibri"/>
              </a:rPr>
              <a:t>✓ siempre</a:t>
            </a:r>
          </a:p>
        </p:txBody>
      </p:sp>
      <p:sp>
        <p:nvSpPr>
          <p:cNvPr id="22" name="TextBox 21"/>
          <p:cNvSpPr txBox="1"/>
          <p:nvPr/>
        </p:nvSpPr>
        <p:spPr>
          <a:xfrm>
            <a:off x="5852160" y="2692616"/>
            <a:ext cx="2537460" cy="438912"/>
          </a:xfrm>
          <a:prstGeom prst="rect">
            <a:avLst/>
          </a:prstGeom>
          <a:noFill/>
        </p:spPr>
        <p:txBody>
          <a:bodyPr wrap="square">
            <a:spAutoFit/>
          </a:bodyPr>
          <a:lstStyle/>
          <a:p>
            <a:pPr algn="l"/>
            <a:r>
              <a:rPr sz="1300" b="0">
                <a:solidFill>
                  <a:srgbClr val="B8C0CC"/>
                </a:solidFill>
                <a:latin typeface="Calibri"/>
              </a:rPr>
              <a:t>No necesaria</a:t>
            </a:r>
          </a:p>
        </p:txBody>
      </p:sp>
      <p:sp>
        <p:nvSpPr>
          <p:cNvPr id="23" name="TextBox 22"/>
          <p:cNvSpPr txBox="1"/>
          <p:nvPr/>
        </p:nvSpPr>
        <p:spPr>
          <a:xfrm>
            <a:off x="8481060" y="2692616"/>
            <a:ext cx="2537460" cy="438912"/>
          </a:xfrm>
          <a:prstGeom prst="rect">
            <a:avLst/>
          </a:prstGeom>
          <a:noFill/>
        </p:spPr>
        <p:txBody>
          <a:bodyPr wrap="square">
            <a:spAutoFit/>
          </a:bodyPr>
          <a:lstStyle/>
          <a:p>
            <a:pPr algn="l"/>
            <a:r>
              <a:rPr sz="1300" b="0">
                <a:solidFill>
                  <a:srgbClr val="B8C0CC"/>
                </a:solidFill>
                <a:latin typeface="Calibri"/>
              </a:rPr>
              <a:t>Longitud, fechas, recuentos no dependen del idioma</a:t>
            </a:r>
          </a:p>
        </p:txBody>
      </p:sp>
      <p:sp>
        <p:nvSpPr>
          <p:cNvPr id="24" name="Rectangle 23"/>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131528"/>
            <a:ext cx="2537460" cy="438912"/>
          </a:xfrm>
          <a:prstGeom prst="rect">
            <a:avLst/>
          </a:prstGeom>
          <a:noFill/>
        </p:spPr>
        <p:txBody>
          <a:bodyPr wrap="square">
            <a:spAutoFit/>
          </a:bodyPr>
          <a:lstStyle/>
          <a:p>
            <a:pPr algn="l"/>
            <a:r>
              <a:rPr sz="1300" b="0">
                <a:solidFill>
                  <a:srgbClr val="B8C0CC"/>
                </a:solidFill>
                <a:latin typeface="Calibri"/>
              </a:rPr>
              <a:t>Red social</a:t>
            </a:r>
          </a:p>
        </p:txBody>
      </p:sp>
      <p:sp>
        <p:nvSpPr>
          <p:cNvPr id="26" name="TextBox 25"/>
          <p:cNvSpPr txBox="1"/>
          <p:nvPr/>
        </p:nvSpPr>
        <p:spPr>
          <a:xfrm>
            <a:off x="3223260" y="3131528"/>
            <a:ext cx="2537460" cy="438912"/>
          </a:xfrm>
          <a:prstGeom prst="rect">
            <a:avLst/>
          </a:prstGeom>
          <a:noFill/>
        </p:spPr>
        <p:txBody>
          <a:bodyPr wrap="square">
            <a:spAutoFit/>
          </a:bodyPr>
          <a:lstStyle/>
          <a:p>
            <a:pPr algn="l"/>
            <a:r>
              <a:rPr sz="1300" b="0">
                <a:solidFill>
                  <a:srgbClr val="B8C0CC"/>
                </a:solidFill>
                <a:latin typeface="Calibri"/>
              </a:rPr>
              <a:t>✓ siempre</a:t>
            </a:r>
          </a:p>
        </p:txBody>
      </p:sp>
      <p:sp>
        <p:nvSpPr>
          <p:cNvPr id="27" name="TextBox 26"/>
          <p:cNvSpPr txBox="1"/>
          <p:nvPr/>
        </p:nvSpPr>
        <p:spPr>
          <a:xfrm>
            <a:off x="5852160" y="3131528"/>
            <a:ext cx="2537460" cy="438912"/>
          </a:xfrm>
          <a:prstGeom prst="rect">
            <a:avLst/>
          </a:prstGeom>
          <a:noFill/>
        </p:spPr>
        <p:txBody>
          <a:bodyPr wrap="square">
            <a:spAutoFit/>
          </a:bodyPr>
          <a:lstStyle/>
          <a:p>
            <a:pPr algn="l"/>
            <a:r>
              <a:rPr sz="1300" b="0">
                <a:solidFill>
                  <a:srgbClr val="B8C0CC"/>
                </a:solidFill>
                <a:latin typeface="Calibri"/>
              </a:rPr>
              <a:t>No necesaria</a:t>
            </a:r>
          </a:p>
        </p:txBody>
      </p:sp>
      <p:sp>
        <p:nvSpPr>
          <p:cNvPr id="28" name="TextBox 27"/>
          <p:cNvSpPr txBox="1"/>
          <p:nvPr/>
        </p:nvSpPr>
        <p:spPr>
          <a:xfrm>
            <a:off x="8481060" y="3131528"/>
            <a:ext cx="2537460" cy="438912"/>
          </a:xfrm>
          <a:prstGeom prst="rect">
            <a:avLst/>
          </a:prstGeom>
          <a:noFill/>
        </p:spPr>
        <p:txBody>
          <a:bodyPr wrap="square">
            <a:spAutoFit/>
          </a:bodyPr>
          <a:lstStyle/>
          <a:p>
            <a:pPr algn="l"/>
            <a:r>
              <a:rPr sz="1300" b="0">
                <a:solidFill>
                  <a:srgbClr val="B8C0CC"/>
                </a:solidFill>
                <a:latin typeface="Calibri"/>
              </a:rPr>
              <a:t>Las aristas del grafo son independientes del idioma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EDA y análisis de red</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CardingForums/01_carding_forums.ipynb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Cargar dataset con load_forum() — auto-detección de formato</a:t>
            </a:r>
          </a:p>
          <a:p>
            <a:r>
              <a:rPr sz="1900">
                <a:solidFill>
                  <a:srgbClr val="B8C0CC"/>
                </a:solidFill>
                <a:latin typeface="Calibri"/>
              </a:rPr>
              <a:t>2.  Estadística descriptiva: distribución de usuarios, posts por fecha</a:t>
            </a:r>
          </a:p>
          <a:p>
            <a:r>
              <a:rPr sz="1900">
                <a:solidFill>
                  <a:srgbClr val="B8C0CC"/>
                </a:solidFill>
                <a:latin typeface="Calibri"/>
              </a:rPr>
              <a:t>3.  Construir grafo usuario↔usuario desde threads compartidos</a:t>
            </a:r>
          </a:p>
          <a:p>
            <a:r>
              <a:rPr sz="1900">
                <a:solidFill>
                  <a:srgbClr val="B8C0CC"/>
                </a:solidFill>
                <a:latin typeface="Calibri"/>
              </a:rPr>
              <a:t>4.  Calcular betweenness centrality → identificar brokers</a:t>
            </a:r>
          </a:p>
          <a:p>
            <a:r>
              <a:rPr sz="1900">
                <a:solidFill>
                  <a:srgbClr val="B8C0CC"/>
                </a:solidFill>
                <a:latin typeface="Calibri"/>
              </a:rPr>
              <a:t>5.  Visualización Plotly interactiva: top-N nodos por degree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