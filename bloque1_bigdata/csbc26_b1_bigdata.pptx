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handoutMasterIdLst>
    <p:handoutMasterId r:id="rId10"/>
  </p:handoutMasterIdLst>
  <p:sldIdLst>
    <p:sldId id="256" r:id="rId9"/>
    <p:sldId id="257" r:id="rId7"/>
    <p:sldId id="258" r:id="rId6"/>
    <p:sldId id="259" r:id="rId5"/>
    <p:sldId id="260" r:id="rId15"/>
    <p:sldId id="261" r:id="rId16"/>
    <p:sldId id="262" r:id="rId17"/>
    <p:sldId id="263" r:id="rId18"/>
    <p:sldId id="264" r:id="rId19"/>
    <p:sldId id="265" r:id="rId20"/>
    <p:sldId id="266" r:id="rId21"/>
    <p:sldId id="267" r:id="rId22"/>
    <p:sldId id="268" r:id="rId23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4305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521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76" y="5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90" d="100"/>
          <a:sy n="90" d="100"/>
        </p:scale>
        <p:origin x="4075" y="5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2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6CE21EB7-A449-C9A7-B083-33970A869E2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FA1C30A0-AB18-FF58-1BBF-A835B7EF13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54A67E-5C62-4248-8E27-543754807F34}" type="datetimeFigureOut">
              <a:rPr lang="es-ES" smtClean="0"/>
              <a:t>24/4/26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BC513B9E-52A1-7905-7509-F51EFE4E4A3A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80B344FA-FDBF-1F60-8936-278AE3F8131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DC90A6A-A667-4942-BEA4-D0EB8CB80A57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6697558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Bienvenida — big data aplicado a leaks</a:t>
            </a:r>
          </a:p>
          <a:p>
            <a:r>
              <a:t>Antes de modelar: mirar los datos (volumen, suciedad, patrones)</a:t>
            </a:r>
          </a:p>
          <a:p>
            <a:r>
              <a:t>1h30: estadística, redes sociales, text mining</a:t>
            </a:r>
          </a:p>
          <a:p>
            <a:r>
              <a:t>→ pregunta clave: explorar antes de modelar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escala</a:t>
            </a:r>
          </a:p>
          <a:p>
            <a:r>
              <a:t>Ojo: no es Hadoop ni petabytes</a:t>
            </a:r>
          </a:p>
          <a:p>
            <a:r>
              <a:t>Datos sucios, volumen moderado</a:t>
            </a:r>
          </a:p>
          <a:p>
            <a:r>
              <a:t>→ limpieza y exploración van primero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Expectativa clara: nada de cluster Hadoop</a:t>
            </a:r>
          </a:p>
          <a:p>
            <a:r>
              <a:t>Problema real = suciedad, no volumen</a:t>
            </a:r>
          </a:p>
          <a:p>
            <a:r>
              <a:t>Power-law casi universal: 1% usuarios, 80% contenido</a:t>
            </a:r>
          </a:p>
          <a:p>
            <a:r>
              <a:t>→ regla de oro: explorar forma antes de modelar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Métricas obligatorias, sin excepción</a:t>
            </a:r>
          </a:p>
          <a:p>
            <a:r>
              <a:t>Distribución actividad: casi nunca normal, ver completa</a:t>
            </a:r>
          </a:p>
          <a:p>
            <a:r>
              <a:t>Truco: timezone de timestamps &gt; perfil declarado</a:t>
            </a:r>
          </a:p>
          <a:p>
            <a:r>
              <a:t>Validar rangos: timestamp 1970 = epoch corrupto</a:t>
            </a:r>
          </a:p>
          <a:p>
            <a:r>
              <a:t>→ validar recuentos siempre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Análisis de red social</a:t>
            </a:r>
          </a:p>
          <a:p>
            <a:r>
              <a:t>Idea central: foro = grafo, no solo texto</a:t>
            </a:r>
          </a:p>
          <a:p>
            <a:r>
              <a:t>Cada respuesta = conexión</a:t>
            </a:r>
          </a:p>
          <a:p>
            <a:r>
              <a:t>→ quién manda, quién conecta, quién pasa desapercibido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Grafo básico: respuesta = arista dirigida</a:t>
            </a:r>
          </a:p>
          <a:p>
            <a:r>
              <a:t>Degree centrality: conexiones directas</a:t>
            </a:r>
          </a:p>
          <a:p>
            <a:r>
              <a:t>Betweenness = métrica clave, identifica brokers</a:t>
            </a:r>
          </a:p>
          <a:p>
            <a:r>
              <a:t>Louvain: comunidades sin fijar K</a:t>
            </a:r>
          </a:p>
          <a:p>
            <a:r>
              <a:t>→ limitación honesta: muestra 5.000 threads, RAM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Fácil confundir estas dos redes</a:t>
            </a:r>
          </a:p>
          <a:p>
            <a:r>
              <a:t>Pública: reputación visible, sesgada a activos</a:t>
            </a:r>
          </a:p>
          <a:p>
            <a:r>
              <a:t>Privada: rara en leaks, oro puro, confianza real</a:t>
            </a:r>
          </a:p>
          <a:p>
            <a:r>
              <a:t>→ dato sorprendente: brokers público y privado casi nunca coinciden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Análisis más potente del bloque</a:t>
            </a:r>
          </a:p>
          <a:p>
            <a:r>
              <a:t>Hipótesis: operadores reutilizan handles/emails</a:t>
            </a:r>
          </a:p>
          <a:p>
            <a:r>
              <a:t>3 pasos: normalizar → matching exacto → fuzzy (rapidfuzz)</a:t>
            </a:r>
          </a:p>
          <a:p>
            <a:r>
              <a:t>Resultado: grafo de identidades cross-plataforma</a:t>
            </a:r>
          </a:p>
          <a:p>
            <a:r>
              <a:t>→ base de investigación cross-foro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Cierre de bloque: tiempo y frecuencia</a:t>
            </a:r>
          </a:p>
          <a:p>
            <a:r>
              <a:t>Técnicas infravaloradas</a:t>
            </a:r>
          </a:p>
          <a:p>
            <a:r>
              <a:t>Antes de semántica compleja</a:t>
            </a:r>
          </a:p>
          <a:p>
            <a:r>
              <a:t>→ mucha info en cuándo y qué palabras se repiten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Dimensión más ignorada, pistas rápidas</a:t>
            </a:r>
          </a:p>
          <a:p>
            <a:r>
              <a:t>Patrones horarios → timezone real</a:t>
            </a:r>
          </a:p>
          <a:p>
            <a:r>
              <a:t>Patrones semanales → profesional vs aficionado</a:t>
            </a:r>
          </a:p>
          <a:p>
            <a:r>
              <a:t>Evolución anual → ciclo de vida del foro</a:t>
            </a:r>
          </a:p>
          <a:p>
            <a:r>
              <a:t>→ spikes: z-score, umbral µ+2σ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Desmontar mito: no hace falta GPU</a:t>
            </a:r>
          </a:p>
          <a:p>
            <a:r>
              <a:t>TF-IDF: términos discriminantes por foro/periodo</a:t>
            </a:r>
          </a:p>
          <a:p>
            <a:r>
              <a:t>LDA: topic modeling sin etiquetar a mano</a:t>
            </a:r>
          </a:p>
          <a:p>
            <a:r>
              <a:t>Funciona bien con texto ruidoso/slang</a:t>
            </a:r>
          </a:p>
          <a:p>
            <a:r>
              <a:t>→ limitación crítica: idioma del pipeline debe coincidir (ruso+pipeline inglés = basura)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Pregunta frecuente: ¿traducir antes de analizar?</a:t>
            </a:r>
          </a:p>
          <a:p>
            <a:r>
              <a:t>Depende de la técnica</a:t>
            </a:r>
          </a:p>
          <a:p>
            <a:r>
              <a:t>TF-IDF/LDA: idioma importa mucho</a:t>
            </a:r>
          </a:p>
          <a:p>
            <a:r>
              <a:t>→ estadística y redes: idioma irrelevante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Parte práctica — notebook CardingForums</a:t>
            </a:r>
          </a:p>
          <a:p>
            <a:r>
              <a:t>Cargar dataset, auto-detección formato</a:t>
            </a:r>
          </a:p>
          <a:p>
            <a:r>
              <a:t>Estadística descriptiva + grafo usuario-usuario</a:t>
            </a:r>
          </a:p>
          <a:p>
            <a:r>
              <a:t>→ momento clave: betweenness centrality en vivo</a:t>
            </a:r>
          </a:p>
          <a:p>
            <a:r>
              <a:t>→ cierre: visualización Plotly interactiva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4.gif"/><Relationship Id="rId4" Type="http://schemas.openxmlformats.org/officeDocument/2006/relationships/image" Target="../media/image5.gif"/><Relationship Id="rId5" Type="http://schemas.openxmlformats.org/officeDocument/2006/relationships/image" Target="../media/image6.gi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5.gif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presentació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12">
            <a:extLst>
              <a:ext uri="{FF2B5EF4-FFF2-40B4-BE49-F238E27FC236}">
                <a16:creationId xmlns:a16="http://schemas.microsoft.com/office/drawing/2014/main" id="{9C55D48E-29CC-44DC-AF42-41191B622C2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832860" y="1440430"/>
            <a:ext cx="5029563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>
              <a:buFontTx/>
              <a:buNone/>
              <a:defRPr sz="48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Presentación</a:t>
            </a:r>
          </a:p>
        </p:txBody>
      </p:sp>
    </p:spTree>
    <p:extLst>
      <p:ext uri="{BB962C8B-B14F-4D97-AF65-F5344CB8AC3E}">
        <p14:creationId xmlns:p14="http://schemas.microsoft.com/office/powerpoint/2010/main" val="24509165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 sección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Marcador de texto 12">
            <a:extLst>
              <a:ext uri="{FF2B5EF4-FFF2-40B4-BE49-F238E27FC236}">
                <a16:creationId xmlns:a16="http://schemas.microsoft.com/office/drawing/2014/main" id="{1C0BD042-7BE4-41D3-933E-4B59E0E647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08914" y="2048608"/>
            <a:ext cx="7174172" cy="1380392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Título de la sección</a:t>
            </a:r>
          </a:p>
        </p:txBody>
      </p:sp>
    </p:spTree>
    <p:extLst>
      <p:ext uri="{BB962C8B-B14F-4D97-AF65-F5344CB8AC3E}">
        <p14:creationId xmlns:p14="http://schemas.microsoft.com/office/powerpoint/2010/main" val="2980224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Índic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7" y="77846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ÍNDICE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A8F17752-9230-46BD-B02B-330D1C9AB76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5582"/>
            <a:ext cx="10071652" cy="3981156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>
              <a:buFontTx/>
              <a:buBlip>
                <a:blip r:embed="rId3"/>
              </a:buBlip>
              <a:defRPr sz="28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685800" indent="-228600">
              <a:buClr>
                <a:srgbClr val="465461"/>
              </a:buClr>
              <a:buFontTx/>
              <a:buBlip>
                <a:blip r:embed="rId4"/>
              </a:buBlip>
              <a:defRPr sz="2400" b="0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Tx/>
              <a:buBlip>
                <a:blip r:embed="rId5"/>
              </a:buBlip>
              <a:defRPr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</a:lstStyle>
          <a:p>
            <a:pPr lvl="0"/>
            <a:r>
              <a:rPr lang="es-ES" dirty="0"/>
              <a:t>01. Título</a:t>
            </a:r>
          </a:p>
          <a:p>
            <a:pPr lvl="1"/>
            <a:r>
              <a:rPr lang="es-ES" dirty="0"/>
              <a:t>01.1. Subtítulo</a:t>
            </a:r>
          </a:p>
          <a:p>
            <a:pPr lvl="2"/>
            <a:r>
              <a:rPr lang="es-ES" dirty="0"/>
              <a:t>01.1.1. Subtítulo 2</a:t>
            </a:r>
          </a:p>
          <a:p>
            <a:pPr lvl="0"/>
            <a:r>
              <a:rPr lang="es-ES" dirty="0"/>
              <a:t>02. Esta diapositiva puede llevar imagen de fondo o no.</a:t>
            </a:r>
          </a:p>
        </p:txBody>
      </p:sp>
    </p:spTree>
    <p:extLst>
      <p:ext uri="{BB962C8B-B14F-4D97-AF65-F5344CB8AC3E}">
        <p14:creationId xmlns:p14="http://schemas.microsoft.com/office/powerpoint/2010/main" val="15055503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195539"/>
            <a:ext cx="10058400" cy="340340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2871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4053898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8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9"/>
            <a:ext cx="6467061" cy="3262727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1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2308079"/>
            <a:ext cx="3225925" cy="32627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6524020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2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2308073"/>
            <a:ext cx="3591339" cy="329086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2BF20B6-2093-4128-869E-BC14787FF1B8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5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2308073"/>
            <a:ext cx="5738191" cy="329086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34250284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2213517"/>
            <a:ext cx="6453809" cy="338542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2213518"/>
            <a:ext cx="3225925" cy="338542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  <p:sp>
        <p:nvSpPr>
          <p:cNvPr id="6" name="Marcador de texto 4">
            <a:extLst>
              <a:ext uri="{FF2B5EF4-FFF2-40B4-BE49-F238E27FC236}">
                <a16:creationId xmlns:a16="http://schemas.microsoft.com/office/drawing/2014/main" id="{5D3E1EB6-CB68-4AD5-A0BA-9B5DE1C02ADC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46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0659259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9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2213523"/>
            <a:ext cx="10084904" cy="3371351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2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</p:spTree>
    <p:extLst>
      <p:ext uri="{BB962C8B-B14F-4D97-AF65-F5344CB8AC3E}">
        <p14:creationId xmlns:p14="http://schemas.microsoft.com/office/powerpoint/2010/main" val="2900071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ubtítulo/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40BB3744-8949-403C-8160-58A45DFEE94E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073427" y="1556850"/>
            <a:ext cx="10045148" cy="4596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>
              <a:buFontTx/>
              <a:buNone/>
              <a:defRPr sz="2400" b="1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Subtítulo</a:t>
            </a:r>
          </a:p>
        </p:txBody>
      </p:sp>
      <p:sp>
        <p:nvSpPr>
          <p:cNvPr id="7" name="Marcador de texto 2">
            <a:extLst>
              <a:ext uri="{FF2B5EF4-FFF2-40B4-BE49-F238E27FC236}">
                <a16:creationId xmlns:a16="http://schemas.microsoft.com/office/drawing/2014/main" id="{42830782-65CF-4B35-B7AD-2DCDE86A9CD5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87563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AB954431-C521-4129-ACDE-549CF6B556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655568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2244315"/>
            <a:ext cx="3179637" cy="1184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563715"/>
            <a:ext cx="3179637" cy="2035227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4330852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481395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3"/>
            <a:ext cx="10058400" cy="3809805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477918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5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746932"/>
            <a:ext cx="6453809" cy="3823874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7892649" y="1746932"/>
            <a:ext cx="3225925" cy="3823874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2843379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/Imagen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3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6" y="1577415"/>
            <a:ext cx="3591339" cy="3993392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6" name="Marcador de posición de imagen 3">
            <a:extLst>
              <a:ext uri="{FF2B5EF4-FFF2-40B4-BE49-F238E27FC236}">
                <a16:creationId xmlns:a16="http://schemas.microsoft.com/office/drawing/2014/main" id="{5C62E7EF-E2A7-488C-875F-A809E9D7DCE2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5380383" y="1577414"/>
            <a:ext cx="5738191" cy="3993392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</p:spTree>
    <p:extLst>
      <p:ext uri="{BB962C8B-B14F-4D97-AF65-F5344CB8AC3E}">
        <p14:creationId xmlns:p14="http://schemas.microsoft.com/office/powerpoint/2010/main" val="14484810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/Tex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4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38ABC99D-D808-4839-8939-9FCE8A2AB3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14812" y="1767845"/>
            <a:ext cx="6453809" cy="3817029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5" name="Marcador de posición de imagen 3">
            <a:extLst>
              <a:ext uri="{FF2B5EF4-FFF2-40B4-BE49-F238E27FC236}">
                <a16:creationId xmlns:a16="http://schemas.microsoft.com/office/drawing/2014/main" id="{CD063F19-9FFD-4E6B-80EA-302B98B23E8D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1073426" y="1767845"/>
            <a:ext cx="3225925" cy="3817029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9693423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6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6" name="Marcador de texto 2">
            <a:extLst>
              <a:ext uri="{FF2B5EF4-FFF2-40B4-BE49-F238E27FC236}">
                <a16:creationId xmlns:a16="http://schemas.microsoft.com/office/drawing/2014/main" id="{D42AF7A5-9638-451B-BDAF-F2599D25AF43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073427" y="1574656"/>
            <a:ext cx="10084904" cy="4010218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228600" indent="-228600">
              <a:buFontTx/>
              <a:buBlip>
                <a:blip r:embed="rId3"/>
              </a:buBlip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 err="1"/>
              <a:t>Bullets</a:t>
            </a:r>
            <a:r>
              <a:rPr lang="es-ES" dirty="0"/>
              <a:t> opción 1</a:t>
            </a:r>
          </a:p>
        </p:txBody>
      </p:sp>
    </p:spTree>
    <p:extLst>
      <p:ext uri="{BB962C8B-B14F-4D97-AF65-F5344CB8AC3E}">
        <p14:creationId xmlns:p14="http://schemas.microsoft.com/office/powerpoint/2010/main" val="8558677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os/Imágene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Marcador de texto 25">
            <a:extLst>
              <a:ext uri="{FF2B5EF4-FFF2-40B4-BE49-F238E27FC236}">
                <a16:creationId xmlns:a16="http://schemas.microsoft.com/office/drawing/2014/main" id="{C235A4E8-EC80-41A2-A234-6A1DB2EED58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073426" y="742507"/>
            <a:ext cx="6819223" cy="522794"/>
          </a:xfrm>
          <a:prstGeom prst="rect">
            <a:avLst/>
          </a:prstGeom>
        </p:spPr>
        <p:txBody>
          <a:bodyPr lIns="36000" tIns="0" rIns="0" bIns="0"/>
          <a:lstStyle>
            <a:lvl1pPr marL="0" indent="0">
              <a:lnSpc>
                <a:spcPct val="100000"/>
              </a:lnSpc>
              <a:buFontTx/>
              <a:buNone/>
              <a:defRPr sz="4000" b="1">
                <a:solidFill>
                  <a:srgbClr val="CD2D3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01. Título sección</a:t>
            </a:r>
          </a:p>
          <a:p>
            <a:pPr lvl="0"/>
            <a:endParaRPr lang="es-ES" dirty="0"/>
          </a:p>
        </p:txBody>
      </p:sp>
      <p:sp>
        <p:nvSpPr>
          <p:cNvPr id="8" name="Marcador de posición de imagen 3">
            <a:extLst>
              <a:ext uri="{FF2B5EF4-FFF2-40B4-BE49-F238E27FC236}">
                <a16:creationId xmlns:a16="http://schemas.microsoft.com/office/drawing/2014/main" id="{9E493630-8364-4307-AF71-ABB0195A687C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1090378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1" name="Marcador de posición de imagen 3">
            <a:extLst>
              <a:ext uri="{FF2B5EF4-FFF2-40B4-BE49-F238E27FC236}">
                <a16:creationId xmlns:a16="http://schemas.microsoft.com/office/drawing/2014/main" id="{F203F820-6648-46A2-A54A-DCC8C4AB4966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4658383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2" name="Marcador de texto 2">
            <a:extLst>
              <a:ext uri="{FF2B5EF4-FFF2-40B4-BE49-F238E27FC236}">
                <a16:creationId xmlns:a16="http://schemas.microsoft.com/office/drawing/2014/main" id="{61533F47-9201-4351-8A64-706F2335562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8253270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3" name="Marcador de posición de imagen 3">
            <a:extLst>
              <a:ext uri="{FF2B5EF4-FFF2-40B4-BE49-F238E27FC236}">
                <a16:creationId xmlns:a16="http://schemas.microsoft.com/office/drawing/2014/main" id="{A06B10CE-635F-4975-A971-D25FE7907968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8253271" y="3412147"/>
            <a:ext cx="3179637" cy="2306105"/>
          </a:xfrm>
          <a:prstGeom prst="rect">
            <a:avLst/>
          </a:prstGeom>
        </p:spPr>
        <p:txBody>
          <a:bodyPr/>
          <a:lstStyle/>
          <a:p>
            <a:r>
              <a:rPr lang="es-ES"/>
              <a:t>Haga clic en el icono para agregar una imagen</a:t>
            </a:r>
          </a:p>
        </p:txBody>
      </p:sp>
      <p:sp>
        <p:nvSpPr>
          <p:cNvPr id="10" name="Marcador de texto 2">
            <a:extLst>
              <a:ext uri="{FF2B5EF4-FFF2-40B4-BE49-F238E27FC236}">
                <a16:creationId xmlns:a16="http://schemas.microsoft.com/office/drawing/2014/main" id="{2BBD0A9D-1BFD-A053-6A15-CE05D9D92861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1090378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  <p:sp>
        <p:nvSpPr>
          <p:cNvPr id="16" name="Marcador de texto 2">
            <a:extLst>
              <a:ext uri="{FF2B5EF4-FFF2-40B4-BE49-F238E27FC236}">
                <a16:creationId xmlns:a16="http://schemas.microsoft.com/office/drawing/2014/main" id="{43D92F3C-706C-DDDB-E34C-F1A36AD8221F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4658383" y="1526120"/>
            <a:ext cx="3179637" cy="1638380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indent="0" algn="just">
              <a:buFontTx/>
              <a:buNone/>
              <a:defRPr sz="1800">
                <a:solidFill>
                  <a:srgbClr val="46546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s-ES" dirty="0"/>
              <a:t>INFO</a:t>
            </a:r>
          </a:p>
        </p:txBody>
      </p:sp>
    </p:spTree>
    <p:extLst>
      <p:ext uri="{BB962C8B-B14F-4D97-AF65-F5344CB8AC3E}">
        <p14:creationId xmlns:p14="http://schemas.microsoft.com/office/powerpoint/2010/main" val="356697742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ierr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3171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5626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61" r:id="rId3"/>
    <p:sldLayoutId id="2147483662" r:id="rId4"/>
    <p:sldLayoutId id="2147483663" r:id="rId5"/>
    <p:sldLayoutId id="2147483665" r:id="rId6"/>
    <p:sldLayoutId id="2147483667" r:id="rId7"/>
    <p:sldLayoutId id="2147483669" r:id="rId8"/>
    <p:sldLayoutId id="2147483670" r:id="rId9"/>
    <p:sldLayoutId id="2147483650" r:id="rId10"/>
    <p:sldLayoutId id="2147483660" r:id="rId11"/>
    <p:sldLayoutId id="2147483666" r:id="rId12"/>
    <p:sldLayoutId id="2147483664" r:id="rId13"/>
    <p:sldLayoutId id="2147483668" r:id="rId14"/>
    <p:sldLayoutId id="2147483671" r:id="rId15"/>
    <p:sldLayoutId id="2147483651" r:id="rId16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r>
              <a:t>Técnicas de análisis: Big Data</a:t>
            </a:r>
          </a:p>
          <a:p>
            <a:r>
              <a:rPr sz="1800">
                <a:solidFill>
                  <a:srgbClr val="D6DAE2"/>
                </a:solidFill>
                <a:latin typeface="Arial"/>
              </a:rPr>
              <a:t>Explorar antes de modelar — estadística, redes y text mining</a:t>
            </a:r>
          </a:p>
          <a:p>
            <a:r>
              <a:rPr sz="1200" b="1">
                <a:solidFill>
                  <a:srgbClr val="9AA3B5"/>
                </a:solidFill>
                <a:latin typeface="Arial"/>
              </a:rPr>
              <a:t>CSBC26 · Bloque 1 · 1h 30min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1</a:t>
            </a:r>
          </a:p>
          <a:p>
            <a:pPr algn="ctr"/>
            <a:r>
              <a:t>El problema de escala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Datos sucios en volúmenes moderados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¿Qué significa 'big data' en este contexto?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No estamos en Hadoop: millones de registros, no billones</a:t>
            </a:r>
          </a:p>
          <a:p>
            <a:r>
              <a:t>El problema real: datos sucios, schemas inconsistentes, duplicados, texto multilingüe</a:t>
            </a:r>
          </a:p>
          <a:p>
            <a:r>
              <a:t>Primero explorar, luego analizar — no al revés</a:t>
            </a:r>
          </a:p>
          <a:p>
            <a:r>
              <a:t>La curva power-law es universal en foros: el 1% de usuarios genera el 80% del contenido</a:t>
            </a:r>
          </a:p>
          <a:p>
            <a:r>
              <a:t>Un usuario con 1 post puede ser más relevante que uno con 10.000 si el post es crítico</a:t>
            </a:r>
          </a:p>
          <a:p>
            <a:r>
              <a:t>Regla de oro: entender la forma del dataset antes de aplicar cualquier modelo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Estadística descriptiva — métricas básicas obligatorias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580496"/>
            <a:ext cx="10084904" cy="3004378"/>
          </a:xfrm>
        </p:spPr>
        <p:txBody>
          <a:bodyPr wrap="square"/>
          <a:lstStyle/>
          <a:p>
            <a:r>
              <a:t>Distribución de usuarios por actividad: siempre power-law, siempre asimétrica</a:t>
            </a:r>
          </a:p>
          <a:p>
            <a:r>
              <a:t>Evolución temporal: cuándo creció el foro, cuándo murió, qué eventos marcaron inflexiones</a:t>
            </a:r>
          </a:p>
          <a:p>
            <a:r>
              <a:t>Distribución geográfica: inferida por timezone de los timestamps (no por lo que declara el usuario)</a:t>
            </a:r>
          </a:p>
          <a:p>
            <a:r>
              <a:t>Densidad de contenido: ratio posts/usuario, longitud media, varianza</a:t>
            </a:r>
          </a:p>
          <a:p>
            <a:r>
              <a:t>Siempre validar rangos: timestamps en 1970 = epoch-0 corrupto, no datos de los 70</a:t>
            </a:r>
          </a:p>
          <a:p>
            <a:r>
              <a:t>Siempre validar recuentos: ¿cuántos usuarios esperabas? ¿cuántos cargaste?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2</a:t>
            </a:r>
          </a:p>
          <a:p>
            <a:pPr algn="ctr"/>
            <a:r>
              <a:t>Análisis de red social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Los foros son grafos — úsalos como tales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Grafos de interacción — la estructura oculta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Cada respuesta en un hilo es una arista dirigida entre dos usuarios</a:t>
            </a:r>
          </a:p>
          <a:p>
            <a:r>
              <a:t>Degree centrality: quién tiene más conexiones directas</a:t>
            </a:r>
          </a:p>
          <a:p>
            <a:r>
              <a:t>Betweenness centrality: quién actúa de puente entre subgrupos (los brokers)</a:t>
            </a:r>
          </a:p>
          <a:p>
            <a:r>
              <a:t>Algoritmos de detección de comunidades: Louvain sin necesidad de especificar K</a:t>
            </a:r>
          </a:p>
          <a:p>
            <a:r>
              <a:t>NetworkX + Plotly para visualización interactiva sin servidor externo</a:t>
            </a:r>
          </a:p>
          <a:p>
            <a:r>
              <a:t>Limitación práctica: muestra de 5.000 threads para grafos manejables en RAM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Dos tipos de red en un mismo foro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05156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pública (hilos y posts)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Aristas visibles a todos los miembros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Refleja influencia pública y reputación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Broker: el usuario más citado/respondido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Sesgada hacia los usuarios más activos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17920" y="2194560"/>
            <a:ext cx="48463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CD2D37"/>
                </a:solidFill>
                <a:latin typeface="Arial"/>
              </a:rPr>
              <a:t>Red privada (mensajes privados)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2651760"/>
            <a:ext cx="4846320" cy="3337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465461"/>
                </a:solidFill>
                <a:latin typeface="Arial"/>
              </a:rPr>
              <a:t>▸  Aristas ocultas — datos rarísimos en leaks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Refleja confianza real entre actores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Broker privado ≠ broker público (casi siempre)</a:t>
            </a:r>
          </a:p>
          <a:p>
            <a:r>
              <a:rPr sz="1600">
                <a:solidFill>
                  <a:srgbClr val="465461"/>
                </a:solidFill>
                <a:latin typeface="Arial"/>
              </a:rPr>
              <a:t>▸  Cuando está disponible, es el dato más valioso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Pivoting de identidades — el análisis más potente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Hipótesis: los operadores reutilizan handles, emails y patrones de comportamiento</a:t>
            </a:r>
          </a:p>
          <a:p>
            <a:r>
              <a:t>Paso 1: normalizar identidades (lowercase, eliminar variaciones comunes)</a:t>
            </a:r>
          </a:p>
          <a:p>
            <a:r>
              <a:t>Paso 2: matching exacto → matches de alta confianza sin falsos positivos</a:t>
            </a:r>
          </a:p>
          <a:p>
            <a:r>
              <a:t>Paso 3: fuzzy matching (rapidfuzz, threshold ≥85%) → variaciones deliberadas</a:t>
            </a:r>
          </a:p>
          <a:p>
            <a:r>
              <a:t>Resultado: grafo de identidades donde un nodo es el mismo actor en N plataformas</a:t>
            </a:r>
          </a:p>
          <a:p>
            <a:r>
              <a:t>Esto es pivoting manual — la base de cualquier investigación cross-foro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SECCIÓN 3</a:t>
            </a:r>
          </a:p>
          <a:p>
            <a:pPr algn="ctr"/>
            <a:r>
              <a:t>Análisis temporal y text mining</a:t>
            </a:r>
          </a:p>
          <a:p>
            <a:pPr algn="ctr"/>
            <a:r>
              <a:rPr sz="1600">
                <a:solidFill>
                  <a:srgbClr val="D6DAE2"/>
                </a:solidFill>
                <a:latin typeface="Arial"/>
              </a:rPr>
              <a:t>Tiempo y frecuencia antes de semántica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Análisis temporal — la dimensión más ignorada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Patrones horarios: revelan timezone real independientemente de lo que declara el usuario</a:t>
            </a:r>
          </a:p>
          <a:p>
            <a:r>
              <a:t>Patrones semanales: diferencia profesionales (horario laboral) de aficionados</a:t>
            </a:r>
          </a:p>
          <a:p>
            <a:r>
              <a:t>Evolución anual: ciclo de vida del foro — crecimiento, madurez, declive tras arrests</a:t>
            </a:r>
          </a:p>
          <a:p>
            <a:r>
              <a:t>Detección de spikes: z-score sobre series temporales (umbral: µ + 2σ)</a:t>
            </a:r>
          </a:p>
          <a:p>
            <a:r>
              <a:t>Correlación con eventos externos: arrestos, operaciones policiales, filtraciones competidoras</a:t>
            </a:r>
          </a:p>
          <a:p>
            <a:r>
              <a:t>El cuándo a veces importa tanto como el qué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Text mining clásico — rápido y sin GPU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>
          <a:xfrm>
            <a:off x="1073427" y="2077576"/>
            <a:ext cx="10084904" cy="3507298"/>
          </a:xfrm>
        </p:spPr>
        <p:txBody>
          <a:bodyPr wrap="square"/>
          <a:lstStyle/>
          <a:p>
            <a:r>
              <a:t>TF-IDF: términos más discriminantes por foro, por período, por subgrupo</a:t>
            </a:r>
          </a:p>
          <a:p>
            <a:r>
              <a:t>LDA (Latent Dirichlet Allocation): topic modeling sin etiquetar nada manualmente</a:t>
            </a:r>
          </a:p>
          <a:p>
            <a:r>
              <a:t>Sin GPU, sin modelos grandes — estadística pura sobre frecuencias de tokens</a:t>
            </a:r>
          </a:p>
          <a:p>
            <a:r>
              <a:t>Funciona bien incluso con texto ruidoso, slang y abreviaciones</a:t>
            </a:r>
          </a:p>
          <a:p>
            <a:r>
              <a:t>Limitación crítica: requiere que stopwords y tokenización soporten el idioma del texto</a:t>
            </a:r>
          </a:p>
          <a:p>
            <a:r>
              <a:t>Texto en ruso con pipeline inglés → las stopwords no se eliminan → resultado basura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 sz="quarter"/>
          </p:nvPr>
        </p:nvSpPr>
        <p:spPr/>
        <p:txBody>
          <a:bodyPr wrap="square"/>
          <a:lstStyle/>
          <a:p>
            <a:r>
              <a:t>Idioma original vs. traducción — cuándo importa en Big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1051560" y="2651760"/>
            <a:ext cx="10058400" cy="365760"/>
          </a:xfrm>
          <a:prstGeom prst="rect">
            <a:avLst/>
          </a:prstGeom>
          <a:solidFill>
            <a:srgbClr val="CD2D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Técnica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118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Original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264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Traducción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1080" y="2706760"/>
            <a:ext cx="2423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FFFFFF"/>
                </a:solidFill>
                <a:latin typeface="Arial"/>
              </a:rPr>
              <a:t>Por qué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3017520"/>
            <a:ext cx="10058400" cy="615315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TF-IDF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 hay stopwords del idioma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 no hay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41080" y="3057520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Las stopwords en inglés no eliminan preposiciones rusas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1560" y="3632835"/>
            <a:ext cx="10058400" cy="440689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LDA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con tokenización correcta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Aceptable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41080" y="367283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Sin tokenizador multilingüe, los topics son ruido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1560" y="4073525"/>
            <a:ext cx="10058400" cy="440689"/>
          </a:xfrm>
          <a:prstGeom prst="rect">
            <a:avLst/>
          </a:prstGeom>
          <a:solidFill>
            <a:srgbClr val="F1F2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72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Estadística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118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siempre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No necesaria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4113525"/>
            <a:ext cx="2423160" cy="44068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Longitud, fechas, recuentos no dependen del idioma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51560" y="4514215"/>
            <a:ext cx="10058400" cy="61531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55421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Red social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11880" y="455421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✓ siempre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455421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No necesaria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41080" y="4554215"/>
            <a:ext cx="2423160" cy="615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65461"/>
                </a:solidFill>
                <a:latin typeface="Arial"/>
              </a:rPr>
              <a:t>Las aristas del grafo son independientes del idioma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 wrap="square"/>
          <a:lstStyle/>
          <a:p>
            <a:pPr algn="ctr"/>
            <a:r>
              <a:rPr sz="1300" b="1">
                <a:solidFill>
                  <a:srgbClr val="CD2D37"/>
                </a:solidFill>
                <a:latin typeface="Arial"/>
              </a:rPr>
              <a:t>DEMO EN VIVO</a:t>
            </a:r>
          </a:p>
          <a:p>
            <a:pPr algn="ctr"/>
            <a:r>
              <a:t>Demo — EDA y análisis de red</a:t>
            </a:r>
          </a:p>
          <a:p>
            <a:pPr algn="ctr"/>
            <a:r>
              <a:rPr sz="1400">
                <a:solidFill>
                  <a:srgbClr val="9AA3B5"/>
                </a:solidFill>
                <a:latin typeface="Arial"/>
              </a:rPr>
              <a:t>CardingForums/01_carding_forums.ipynb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505456" y="3657600"/>
            <a:ext cx="7168896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D6DAE2"/>
                </a:solidFill>
                <a:latin typeface="Arial"/>
              </a:rPr>
              <a:t>1.  Cargar dataset con load_forum() — auto-detección de formato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2.  Estadística descriptiva: distribución de usuarios, posts por fecha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3.  Construir grafo usuario↔usuario desde threads compartidos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4.  Calcular betweenness centrality → identificar brokers</a:t>
            </a:r>
          </a:p>
          <a:p>
            <a:r>
              <a:rPr sz="1600">
                <a:solidFill>
                  <a:srgbClr val="D6DAE2"/>
                </a:solidFill>
                <a:latin typeface="Arial"/>
              </a:rPr>
              <a:t>5.  Visualización Plotly interactiva: top-N nodos por degree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1" id="{48A314A4-8185-4B55-A7CC-3A7CEDA94EDA}" vid="{7ECAA45A-5413-4556-941F-0D1EE0EF775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1505317-1252-447c-bd21-893b663df9a8">
      <Terms xmlns="http://schemas.microsoft.com/office/infopath/2007/PartnerControls"/>
    </lcf76f155ced4ddcb4097134ff3c332f>
    <TaxCatchAll xmlns="82e8a8cd-2885-4bb5-8083-20f3ed61e7f2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6C98B10A8FC55C4B8C984524186865FF" ma:contentTypeVersion="11" ma:contentTypeDescription="Crear nuevo documento." ma:contentTypeScope="" ma:versionID="61ecef6567a032f588d7b796b0096457">
  <xsd:schema xmlns:xsd="http://www.w3.org/2001/XMLSchema" xmlns:xs="http://www.w3.org/2001/XMLSchema" xmlns:p="http://schemas.microsoft.com/office/2006/metadata/properties" xmlns:ns2="91505317-1252-447c-bd21-893b663df9a8" xmlns:ns3="82e8a8cd-2885-4bb5-8083-20f3ed61e7f2" targetNamespace="http://schemas.microsoft.com/office/2006/metadata/properties" ma:root="true" ma:fieldsID="3acf16c84cbe939f4efc210e3967d453" ns2:_="" ns3:_="">
    <xsd:import namespace="91505317-1252-447c-bd21-893b663df9a8"/>
    <xsd:import namespace="82e8a8cd-2885-4bb5-8083-20f3ed61e7f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1505317-1252-447c-bd21-893b663df9a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2" nillable="true" ma:taxonomy="true" ma:internalName="lcf76f155ced4ddcb4097134ff3c332f" ma:taxonomyFieldName="MediaServiceImageTags" ma:displayName="Etiquetas de imagen" ma:readOnly="false" ma:fieldId="{5cf76f15-5ced-4ddc-b409-7134ff3c332f}" ma:taxonomyMulti="true" ma:sspId="d85e823d-31db-440c-980d-283f89df7c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18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2e8a8cd-2885-4bb5-8083-20f3ed61e7f2" elementFormDefault="qualified">
    <xsd:import namespace="http://schemas.microsoft.com/office/2006/documentManagement/types"/>
    <xsd:import namespace="http://schemas.microsoft.com/office/infopath/2007/PartnerControls"/>
    <xsd:element name="TaxCatchAll" ma:index="13" nillable="true" ma:displayName="Taxonomy Catch All Column" ma:hidden="true" ma:list="{cf23810e-d2cb-40f5-8814-ec88b3cf0e80}" ma:internalName="TaxCatchAll" ma:showField="CatchAllData" ma:web="82e8a8cd-2885-4bb5-8083-20f3ed61e7f2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8640DA36-330E-4724-B0DD-2D2DF8C87B4F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B1D3338C-90C1-4611-94F3-1777FF5BD484}">
  <ds:schemaRefs>
    <ds:schemaRef ds:uri="http://schemas.microsoft.com/office/2006/metadata/properties"/>
    <ds:schemaRef ds:uri="http://schemas.microsoft.com/office/infopath/2007/PartnerControls"/>
    <ds:schemaRef ds:uri="91505317-1252-447c-bd21-893b663df9a8"/>
    <ds:schemaRef ds:uri="82e8a8cd-2885-4bb5-8083-20f3ed61e7f2"/>
  </ds:schemaRefs>
</ds:datastoreItem>
</file>

<file path=customXml/itemProps3.xml><?xml version="1.0" encoding="utf-8"?>
<ds:datastoreItem xmlns:ds="http://schemas.openxmlformats.org/officeDocument/2006/customXml" ds:itemID="{212D29BC-2FDC-48FD-AB0D-B3A0D33AA8E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1505317-1252-447c-bd21-893b663df9a8"/>
    <ds:schemaRef ds:uri="82e8a8cd-2885-4bb5-8083-20f3ed61e7f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PresentaciónCyberSBC2023_esp</Template>
  <TotalTime>89</TotalTime>
  <Words>0</Words>
  <Application>Microsoft Macintosh PowerPoint</Application>
  <PresentationFormat>Panorámica</PresentationFormat>
  <Paragraphs>0</Paragraphs>
  <Slides>5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5</vt:i4>
      </vt:variant>
    </vt:vector>
  </HeadingPairs>
  <TitlesOfParts>
    <vt:vector size="8" baseType="lpstr">
      <vt:lpstr>Aptos</vt:lpstr>
      <vt:lpstr>Arial</vt:lpstr>
      <vt:lpstr>Tema de Office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Marta Torralbo Calero</dc:creator>
  <cp:lastModifiedBy>Lozano, Maria</cp:lastModifiedBy>
  <cp:revision>4</cp:revision>
  <dcterms:created xsi:type="dcterms:W3CDTF">2024-03-27T14:17:30Z</dcterms:created>
  <dcterms:modified xsi:type="dcterms:W3CDTF">2026-04-24T15:58:42Z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0x0101006C98B10A8FC55C4B8C984524186865FF</vt:lpwstr>
  </property>
</Properties>
</file>