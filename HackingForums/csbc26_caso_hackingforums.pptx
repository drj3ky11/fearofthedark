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Bienvenidos al caso Hacking Forums: vamos a analizar cinco foros underground con casi una década de diferencia entre ellos, desde 2013 hasta 2021. La pregunta que guía toda la sesión es sencilla pero incómoda: ¿es posible identificar a la misma persona operando bajo distintos alias en foros distintos? Vamos a ver un bug real de parsing que nos costó perder tres millones de posts, una decisión de pipeline por idioma, y finalmente un score combinado de atribución cross-foro. Todo lo que van a ver está construido sobre dumps SQL reales, no datos sintéticos.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analizar nada, hay que saber qué datos tenemos realmente y en qué estado llegan. Vamos a repasar la tier list de los siete foros evaluados y un bug de parser que casi nos cuesta un dataset completo.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es el mapa de decisiones del resto de la sesión: no todos los foros van a recibir el mismo tratamiento analítico. Tier A significa dump SQL completo y utilizable para pivoting; tier A↓ significa que solo tenemos usuarios, sin contenido; tier — significa que lo descartamos directamente. Hackforums.net es un buen ejemplo de dato parcial: sirve para verificar handles pero no aporta nada al análisis de contenido. Void.to es el caso opuesto: un schema vacío que no aporta valor y que descartamos sin remordimientos. La lección aquí es priorizar esfuerzo de análisis donde el dato lo sostiene.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bug más caro de todo el proyecto: durante un buen tiempo, Nulled.io cargaba cero posts sin ningún error visible. El problema estaba en is_mybb(), que detectaba erróneamente el schema como MyBB solo porque existía una tabla llamada 'posts' — una coincidencia de nombre, no de estructura real. La solución fue reordenar la lógica: primero ejecutar la detección específica de IPS 3.x comprobando la columna member_id, y solo después caer al detector genérico de MyBB. La lección de fondo, y quiero que se la lleven: nunca confíen en un parser genérico sin testearlo contra dumps reales, porque las variantes de schema no avisan cuando fallan. Perdimos 3.2 millones de posts hasta encontrar 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Pasamos ahora a la exploración de datos, que es donde detectamos algo que condiciona todo el pipeline posterior: el idioma. Vamos a ver por qué cinco foros tan distintos en escala y época necesitan tratamientos diferenciados.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Miren la diferencia de escala entre OGUsers, con casi cinco millones de posts, y Exploit.in, con apenas ochenta mil: son sesenta veces más datos, y eso afecta directamente qué análisis son estadísticamente robustos en cada foro. También hay una dimensión temporal importante: Exploit.in es de 2013, OGUsers de 2019 y RaidForums de 2021, así que en realidad estamos viendo tres momentos distintos de la evolución del ecosistema underground. La longitud de los posts también cuenta una historia: los foros de hacking tienden a ser más cortos y técnicos que los foros ideológicos que vimos en otros casos del curso. Y esto ya nos deja ver la especialización de cada comunidad: OGUsers gira en torno al acceso, Exploit.in a la técnica, RaidForums a las filtraciones.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decisión de pipeline no es opcional, es obligatoria: Burrows' Delta, NER y BERTopic dependen del idioma del texto, así que si no detectamos el idioma antes, todo lo que viene después está construido sobre una base rota. El método es simple: muestreamos 500 posts por foro con langdetect, truncados a 2000 caracteres para no sesgar por longitud. Cuatro de los cinco foros son mayoritariamente inglés, pero Exploit.in es más de 80% ruso, así que necesita su propio pipeline en NER, en BERTopic y en Burrows' Delta. La única pieza que sí es común a todos es el embedding qwen3, porque es multilingüe por diseño.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visualmente lo que acabamos de explicar: Exploit.in es la excepción en casi todas las filas, salvo en embeddings, donde el modelo multilingüe nos permite tratarlo igual que al resto. Es un buen recordatorio de que no hace falta reconstruir todo el pipeline quinientas veces: basta con identificar el punto exacto donde el idioma importa y bifurcar solo ahí.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 a la demo en vivo del notebook 00. Quiero que se fijen especialmente en la sección 5, donde la gráfica de distribución de idioma deja a Exploit.in completamente separado del resto de foros — esa gráfica es literalmente la evidencia visual que justificó la decisión de pipeline que acabamos de 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entramos en la parte más forense del caso: construir la red de co-participación y usarla para intentar identificar a la misma persona bajo distintos alias en distintos foros.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Construimos un grafo donde cada arista conecta a dos usuarios que postearon en el mismo hilo — una señal simple, pero que revela estructura social real. Con una muestra de hasta 5000 threads en OGUsers ya aparece un componente gigante con brokers claramente identificables por su centralidad de intermediación. Esos brokers son justamente los nodos que conectan subcomunidades distintas, y por eso son los candidatos prioritarios cuando después busquemos pivoting cross-foro. La visualización con Plotly, limitada a los 150 nodos de mayor grado, ayuda a comunicar esto sin saturar la vista.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tenemos dos niveles de señal con un trade-off clásico entre precisión y cobertura. El matching exacto, con normalización simple de minúsculas, es conservador pero prácticamente no genera falsos positivos: si el mismo handle aparece en dos foros, es una señal fuerte. El fuzzy matching con rapidfuzz al 85% de similitud captura variaciones deliberadas como user_v2 o user123, pero introduce más ruido, así que lo enriquecemos con similitud coseno de embeddings para compensar. La pregunta que quiero dejarles: ¿qué harían ustedes si un handle cambia completamente entre foros? Ahí es donde el matching exacto se queda corto y necesitamos otras señales.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un bug clásico de series temporales: si ven una gráfica de actividad que arranca en 1970, no es que el foro exista desde entonces, es un timestamp nulo. Cuando dateline vale 0, pandas lo interpreta literalmente como epoch Unix, es decir, 1 de enero de 1970. El fix es simple pero hay que acordarse de aplicarlo: filtrar en el notebook 01 cualquier post con año menor a 2000 antes de hacer análisis temporal. Afecta solo a un pequeño porcentaje de registros, pero si no lo filtran, distorsiona completamente cualquier gráfica de series de tiempo. La regla general que aplica a cualquier dataset: validen siempre el rango de fechas antes de confiar en un análisis temporal.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red y el pivoting de handles como base, ahora sumamos señal semántica: NER especializado, embeddings cross-foro y un score de atribución combinado.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tipos de entidad estándar como PERSON u ORG no sirven para este dominio, así que definimos tipos propios: ALIAS, TOOL, MALWARE, CVE, MARKETPLACE. La estrategia de muestreo es deliberada: top-50 usuarios por los top-50 posts más largos, solo en los foros de inglés, porque los posts largos son los que más señal aportan. El checkpoint automático cada 10 usuarios no es un detalle menor: si el LLM falla a mitad de proceso, no perdemos todo el trabajo previo. Y Exploit.in queda fuera de este pipeline en concreto porque qwen2.5:14b rinde peor en ruso — ahí usamos DeepPavlov o spaCy ru_core_news_lg.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es representar a cada usuario con un solo vector que se pueda comparar entre foros, y para eso comparamos dos estrategias. La estrategia A concatena todos los posts de un usuario hasta 50 mil caracteres y genera un único vector; la estrategia C toma los 50 posts más largos, genera un embedding por post y promedia. La correlación de Spearman entre ambas estrategias nos dice si preservan la misma estructura relativa entre usuarios, y con unos 21 mil usuarios en A frente a 11 mil en C, esa comparación valida si el muestreo es representativo. Todo esto corre sobre qwen3-embedding de 4096 dimensiones, que al ser multilingüe nos permite incluir a Exploit.in en ruso sin pipeline separado.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señal por sí sola alcanza para afirmar que dos usuarios son la misma persona, y esto es importante para no sobreinterpretar resultados. El handle exacto o fuzzy es fuerte pero trivial de eludir con solo cambiar de nombre; la similitud coseno de embeddings captura el estilo aunque el handle cambie; y Burrows' Delta cross-foro compara la distribución de palabras función, que es mucho más difícil de falsificar deliberadamente. Combinamos las tres en un score único, y en la práctica un score superior a 0.7 con al menos dos señales de acuerdo es lo que consideramos un candidato de alta prioridad para revisión manual. Este umbral no es mágico, es un punto de partida razonable que ustedes deberían ajustar según su tolerancia a falsos positivos.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 al notebook 03 para ver esto funcionando. En la sección 3 verán primero los handles exactos compartidos entre foros, y después el fuzzy matching mostrando handles similares pero no idénticos — ahí es donde se nota la diferencia de precisión entre ambos métodos. Y en la sección 5 llegamos al score combinado, con el ranking final de candidatos a identidad compartida.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las conclusiones del caso: qué aprendimos técnicamente y qué aprendizajes metodológicos se pueden llevar a cualquier otro caso de leaks underground.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 izquierda tienen los hallazgos técnicos concretos de este caso: el bug de IPS 3.x que nos costó 3.2 millones de posts, la necesidad de un pipeline separado para el ruso, el problema de epoch-0 en los timestamps, y la validación de que la combinación de señales cross-foro funciona mejor que cualquiera por separado. A la derecha están los aprendizajes que sí se generalizan a cualquier proyecto de este tipo: detectar idioma antes de aplicar cualquier modelo NLP, testear parsers contra dumps reales porque los schemas reales nunca son tan limpios como la documentación, y validar siempre el rango de fechas. Si tuviera que quedarme con una sola idea de toda la sesión, sería esta: la convergencia de señales gana siempre a la métrica aislada, sin excepción.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cerrar con la idea central: los foros underground no son compartimentos estancos, la gente se mueve entre plataformas, y el pivoting de handles es exactamente la técnica que usa threat intelligence en el mundo real para seguirles el rastro. También quiero que recuerden el costo de un bug de ingeniería: un solo error de detección de parser dejó fuera millones de posts sin que nadie se diera cuenta hasta que fuimos a buscarlos explícitamente. Y aunque trabajar en el idioma original —como el ruso de Exploit.in— complica el pipeline, siempre da mejores resultados de estilometría que forzar todo a inglés. Con cinco foros y ocho años de diferencia entre el más antiguo y el más reciente, este caso es en sí mismo un retrato de cómo evolucionó el ecosistema hacking underground.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1645920"/>
          </a:xfrm>
          <a:prstGeom prst="rect">
            <a:avLst/>
          </a:prstGeom>
          <a:noFill/>
        </p:spPr>
        <p:txBody>
          <a:bodyPr wrap="square">
            <a:spAutoFit/>
          </a:bodyPr>
          <a:lstStyle/>
          <a:p>
            <a:pPr algn="l"/>
            <a:r>
              <a:rPr sz="4400" b="1">
                <a:solidFill>
                  <a:srgbClr val="FFFFFF"/>
                </a:solidFill>
                <a:latin typeface="Calibri"/>
              </a:rPr>
              <a:t>Caso Hacking Forums</a:t>
            </a:r>
          </a:p>
        </p:txBody>
      </p:sp>
      <p:sp>
        <p:nvSpPr>
          <p:cNvPr id="4" name="TextBox 3"/>
          <p:cNvSpPr txBox="1"/>
          <p:nvPr/>
        </p:nvSpPr>
        <p:spPr>
          <a:xfrm>
            <a:off x="548640" y="3566160"/>
            <a:ext cx="10972800" cy="914400"/>
          </a:xfrm>
          <a:prstGeom prst="rect">
            <a:avLst/>
          </a:prstGeom>
          <a:noFill/>
        </p:spPr>
        <p:txBody>
          <a:bodyPr wrap="square">
            <a:spAutoFit/>
          </a:bodyPr>
          <a:lstStyle/>
          <a:p>
            <a:pPr algn="l"/>
            <a:r>
              <a:rPr sz="2400" b="0">
                <a:solidFill>
                  <a:srgbClr val="B8C0CC"/>
                </a:solidFill>
                <a:latin typeface="Calibri"/>
              </a:rPr>
              <a:t>Análisis comparativo de cinco foros underground (2013–2021)</a:t>
            </a:r>
          </a:p>
        </p:txBody>
      </p:sp>
      <p:sp>
        <p:nvSpPr>
          <p:cNvPr id="5" name="Rectangle 4"/>
          <p:cNvSpPr/>
          <p:nvPr/>
        </p:nvSpPr>
        <p:spPr>
          <a:xfrm>
            <a:off x="548640" y="4754880"/>
            <a:ext cx="3291840" cy="411480"/>
          </a:xfrm>
          <a:prstGeom prst="rect">
            <a:avLst/>
          </a:prstGeom>
          <a:solidFill>
            <a:srgbClr val="2A2A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73168"/>
            <a:ext cx="3200400" cy="365760"/>
          </a:xfrm>
          <a:prstGeom prst="rect">
            <a:avLst/>
          </a:prstGeom>
          <a:noFill/>
        </p:spPr>
        <p:txBody>
          <a:bodyPr wrap="square">
            <a:spAutoFit/>
          </a:bodyPr>
          <a:lstStyle/>
          <a:p>
            <a:pPr algn="l"/>
            <a:r>
              <a:rPr sz="1400" b="0">
                <a:solidFill>
                  <a:srgbClr val="606878"/>
                </a:solidFill>
                <a:latin typeface="Calibri"/>
              </a:rPr>
              <a:t>CSBC26 · Análisis de Leaks Underground</a:t>
            </a:r>
          </a:p>
        </p:txBody>
      </p:sp>
      <p:sp>
        <p:nvSpPr>
          <p:cNvPr id="7" name="Rectangle 6"/>
          <p:cNvSpPr/>
          <p:nvPr/>
        </p:nvSpPr>
        <p:spPr>
          <a:xfrm>
            <a:off x="548640" y="6309360"/>
            <a:ext cx="10515600" cy="4572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1</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Datasets y clasificación por tiers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Qué tenemos, qué sirve y por qué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Los 7 foros evaluados — tier list</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1661160" cy="438912"/>
          </a:xfrm>
          <a:prstGeom prst="rect">
            <a:avLst/>
          </a:prstGeom>
          <a:noFill/>
        </p:spPr>
        <p:txBody>
          <a:bodyPr wrap="square">
            <a:spAutoFit/>
          </a:bodyPr>
          <a:lstStyle/>
          <a:p>
            <a:pPr algn="l"/>
            <a:r>
              <a:rPr sz="1400" b="1">
                <a:solidFill>
                  <a:srgbClr val="FFFFFF"/>
                </a:solidFill>
                <a:latin typeface="Calibri"/>
              </a:rPr>
              <a:t>Foro</a:t>
            </a:r>
          </a:p>
        </p:txBody>
      </p:sp>
      <p:sp>
        <p:nvSpPr>
          <p:cNvPr id="6" name="TextBox 5"/>
          <p:cNvSpPr txBox="1"/>
          <p:nvPr/>
        </p:nvSpPr>
        <p:spPr>
          <a:xfrm>
            <a:off x="2346960" y="1385880"/>
            <a:ext cx="1661160" cy="438912"/>
          </a:xfrm>
          <a:prstGeom prst="rect">
            <a:avLst/>
          </a:prstGeom>
          <a:noFill/>
        </p:spPr>
        <p:txBody>
          <a:bodyPr wrap="square">
            <a:spAutoFit/>
          </a:bodyPr>
          <a:lstStyle/>
          <a:p>
            <a:pPr algn="l"/>
            <a:r>
              <a:rPr sz="1400" b="1">
                <a:solidFill>
                  <a:srgbClr val="FFFFFF"/>
                </a:solidFill>
                <a:latin typeface="Calibri"/>
              </a:rPr>
              <a:t>Archivo</a:t>
            </a:r>
          </a:p>
        </p:txBody>
      </p:sp>
      <p:sp>
        <p:nvSpPr>
          <p:cNvPr id="7" name="TextBox 6"/>
          <p:cNvSpPr txBox="1"/>
          <p:nvPr/>
        </p:nvSpPr>
        <p:spPr>
          <a:xfrm>
            <a:off x="4099560" y="1385880"/>
            <a:ext cx="1661160" cy="438912"/>
          </a:xfrm>
          <a:prstGeom prst="rect">
            <a:avLst/>
          </a:prstGeom>
          <a:noFill/>
        </p:spPr>
        <p:txBody>
          <a:bodyPr wrap="square">
            <a:spAutoFit/>
          </a:bodyPr>
          <a:lstStyle/>
          <a:p>
            <a:pPr algn="l"/>
            <a:r>
              <a:rPr sz="1400" b="1">
                <a:solidFill>
                  <a:srgbClr val="FFFFFF"/>
                </a:solidFill>
                <a:latin typeface="Calibri"/>
              </a:rPr>
              <a:t>Parser</a:t>
            </a:r>
          </a:p>
        </p:txBody>
      </p:sp>
      <p:sp>
        <p:nvSpPr>
          <p:cNvPr id="8" name="TextBox 7"/>
          <p:cNvSpPr txBox="1"/>
          <p:nvPr/>
        </p:nvSpPr>
        <p:spPr>
          <a:xfrm>
            <a:off x="5852160" y="1385880"/>
            <a:ext cx="1661160" cy="438912"/>
          </a:xfrm>
          <a:prstGeom prst="rect">
            <a:avLst/>
          </a:prstGeom>
          <a:noFill/>
        </p:spPr>
        <p:txBody>
          <a:bodyPr wrap="square">
            <a:spAutoFit/>
          </a:bodyPr>
          <a:lstStyle/>
          <a:p>
            <a:pPr algn="l"/>
            <a:r>
              <a:rPr sz="1400" b="1">
                <a:solidFill>
                  <a:srgbClr val="FFFFFF"/>
                </a:solidFill>
                <a:latin typeface="Calibri"/>
              </a:rPr>
              <a:t>Idioma</a:t>
            </a:r>
          </a:p>
        </p:txBody>
      </p:sp>
      <p:sp>
        <p:nvSpPr>
          <p:cNvPr id="9" name="TextBox 8"/>
          <p:cNvSpPr txBox="1"/>
          <p:nvPr/>
        </p:nvSpPr>
        <p:spPr>
          <a:xfrm>
            <a:off x="7604760" y="1385880"/>
            <a:ext cx="1661160" cy="438912"/>
          </a:xfrm>
          <a:prstGeom prst="rect">
            <a:avLst/>
          </a:prstGeom>
          <a:noFill/>
        </p:spPr>
        <p:txBody>
          <a:bodyPr wrap="square">
            <a:spAutoFit/>
          </a:bodyPr>
          <a:lstStyle/>
          <a:p>
            <a:pPr algn="l"/>
            <a:r>
              <a:rPr sz="1400" b="1">
                <a:solidFill>
                  <a:srgbClr val="FFFFFF"/>
                </a:solidFill>
                <a:latin typeface="Calibri"/>
              </a:rPr>
              <a:t>Tier</a:t>
            </a:r>
          </a:p>
        </p:txBody>
      </p:sp>
      <p:sp>
        <p:nvSpPr>
          <p:cNvPr id="10" name="TextBox 9"/>
          <p:cNvSpPr txBox="1"/>
          <p:nvPr/>
        </p:nvSpPr>
        <p:spPr>
          <a:xfrm>
            <a:off x="9357360" y="1385880"/>
            <a:ext cx="1661160" cy="438912"/>
          </a:xfrm>
          <a:prstGeom prst="rect">
            <a:avLst/>
          </a:prstGeom>
          <a:noFill/>
        </p:spPr>
        <p:txBody>
          <a:bodyPr wrap="square">
            <a:spAutoFit/>
          </a:bodyPr>
          <a:lstStyle/>
          <a:p>
            <a:pPr algn="l"/>
            <a:r>
              <a:rPr sz="1400" b="1">
                <a:solidFill>
                  <a:srgbClr val="FFFFFF"/>
                </a:solidFill>
                <a:latin typeface="Calibri"/>
              </a:rPr>
              <a:t>Uso</a:t>
            </a:r>
          </a:p>
        </p:txBody>
      </p:sp>
      <p:sp>
        <p:nvSpPr>
          <p:cNvPr id="11" name="Rectangle 10"/>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14792"/>
            <a:ext cx="1661160" cy="438912"/>
          </a:xfrm>
          <a:prstGeom prst="rect">
            <a:avLst/>
          </a:prstGeom>
          <a:noFill/>
        </p:spPr>
        <p:txBody>
          <a:bodyPr wrap="square">
            <a:spAutoFit/>
          </a:bodyPr>
          <a:lstStyle/>
          <a:p>
            <a:pPr algn="l"/>
            <a:r>
              <a:rPr sz="1300" b="0">
                <a:solidFill>
                  <a:srgbClr val="B8C0CC"/>
                </a:solidFill>
                <a:latin typeface="Calibri"/>
              </a:rPr>
              <a:t>OGUsers</a:t>
            </a:r>
          </a:p>
        </p:txBody>
      </p:sp>
      <p:sp>
        <p:nvSpPr>
          <p:cNvPr id="13" name="TextBox 12"/>
          <p:cNvSpPr txBox="1"/>
          <p:nvPr/>
        </p:nvSpPr>
        <p:spPr>
          <a:xfrm>
            <a:off x="2346960" y="1814792"/>
            <a:ext cx="1661160" cy="438912"/>
          </a:xfrm>
          <a:prstGeom prst="rect">
            <a:avLst/>
          </a:prstGeom>
          <a:noFill/>
        </p:spPr>
        <p:txBody>
          <a:bodyPr wrap="square">
            <a:spAutoFit/>
          </a:bodyPr>
          <a:lstStyle/>
          <a:p>
            <a:pPr algn="l"/>
            <a:r>
              <a:rPr sz="1300" b="0">
                <a:solidFill>
                  <a:srgbClr val="B8C0CC"/>
                </a:solidFill>
                <a:latin typeface="Calibri"/>
              </a:rPr>
              <a:t>OGUsers_2019.zip</a:t>
            </a:r>
          </a:p>
        </p:txBody>
      </p:sp>
      <p:sp>
        <p:nvSpPr>
          <p:cNvPr id="14" name="TextBox 13"/>
          <p:cNvSpPr txBox="1"/>
          <p:nvPr/>
        </p:nvSpPr>
        <p:spPr>
          <a:xfrm>
            <a:off x="4099560" y="1814792"/>
            <a:ext cx="1661160" cy="438912"/>
          </a:xfrm>
          <a:prstGeom prst="rect">
            <a:avLst/>
          </a:prstGeom>
          <a:noFill/>
        </p:spPr>
        <p:txBody>
          <a:bodyPr wrap="square">
            <a:spAutoFit/>
          </a:bodyPr>
          <a:lstStyle/>
          <a:p>
            <a:pPr algn="l"/>
            <a:r>
              <a:rPr sz="1300" b="0">
                <a:solidFill>
                  <a:srgbClr val="B8C0CC"/>
                </a:solidFill>
                <a:latin typeface="Calibri"/>
              </a:rPr>
              <a:t>MyBB (prefijo no estándar)</a:t>
            </a:r>
          </a:p>
        </p:txBody>
      </p:sp>
      <p:sp>
        <p:nvSpPr>
          <p:cNvPr id="15" name="TextBox 14"/>
          <p:cNvSpPr txBox="1"/>
          <p:nvPr/>
        </p:nvSpPr>
        <p:spPr>
          <a:xfrm>
            <a:off x="5852160" y="1814792"/>
            <a:ext cx="1661160" cy="438912"/>
          </a:xfrm>
          <a:prstGeom prst="rect">
            <a:avLst/>
          </a:prstGeom>
          <a:noFill/>
        </p:spPr>
        <p:txBody>
          <a:bodyPr wrap="square">
            <a:spAutoFit/>
          </a:bodyPr>
          <a:lstStyle/>
          <a:p>
            <a:pPr algn="l"/>
            <a:r>
              <a:rPr sz="1300" b="0">
                <a:solidFill>
                  <a:srgbClr val="B8C0CC"/>
                </a:solidFill>
                <a:latin typeface="Calibri"/>
              </a:rPr>
              <a:t>Inglés</a:t>
            </a:r>
          </a:p>
        </p:txBody>
      </p:sp>
      <p:sp>
        <p:nvSpPr>
          <p:cNvPr id="16" name="TextBox 15"/>
          <p:cNvSpPr txBox="1"/>
          <p:nvPr/>
        </p:nvSpPr>
        <p:spPr>
          <a:xfrm>
            <a:off x="7604760" y="1814792"/>
            <a:ext cx="1661160" cy="438912"/>
          </a:xfrm>
          <a:prstGeom prst="rect">
            <a:avLst/>
          </a:prstGeom>
          <a:noFill/>
        </p:spPr>
        <p:txBody>
          <a:bodyPr wrap="square">
            <a:spAutoFit/>
          </a:bodyPr>
          <a:lstStyle/>
          <a:p>
            <a:pPr algn="l"/>
            <a:r>
              <a:rPr sz="1300" b="0">
                <a:solidFill>
                  <a:srgbClr val="B8C0CC"/>
                </a:solidFill>
                <a:latin typeface="Calibri"/>
              </a:rPr>
              <a:t>A</a:t>
            </a:r>
          </a:p>
        </p:txBody>
      </p:sp>
      <p:sp>
        <p:nvSpPr>
          <p:cNvPr id="17" name="TextBox 16"/>
          <p:cNvSpPr txBox="1"/>
          <p:nvPr/>
        </p:nvSpPr>
        <p:spPr>
          <a:xfrm>
            <a:off x="9357360" y="1814792"/>
            <a:ext cx="1661160" cy="438912"/>
          </a:xfrm>
          <a:prstGeom prst="rect">
            <a:avLst/>
          </a:prstGeom>
          <a:noFill/>
        </p:spPr>
        <p:txBody>
          <a:bodyPr wrap="square">
            <a:spAutoFit/>
          </a:bodyPr>
          <a:lstStyle/>
          <a:p>
            <a:pPr algn="l"/>
            <a:r>
              <a:rPr sz="1300" b="0">
                <a:solidFill>
                  <a:srgbClr val="B8C0CC"/>
                </a:solidFill>
                <a:latin typeface="Calibri"/>
              </a:rPr>
              <a:t>Red social, pivoting</a:t>
            </a:r>
          </a:p>
        </p:txBody>
      </p:sp>
      <p:sp>
        <p:nvSpPr>
          <p:cNvPr id="18" name="Rectangle 17"/>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253704"/>
            <a:ext cx="1661160" cy="438912"/>
          </a:xfrm>
          <a:prstGeom prst="rect">
            <a:avLst/>
          </a:prstGeom>
          <a:noFill/>
        </p:spPr>
        <p:txBody>
          <a:bodyPr wrap="square">
            <a:spAutoFit/>
          </a:bodyPr>
          <a:lstStyle/>
          <a:p>
            <a:pPr algn="l"/>
            <a:r>
              <a:rPr sz="1300" b="0">
                <a:solidFill>
                  <a:srgbClr val="B8C0CC"/>
                </a:solidFill>
                <a:latin typeface="Calibri"/>
              </a:rPr>
              <a:t>Exploit.in</a:t>
            </a:r>
          </a:p>
        </p:txBody>
      </p:sp>
      <p:sp>
        <p:nvSpPr>
          <p:cNvPr id="20" name="TextBox 19"/>
          <p:cNvSpPr txBox="1"/>
          <p:nvPr/>
        </p:nvSpPr>
        <p:spPr>
          <a:xfrm>
            <a:off x="2346960" y="2253704"/>
            <a:ext cx="1661160" cy="438912"/>
          </a:xfrm>
          <a:prstGeom prst="rect">
            <a:avLst/>
          </a:prstGeom>
          <a:noFill/>
        </p:spPr>
        <p:txBody>
          <a:bodyPr wrap="square">
            <a:spAutoFit/>
          </a:bodyPr>
          <a:lstStyle/>
          <a:p>
            <a:pPr algn="l"/>
            <a:r>
              <a:rPr sz="1300" b="0">
                <a:solidFill>
                  <a:srgbClr val="B8C0CC"/>
                </a:solidFill>
                <a:latin typeface="Calibri"/>
              </a:rPr>
              <a:t>Exploit.in_2013.12.13.zip</a:t>
            </a:r>
          </a:p>
        </p:txBody>
      </p:sp>
      <p:sp>
        <p:nvSpPr>
          <p:cNvPr id="21" name="TextBox 20"/>
          <p:cNvSpPr txBox="1"/>
          <p:nvPr/>
        </p:nvSpPr>
        <p:spPr>
          <a:xfrm>
            <a:off x="4099560" y="2253704"/>
            <a:ext cx="1661160" cy="438912"/>
          </a:xfrm>
          <a:prstGeom prst="rect">
            <a:avLst/>
          </a:prstGeom>
          <a:noFill/>
        </p:spPr>
        <p:txBody>
          <a:bodyPr wrap="square">
            <a:spAutoFit/>
          </a:bodyPr>
          <a:lstStyle/>
          <a:p>
            <a:pPr algn="l"/>
            <a:r>
              <a:rPr sz="1300" b="0">
                <a:solidFill>
                  <a:srgbClr val="B8C0CC"/>
                </a:solidFill>
                <a:latin typeface="Calibri"/>
              </a:rPr>
              <a:t>IPS 3.x (ibf_)</a:t>
            </a:r>
          </a:p>
        </p:txBody>
      </p:sp>
      <p:sp>
        <p:nvSpPr>
          <p:cNvPr id="22" name="TextBox 21"/>
          <p:cNvSpPr txBox="1"/>
          <p:nvPr/>
        </p:nvSpPr>
        <p:spPr>
          <a:xfrm>
            <a:off x="5852160" y="2253704"/>
            <a:ext cx="1661160" cy="438912"/>
          </a:xfrm>
          <a:prstGeom prst="rect">
            <a:avLst/>
          </a:prstGeom>
          <a:noFill/>
        </p:spPr>
        <p:txBody>
          <a:bodyPr wrap="square">
            <a:spAutoFit/>
          </a:bodyPr>
          <a:lstStyle/>
          <a:p>
            <a:pPr algn="l"/>
            <a:r>
              <a:rPr sz="1300" b="0">
                <a:solidFill>
                  <a:srgbClr val="B8C0CC"/>
                </a:solidFill>
                <a:latin typeface="Calibri"/>
              </a:rPr>
              <a:t>Ruso</a:t>
            </a:r>
          </a:p>
        </p:txBody>
      </p:sp>
      <p:sp>
        <p:nvSpPr>
          <p:cNvPr id="23" name="TextBox 22"/>
          <p:cNvSpPr txBox="1"/>
          <p:nvPr/>
        </p:nvSpPr>
        <p:spPr>
          <a:xfrm>
            <a:off x="7604760" y="2253704"/>
            <a:ext cx="1661160" cy="438912"/>
          </a:xfrm>
          <a:prstGeom prst="rect">
            <a:avLst/>
          </a:prstGeom>
          <a:noFill/>
        </p:spPr>
        <p:txBody>
          <a:bodyPr wrap="square">
            <a:spAutoFit/>
          </a:bodyPr>
          <a:lstStyle/>
          <a:p>
            <a:pPr algn="l"/>
            <a:r>
              <a:rPr sz="1300" b="0">
                <a:solidFill>
                  <a:srgbClr val="B8C0CC"/>
                </a:solidFill>
                <a:latin typeface="Calibri"/>
              </a:rPr>
              <a:t>A</a:t>
            </a:r>
          </a:p>
        </p:txBody>
      </p:sp>
      <p:sp>
        <p:nvSpPr>
          <p:cNvPr id="24" name="TextBox 23"/>
          <p:cNvSpPr txBox="1"/>
          <p:nvPr/>
        </p:nvSpPr>
        <p:spPr>
          <a:xfrm>
            <a:off x="9357360" y="2253704"/>
            <a:ext cx="1661160" cy="438912"/>
          </a:xfrm>
          <a:prstGeom prst="rect">
            <a:avLst/>
          </a:prstGeom>
          <a:noFill/>
        </p:spPr>
        <p:txBody>
          <a:bodyPr wrap="square">
            <a:spAutoFit/>
          </a:bodyPr>
          <a:lstStyle/>
          <a:p>
            <a:pPr algn="l"/>
            <a:r>
              <a:rPr sz="1300" b="0">
                <a:solidFill>
                  <a:srgbClr val="B8C0CC"/>
                </a:solidFill>
                <a:latin typeface="Calibri"/>
              </a:rPr>
              <a:t>Pivoting cross-foro</a:t>
            </a:r>
          </a:p>
        </p:txBody>
      </p:sp>
      <p:sp>
        <p:nvSpPr>
          <p:cNvPr id="25" name="Rectangle 24"/>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2692616"/>
            <a:ext cx="1661160" cy="438912"/>
          </a:xfrm>
          <a:prstGeom prst="rect">
            <a:avLst/>
          </a:prstGeom>
          <a:noFill/>
        </p:spPr>
        <p:txBody>
          <a:bodyPr wrap="square">
            <a:spAutoFit/>
          </a:bodyPr>
          <a:lstStyle/>
          <a:p>
            <a:pPr algn="l"/>
            <a:r>
              <a:rPr sz="1300" b="0">
                <a:solidFill>
                  <a:srgbClr val="B8C0CC"/>
                </a:solidFill>
                <a:latin typeface="Calibri"/>
              </a:rPr>
              <a:t>Cracked.to</a:t>
            </a:r>
          </a:p>
        </p:txBody>
      </p:sp>
      <p:sp>
        <p:nvSpPr>
          <p:cNvPr id="27" name="TextBox 26"/>
          <p:cNvSpPr txBox="1"/>
          <p:nvPr/>
        </p:nvSpPr>
        <p:spPr>
          <a:xfrm>
            <a:off x="2346960" y="2692616"/>
            <a:ext cx="1661160" cy="438912"/>
          </a:xfrm>
          <a:prstGeom prst="rect">
            <a:avLst/>
          </a:prstGeom>
          <a:noFill/>
        </p:spPr>
        <p:txBody>
          <a:bodyPr wrap="square">
            <a:spAutoFit/>
          </a:bodyPr>
          <a:lstStyle/>
          <a:p>
            <a:pPr algn="l"/>
            <a:r>
              <a:rPr sz="1300" b="0">
                <a:solidFill>
                  <a:srgbClr val="B8C0CC"/>
                </a:solidFill>
                <a:latin typeface="Calibri"/>
              </a:rPr>
              <a:t>Cracked.to_2019.01.zip</a:t>
            </a:r>
          </a:p>
        </p:txBody>
      </p:sp>
      <p:sp>
        <p:nvSpPr>
          <p:cNvPr id="28" name="TextBox 27"/>
          <p:cNvSpPr txBox="1"/>
          <p:nvPr/>
        </p:nvSpPr>
        <p:spPr>
          <a:xfrm>
            <a:off x="4099560" y="2692616"/>
            <a:ext cx="1661160" cy="438912"/>
          </a:xfrm>
          <a:prstGeom prst="rect">
            <a:avLst/>
          </a:prstGeom>
          <a:noFill/>
        </p:spPr>
        <p:txBody>
          <a:bodyPr wrap="square">
            <a:spAutoFit/>
          </a:bodyPr>
          <a:lstStyle/>
          <a:p>
            <a:pPr algn="l"/>
            <a:r>
              <a:rPr sz="1300" b="0">
                <a:solidFill>
                  <a:srgbClr val="B8C0CC"/>
                </a:solidFill>
                <a:latin typeface="Calibri"/>
              </a:rPr>
              <a:t>MyBB</a:t>
            </a:r>
          </a:p>
        </p:txBody>
      </p:sp>
      <p:sp>
        <p:nvSpPr>
          <p:cNvPr id="29" name="TextBox 28"/>
          <p:cNvSpPr txBox="1"/>
          <p:nvPr/>
        </p:nvSpPr>
        <p:spPr>
          <a:xfrm>
            <a:off x="5852160" y="2692616"/>
            <a:ext cx="1661160" cy="438912"/>
          </a:xfrm>
          <a:prstGeom prst="rect">
            <a:avLst/>
          </a:prstGeom>
          <a:noFill/>
        </p:spPr>
        <p:txBody>
          <a:bodyPr wrap="square">
            <a:spAutoFit/>
          </a:bodyPr>
          <a:lstStyle/>
          <a:p>
            <a:pPr algn="l"/>
            <a:r>
              <a:rPr sz="1300" b="0">
                <a:solidFill>
                  <a:srgbClr val="B8C0CC"/>
                </a:solidFill>
                <a:latin typeface="Calibri"/>
              </a:rPr>
              <a:t>Inglés</a:t>
            </a:r>
          </a:p>
        </p:txBody>
      </p:sp>
      <p:sp>
        <p:nvSpPr>
          <p:cNvPr id="30" name="TextBox 29"/>
          <p:cNvSpPr txBox="1"/>
          <p:nvPr/>
        </p:nvSpPr>
        <p:spPr>
          <a:xfrm>
            <a:off x="7604760" y="2692616"/>
            <a:ext cx="1661160" cy="438912"/>
          </a:xfrm>
          <a:prstGeom prst="rect">
            <a:avLst/>
          </a:prstGeom>
          <a:noFill/>
        </p:spPr>
        <p:txBody>
          <a:bodyPr wrap="square">
            <a:spAutoFit/>
          </a:bodyPr>
          <a:lstStyle/>
          <a:p>
            <a:pPr algn="l"/>
            <a:r>
              <a:rPr sz="1300" b="0">
                <a:solidFill>
                  <a:srgbClr val="B8C0CC"/>
                </a:solidFill>
                <a:latin typeface="Calibri"/>
              </a:rPr>
              <a:t>A</a:t>
            </a:r>
          </a:p>
        </p:txBody>
      </p:sp>
      <p:sp>
        <p:nvSpPr>
          <p:cNvPr id="31" name="TextBox 30"/>
          <p:cNvSpPr txBox="1"/>
          <p:nvPr/>
        </p:nvSpPr>
        <p:spPr>
          <a:xfrm>
            <a:off x="9357360" y="2692616"/>
            <a:ext cx="1661160" cy="438912"/>
          </a:xfrm>
          <a:prstGeom prst="rect">
            <a:avLst/>
          </a:prstGeom>
          <a:noFill/>
        </p:spPr>
        <p:txBody>
          <a:bodyPr wrap="square">
            <a:spAutoFit/>
          </a:bodyPr>
          <a:lstStyle/>
          <a:p>
            <a:pPr algn="l"/>
            <a:r>
              <a:rPr sz="1300" b="0">
                <a:solidFill>
                  <a:srgbClr val="B8C0CC"/>
                </a:solidFill>
                <a:latin typeface="Calibri"/>
              </a:rPr>
              <a:t>Pivoting + contenido</a:t>
            </a:r>
          </a:p>
        </p:txBody>
      </p:sp>
      <p:sp>
        <p:nvSpPr>
          <p:cNvPr id="32" name="Rectangle 31"/>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131528"/>
            <a:ext cx="1661160" cy="438912"/>
          </a:xfrm>
          <a:prstGeom prst="rect">
            <a:avLst/>
          </a:prstGeom>
          <a:noFill/>
        </p:spPr>
        <p:txBody>
          <a:bodyPr wrap="square">
            <a:spAutoFit/>
          </a:bodyPr>
          <a:lstStyle/>
          <a:p>
            <a:pPr algn="l"/>
            <a:r>
              <a:rPr sz="1300" b="0">
                <a:solidFill>
                  <a:srgbClr val="B8C0CC"/>
                </a:solidFill>
                <a:latin typeface="Calibri"/>
              </a:rPr>
              <a:t>Nulled.io</a:t>
            </a:r>
          </a:p>
        </p:txBody>
      </p:sp>
      <p:sp>
        <p:nvSpPr>
          <p:cNvPr id="34" name="TextBox 33"/>
          <p:cNvSpPr txBox="1"/>
          <p:nvPr/>
        </p:nvSpPr>
        <p:spPr>
          <a:xfrm>
            <a:off x="2346960" y="3131528"/>
            <a:ext cx="1661160" cy="438912"/>
          </a:xfrm>
          <a:prstGeom prst="rect">
            <a:avLst/>
          </a:prstGeom>
          <a:noFill/>
        </p:spPr>
        <p:txBody>
          <a:bodyPr wrap="square">
            <a:spAutoFit/>
          </a:bodyPr>
          <a:lstStyle/>
          <a:p>
            <a:pPr algn="l"/>
            <a:r>
              <a:rPr sz="1300" b="0">
                <a:solidFill>
                  <a:srgbClr val="B8C0CC"/>
                </a:solidFill>
                <a:latin typeface="Calibri"/>
              </a:rPr>
              <a:t>Nulled.io_2016.05.zip</a:t>
            </a:r>
          </a:p>
        </p:txBody>
      </p:sp>
      <p:sp>
        <p:nvSpPr>
          <p:cNvPr id="35" name="TextBox 34"/>
          <p:cNvSpPr txBox="1"/>
          <p:nvPr/>
        </p:nvSpPr>
        <p:spPr>
          <a:xfrm>
            <a:off x="4099560" y="3131528"/>
            <a:ext cx="1661160" cy="438912"/>
          </a:xfrm>
          <a:prstGeom prst="rect">
            <a:avLst/>
          </a:prstGeom>
          <a:noFill/>
        </p:spPr>
        <p:txBody>
          <a:bodyPr wrap="square">
            <a:spAutoFit/>
          </a:bodyPr>
          <a:lstStyle/>
          <a:p>
            <a:pPr algn="l"/>
            <a:r>
              <a:rPr sz="1300" b="0">
                <a:solidFill>
                  <a:srgbClr val="B8C0CC"/>
                </a:solidFill>
                <a:latin typeface="Calibri"/>
              </a:rPr>
              <a:t>IPS 3.x (sin prefijo)</a:t>
            </a:r>
          </a:p>
        </p:txBody>
      </p:sp>
      <p:sp>
        <p:nvSpPr>
          <p:cNvPr id="36" name="TextBox 35"/>
          <p:cNvSpPr txBox="1"/>
          <p:nvPr/>
        </p:nvSpPr>
        <p:spPr>
          <a:xfrm>
            <a:off x="5852160" y="3131528"/>
            <a:ext cx="1661160" cy="438912"/>
          </a:xfrm>
          <a:prstGeom prst="rect">
            <a:avLst/>
          </a:prstGeom>
          <a:noFill/>
        </p:spPr>
        <p:txBody>
          <a:bodyPr wrap="square">
            <a:spAutoFit/>
          </a:bodyPr>
          <a:lstStyle/>
          <a:p>
            <a:pPr algn="l"/>
            <a:r>
              <a:rPr sz="1300" b="0">
                <a:solidFill>
                  <a:srgbClr val="B8C0CC"/>
                </a:solidFill>
                <a:latin typeface="Calibri"/>
              </a:rPr>
              <a:t>Inglés</a:t>
            </a:r>
          </a:p>
        </p:txBody>
      </p:sp>
      <p:sp>
        <p:nvSpPr>
          <p:cNvPr id="37" name="TextBox 36"/>
          <p:cNvSpPr txBox="1"/>
          <p:nvPr/>
        </p:nvSpPr>
        <p:spPr>
          <a:xfrm>
            <a:off x="7604760" y="3131528"/>
            <a:ext cx="1661160" cy="438912"/>
          </a:xfrm>
          <a:prstGeom prst="rect">
            <a:avLst/>
          </a:prstGeom>
          <a:noFill/>
        </p:spPr>
        <p:txBody>
          <a:bodyPr wrap="square">
            <a:spAutoFit/>
          </a:bodyPr>
          <a:lstStyle/>
          <a:p>
            <a:pPr algn="l"/>
            <a:r>
              <a:rPr sz="1300" b="0">
                <a:solidFill>
                  <a:srgbClr val="B8C0CC"/>
                </a:solidFill>
                <a:latin typeface="Calibri"/>
              </a:rPr>
              <a:t>A</a:t>
            </a:r>
          </a:p>
        </p:txBody>
      </p:sp>
      <p:sp>
        <p:nvSpPr>
          <p:cNvPr id="38" name="TextBox 37"/>
          <p:cNvSpPr txBox="1"/>
          <p:nvPr/>
        </p:nvSpPr>
        <p:spPr>
          <a:xfrm>
            <a:off x="9357360" y="3131528"/>
            <a:ext cx="1661160" cy="438912"/>
          </a:xfrm>
          <a:prstGeom prst="rect">
            <a:avLst/>
          </a:prstGeom>
          <a:noFill/>
        </p:spPr>
        <p:txBody>
          <a:bodyPr wrap="square">
            <a:spAutoFit/>
          </a:bodyPr>
          <a:lstStyle/>
          <a:p>
            <a:pPr algn="l"/>
            <a:r>
              <a:rPr sz="1300" b="0">
                <a:solidFill>
                  <a:srgbClr val="B8C0CC"/>
                </a:solidFill>
                <a:latin typeface="Calibri"/>
              </a:rPr>
              <a:t>Contexto histórico</a:t>
            </a:r>
          </a:p>
        </p:txBody>
      </p:sp>
      <p:sp>
        <p:nvSpPr>
          <p:cNvPr id="39" name="Rectangle 38"/>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570440"/>
            <a:ext cx="1661160" cy="438912"/>
          </a:xfrm>
          <a:prstGeom prst="rect">
            <a:avLst/>
          </a:prstGeom>
          <a:noFill/>
        </p:spPr>
        <p:txBody>
          <a:bodyPr wrap="square">
            <a:spAutoFit/>
          </a:bodyPr>
          <a:lstStyle/>
          <a:p>
            <a:pPr algn="l"/>
            <a:r>
              <a:rPr sz="1300" b="0">
                <a:solidFill>
                  <a:srgbClr val="B8C0CC"/>
                </a:solidFill>
                <a:latin typeface="Calibri"/>
              </a:rPr>
              <a:t>RaidForums</a:t>
            </a:r>
          </a:p>
        </p:txBody>
      </p:sp>
      <p:sp>
        <p:nvSpPr>
          <p:cNvPr id="41" name="TextBox 40"/>
          <p:cNvSpPr txBox="1"/>
          <p:nvPr/>
        </p:nvSpPr>
        <p:spPr>
          <a:xfrm>
            <a:off x="2346960" y="3570440"/>
            <a:ext cx="1661160" cy="438912"/>
          </a:xfrm>
          <a:prstGeom prst="rect">
            <a:avLst/>
          </a:prstGeom>
          <a:noFill/>
        </p:spPr>
        <p:txBody>
          <a:bodyPr wrap="square">
            <a:spAutoFit/>
          </a:bodyPr>
          <a:lstStyle/>
          <a:p>
            <a:pPr algn="l"/>
            <a:r>
              <a:rPr sz="1300" b="0">
                <a:solidFill>
                  <a:srgbClr val="B8C0CC"/>
                </a:solidFill>
                <a:latin typeface="Calibri"/>
              </a:rPr>
              <a:t>RaidForums_2021.zip</a:t>
            </a:r>
          </a:p>
        </p:txBody>
      </p:sp>
      <p:sp>
        <p:nvSpPr>
          <p:cNvPr id="42" name="TextBox 41"/>
          <p:cNvSpPr txBox="1"/>
          <p:nvPr/>
        </p:nvSpPr>
        <p:spPr>
          <a:xfrm>
            <a:off x="4099560" y="3570440"/>
            <a:ext cx="1661160" cy="438912"/>
          </a:xfrm>
          <a:prstGeom prst="rect">
            <a:avLst/>
          </a:prstGeom>
          <a:noFill/>
        </p:spPr>
        <p:txBody>
          <a:bodyPr wrap="square">
            <a:spAutoFit/>
          </a:bodyPr>
          <a:lstStyle/>
          <a:p>
            <a:pPr algn="l"/>
            <a:r>
              <a:rPr sz="1300" b="0">
                <a:solidFill>
                  <a:srgbClr val="B8C0CC"/>
                </a:solidFill>
                <a:latin typeface="Calibri"/>
              </a:rPr>
              <a:t>MyBB</a:t>
            </a:r>
          </a:p>
        </p:txBody>
      </p:sp>
      <p:sp>
        <p:nvSpPr>
          <p:cNvPr id="43" name="TextBox 42"/>
          <p:cNvSpPr txBox="1"/>
          <p:nvPr/>
        </p:nvSpPr>
        <p:spPr>
          <a:xfrm>
            <a:off x="5852160" y="3570440"/>
            <a:ext cx="1661160" cy="438912"/>
          </a:xfrm>
          <a:prstGeom prst="rect">
            <a:avLst/>
          </a:prstGeom>
          <a:noFill/>
        </p:spPr>
        <p:txBody>
          <a:bodyPr wrap="square">
            <a:spAutoFit/>
          </a:bodyPr>
          <a:lstStyle/>
          <a:p>
            <a:pPr algn="l"/>
            <a:r>
              <a:rPr sz="1300" b="0">
                <a:solidFill>
                  <a:srgbClr val="B8C0CC"/>
                </a:solidFill>
                <a:latin typeface="Calibri"/>
              </a:rPr>
              <a:t>Inglés</a:t>
            </a:r>
          </a:p>
        </p:txBody>
      </p:sp>
      <p:sp>
        <p:nvSpPr>
          <p:cNvPr id="44" name="TextBox 43"/>
          <p:cNvSpPr txBox="1"/>
          <p:nvPr/>
        </p:nvSpPr>
        <p:spPr>
          <a:xfrm>
            <a:off x="7604760" y="3570440"/>
            <a:ext cx="1661160" cy="438912"/>
          </a:xfrm>
          <a:prstGeom prst="rect">
            <a:avLst/>
          </a:prstGeom>
          <a:noFill/>
        </p:spPr>
        <p:txBody>
          <a:bodyPr wrap="square">
            <a:spAutoFit/>
          </a:bodyPr>
          <a:lstStyle/>
          <a:p>
            <a:pPr algn="l"/>
            <a:r>
              <a:rPr sz="1300" b="0">
                <a:solidFill>
                  <a:srgbClr val="B8C0CC"/>
                </a:solidFill>
                <a:latin typeface="Calibri"/>
              </a:rPr>
              <a:t>A</a:t>
            </a:r>
          </a:p>
        </p:txBody>
      </p:sp>
      <p:sp>
        <p:nvSpPr>
          <p:cNvPr id="45" name="TextBox 44"/>
          <p:cNvSpPr txBox="1"/>
          <p:nvPr/>
        </p:nvSpPr>
        <p:spPr>
          <a:xfrm>
            <a:off x="9357360" y="3570440"/>
            <a:ext cx="1661160" cy="438912"/>
          </a:xfrm>
          <a:prstGeom prst="rect">
            <a:avLst/>
          </a:prstGeom>
          <a:noFill/>
        </p:spPr>
        <p:txBody>
          <a:bodyPr wrap="square">
            <a:spAutoFit/>
          </a:bodyPr>
          <a:lstStyle/>
          <a:p>
            <a:pPr algn="l"/>
            <a:r>
              <a:rPr sz="1300" b="0">
                <a:solidFill>
                  <a:srgbClr val="B8C0CC"/>
                </a:solidFill>
                <a:latin typeface="Calibri"/>
              </a:rPr>
              <a:t>Pivoting cross-foro</a:t>
            </a:r>
          </a:p>
        </p:txBody>
      </p:sp>
      <p:sp>
        <p:nvSpPr>
          <p:cNvPr id="46" name="Rectangle 45"/>
          <p:cNvSpPr/>
          <p:nvPr/>
        </p:nvSpPr>
        <p:spPr>
          <a:xfrm>
            <a:off x="548640" y="3959352"/>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4009352"/>
            <a:ext cx="1661160" cy="438912"/>
          </a:xfrm>
          <a:prstGeom prst="rect">
            <a:avLst/>
          </a:prstGeom>
          <a:noFill/>
        </p:spPr>
        <p:txBody>
          <a:bodyPr wrap="square">
            <a:spAutoFit/>
          </a:bodyPr>
          <a:lstStyle/>
          <a:p>
            <a:pPr algn="l"/>
            <a:r>
              <a:rPr sz="1300" b="0">
                <a:solidFill>
                  <a:srgbClr val="B8C0CC"/>
                </a:solidFill>
                <a:latin typeface="Calibri"/>
              </a:rPr>
              <a:t>Hackforums.net</a:t>
            </a:r>
          </a:p>
        </p:txBody>
      </p:sp>
      <p:sp>
        <p:nvSpPr>
          <p:cNvPr id="48" name="TextBox 47"/>
          <p:cNvSpPr txBox="1"/>
          <p:nvPr/>
        </p:nvSpPr>
        <p:spPr>
          <a:xfrm>
            <a:off x="2346960" y="4009352"/>
            <a:ext cx="1661160" cy="438912"/>
          </a:xfrm>
          <a:prstGeom prst="rect">
            <a:avLst/>
          </a:prstGeom>
          <a:noFill/>
        </p:spPr>
        <p:txBody>
          <a:bodyPr wrap="square">
            <a:spAutoFit/>
          </a:bodyPr>
          <a:lstStyle/>
          <a:p>
            <a:pPr algn="l"/>
            <a:r>
              <a:rPr sz="1300" b="0">
                <a:solidFill>
                  <a:srgbClr val="B8C0CC"/>
                </a:solidFill>
                <a:latin typeface="Calibri"/>
              </a:rPr>
              <a:t>Hackforums.net_2015.zip</a:t>
            </a:r>
          </a:p>
        </p:txBody>
      </p:sp>
      <p:sp>
        <p:nvSpPr>
          <p:cNvPr id="49" name="TextBox 48"/>
          <p:cNvSpPr txBox="1"/>
          <p:nvPr/>
        </p:nvSpPr>
        <p:spPr>
          <a:xfrm>
            <a:off x="4099560" y="4009352"/>
            <a:ext cx="1661160" cy="438912"/>
          </a:xfrm>
          <a:prstGeom prst="rect">
            <a:avLst/>
          </a:prstGeom>
          <a:noFill/>
        </p:spPr>
        <p:txBody>
          <a:bodyPr wrap="square">
            <a:spAutoFit/>
          </a:bodyPr>
          <a:lstStyle/>
          <a:p>
            <a:pPr algn="l"/>
            <a:r>
              <a:rPr sz="1300" b="0">
                <a:solidFill>
                  <a:srgbClr val="B8C0CC"/>
                </a:solidFill>
                <a:latin typeface="Calibri"/>
              </a:rPr>
              <a:t>MyBB (solo usuarios)</a:t>
            </a:r>
          </a:p>
        </p:txBody>
      </p:sp>
      <p:sp>
        <p:nvSpPr>
          <p:cNvPr id="50" name="TextBox 49"/>
          <p:cNvSpPr txBox="1"/>
          <p:nvPr/>
        </p:nvSpPr>
        <p:spPr>
          <a:xfrm>
            <a:off x="5852160" y="4009352"/>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51" name="TextBox 50"/>
          <p:cNvSpPr txBox="1"/>
          <p:nvPr/>
        </p:nvSpPr>
        <p:spPr>
          <a:xfrm>
            <a:off x="7604760" y="4009352"/>
            <a:ext cx="1661160" cy="438912"/>
          </a:xfrm>
          <a:prstGeom prst="rect">
            <a:avLst/>
          </a:prstGeom>
          <a:noFill/>
        </p:spPr>
        <p:txBody>
          <a:bodyPr wrap="square">
            <a:spAutoFit/>
          </a:bodyPr>
          <a:lstStyle/>
          <a:p>
            <a:pPr algn="l"/>
            <a:r>
              <a:rPr sz="1300" b="0">
                <a:solidFill>
                  <a:srgbClr val="B8C0CC"/>
                </a:solidFill>
                <a:latin typeface="Calibri"/>
              </a:rPr>
              <a:t>A↓</a:t>
            </a:r>
          </a:p>
        </p:txBody>
      </p:sp>
      <p:sp>
        <p:nvSpPr>
          <p:cNvPr id="52" name="TextBox 51"/>
          <p:cNvSpPr txBox="1"/>
          <p:nvPr/>
        </p:nvSpPr>
        <p:spPr>
          <a:xfrm>
            <a:off x="9357360" y="4009352"/>
            <a:ext cx="1661160" cy="438912"/>
          </a:xfrm>
          <a:prstGeom prst="rect">
            <a:avLst/>
          </a:prstGeom>
          <a:noFill/>
        </p:spPr>
        <p:txBody>
          <a:bodyPr wrap="square">
            <a:spAutoFit/>
          </a:bodyPr>
          <a:lstStyle/>
          <a:p>
            <a:pPr algn="l"/>
            <a:r>
              <a:rPr sz="1300" b="0">
                <a:solidFill>
                  <a:srgbClr val="B8C0CC"/>
                </a:solidFill>
                <a:latin typeface="Calibri"/>
              </a:rPr>
              <a:t>Solo handles</a:t>
            </a:r>
          </a:p>
        </p:txBody>
      </p:sp>
      <p:sp>
        <p:nvSpPr>
          <p:cNvPr id="53" name="Rectangle 52"/>
          <p:cNvSpPr/>
          <p:nvPr/>
        </p:nvSpPr>
        <p:spPr>
          <a:xfrm>
            <a:off x="548640" y="4398264"/>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4448264"/>
            <a:ext cx="1661160" cy="438912"/>
          </a:xfrm>
          <a:prstGeom prst="rect">
            <a:avLst/>
          </a:prstGeom>
          <a:noFill/>
        </p:spPr>
        <p:txBody>
          <a:bodyPr wrap="square">
            <a:spAutoFit/>
          </a:bodyPr>
          <a:lstStyle/>
          <a:p>
            <a:pPr algn="l"/>
            <a:r>
              <a:rPr sz="1300" b="0">
                <a:solidFill>
                  <a:srgbClr val="B8C0CC"/>
                </a:solidFill>
                <a:latin typeface="Calibri"/>
              </a:rPr>
              <a:t>Void.to</a:t>
            </a:r>
          </a:p>
        </p:txBody>
      </p:sp>
      <p:sp>
        <p:nvSpPr>
          <p:cNvPr id="55" name="TextBox 54"/>
          <p:cNvSpPr txBox="1"/>
          <p:nvPr/>
        </p:nvSpPr>
        <p:spPr>
          <a:xfrm>
            <a:off x="2346960" y="4448264"/>
            <a:ext cx="1661160" cy="438912"/>
          </a:xfrm>
          <a:prstGeom prst="rect">
            <a:avLst/>
          </a:prstGeom>
          <a:noFill/>
        </p:spPr>
        <p:txBody>
          <a:bodyPr wrap="square">
            <a:spAutoFit/>
          </a:bodyPr>
          <a:lstStyle/>
          <a:p>
            <a:pPr algn="l"/>
            <a:r>
              <a:rPr sz="1300" b="0">
                <a:solidFill>
                  <a:srgbClr val="B8C0CC"/>
                </a:solidFill>
                <a:latin typeface="Calibri"/>
              </a:rPr>
              <a:t>Void.to.zip</a:t>
            </a:r>
          </a:p>
        </p:txBody>
      </p:sp>
      <p:sp>
        <p:nvSpPr>
          <p:cNvPr id="56" name="TextBox 55"/>
          <p:cNvSpPr txBox="1"/>
          <p:nvPr/>
        </p:nvSpPr>
        <p:spPr>
          <a:xfrm>
            <a:off x="4099560" y="4448264"/>
            <a:ext cx="1661160" cy="438912"/>
          </a:xfrm>
          <a:prstGeom prst="rect">
            <a:avLst/>
          </a:prstGeom>
          <a:noFill/>
        </p:spPr>
        <p:txBody>
          <a:bodyPr wrap="square">
            <a:spAutoFit/>
          </a:bodyPr>
          <a:lstStyle/>
          <a:p>
            <a:pPr algn="l"/>
            <a:r>
              <a:rPr sz="1300" b="0">
                <a:solidFill>
                  <a:srgbClr val="B8C0CC"/>
                </a:solidFill>
                <a:latin typeface="Calibri"/>
              </a:rPr>
              <a:t>MyBB</a:t>
            </a:r>
          </a:p>
        </p:txBody>
      </p:sp>
      <p:sp>
        <p:nvSpPr>
          <p:cNvPr id="57" name="TextBox 56"/>
          <p:cNvSpPr txBox="1"/>
          <p:nvPr/>
        </p:nvSpPr>
        <p:spPr>
          <a:xfrm>
            <a:off x="5852160" y="444826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58" name="TextBox 57"/>
          <p:cNvSpPr txBox="1"/>
          <p:nvPr/>
        </p:nvSpPr>
        <p:spPr>
          <a:xfrm>
            <a:off x="7604760" y="444826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59" name="TextBox 58"/>
          <p:cNvSpPr txBox="1"/>
          <p:nvPr/>
        </p:nvSpPr>
        <p:spPr>
          <a:xfrm>
            <a:off x="9357360" y="4448264"/>
            <a:ext cx="1661160" cy="438912"/>
          </a:xfrm>
          <a:prstGeom prst="rect">
            <a:avLst/>
          </a:prstGeom>
          <a:noFill/>
        </p:spPr>
        <p:txBody>
          <a:bodyPr wrap="square">
            <a:spAutoFit/>
          </a:bodyPr>
          <a:lstStyle/>
          <a:p>
            <a:pPr algn="l"/>
            <a:r>
              <a:rPr sz="1300" b="0">
                <a:solidFill>
                  <a:srgbClr val="B8C0CC"/>
                </a:solidFill>
                <a:latin typeface="Calibri"/>
              </a:rPr>
              <a:t>Descartado (schema-only)</a:t>
            </a:r>
          </a:p>
        </p:txBody>
      </p:sp>
      <p:sp>
        <p:nvSpPr>
          <p:cNvPr id="60" name="TextBox 59"/>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Tier A = dump SQL completo. Tier A↓ = sin posts. Tier — = sin datos.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El bug que no esperabas — IPS 3.x sin prefijo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Problema: load_forum() devuelve {} para Nulled.io → 0 posts cargados</a:t>
            </a:r>
          </a:p>
          <a:p>
            <a:pPr algn="l" marL="0" indent="-228600"/>
            <a:r>
              <a:rPr sz="2000" b="0">
                <a:solidFill>
                  <a:srgbClr val="B8C0CC"/>
                </a:solidFill>
                <a:latin typeface="Calibri"/>
              </a:rPr>
              <a:t>▸  Diagnóstico: is_mybb() devuelve True porque _TABLE_MAP tiene clave 'posts'</a:t>
            </a:r>
          </a:p>
          <a:p>
            <a:pPr algn="l" marL="0" indent="-228600"/>
            <a:r>
              <a:rPr sz="2000" b="0">
                <a:solidFill>
                  <a:srgbClr val="B8C0CC"/>
                </a:solidFill>
                <a:latin typeface="Calibri"/>
              </a:rPr>
              <a:t>▸  IPS 3.x sin prefijo tiene exactamente una tabla llamada 'posts' → falso positivo</a:t>
            </a:r>
          </a:p>
          <a:p>
            <a:pPr algn="l" marL="0" indent="-228600"/>
            <a:r>
              <a:rPr sz="2000" b="0">
                <a:solidFill>
                  <a:srgbClr val="B8C0CC"/>
                </a:solidFill>
                <a:latin typeface="Calibri"/>
              </a:rPr>
              <a:t>▸  Fix: ejecutar _detect_version() (IPS-específico, comprueba columna member_id) ANTES de is_mybb()</a:t>
            </a:r>
          </a:p>
          <a:p>
            <a:pPr algn="l" marL="0" indent="-228600"/>
            <a:r>
              <a:rPr sz="2000" b="0">
                <a:solidFill>
                  <a:srgbClr val="B8C0CC"/>
                </a:solidFill>
                <a:latin typeface="Calibri"/>
              </a:rPr>
              <a:t>▸  Lección: los parsers genéricos fallan en variantes de schema — siempre testear con dumps reales</a:t>
            </a:r>
          </a:p>
          <a:p>
            <a:pPr lvl="1" algn="l" marL="274320" indent="-228600"/>
            <a:r>
              <a:rPr sz="1700" b="0">
                <a:solidFill>
                  <a:srgbClr val="606878"/>
                </a:solidFill>
                <a:latin typeface="Calibri"/>
              </a:rPr>
              <a:t>·  3,200,000 posts de Nulled.io perdidos hasta encontrar el bug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2</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EDA y detección de idioma</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Notebook 00 — entender el dato antes del modelo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EDA comparativo — cinco foros muy distintos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Escala: OGUsers (4.9M posts) vs. Exploit.in (80K posts) → ×60 diferencia de volumen</a:t>
            </a:r>
          </a:p>
          <a:p>
            <a:pPr algn="l" marL="0" indent="-228600"/>
            <a:r>
              <a:rPr sz="2000" b="0">
                <a:solidFill>
                  <a:srgbClr val="B8C0CC"/>
                </a:solidFill>
                <a:latin typeface="Calibri"/>
              </a:rPr>
              <a:t>▸  Épocas distintas: Exploit.in 2013, OGUsers 2019, RaidForums 2021 → evolución del ecosistema</a:t>
            </a:r>
          </a:p>
          <a:p>
            <a:pPr algn="l" marL="0" indent="-228600"/>
            <a:r>
              <a:rPr sz="2000" b="0">
                <a:solidFill>
                  <a:srgbClr val="B8C0CC"/>
                </a:solidFill>
                <a:latin typeface="Calibri"/>
              </a:rPr>
              <a:t>▸  Actividad temporal: cada foro tiene su propio ciclo de vida y eventos de pico</a:t>
            </a:r>
          </a:p>
          <a:p>
            <a:pPr algn="l" marL="0" indent="-228600"/>
            <a:r>
              <a:rPr sz="2000" b="0">
                <a:solidFill>
                  <a:srgbClr val="B8C0CC"/>
                </a:solidFill>
                <a:latin typeface="Calibri"/>
              </a:rPr>
              <a:t>▸  Longitud de posts: foros de hacking tienden a posts más cortos y técnicos que los ideológicos</a:t>
            </a:r>
          </a:p>
          <a:p>
            <a:pPr algn="l" marL="0" indent="-228600"/>
            <a:r>
              <a:rPr sz="2000" b="0">
                <a:solidFill>
                  <a:srgbClr val="B8C0CC"/>
                </a:solidFill>
                <a:latin typeface="Calibri"/>
              </a:rPr>
              <a:t>▸  El EDA ya revela la especialización: OGUsers = acceso, Exploit.in = técnica, RaidForums = filtraciones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Detección de idioma — la decisión de pipeline</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Paso obligatorio: Burrows' Delta, NER y BERTopic son idioma-específicos</a:t>
            </a:r>
          </a:p>
          <a:p>
            <a:pPr algn="l" marL="0" indent="-228600"/>
            <a:r>
              <a:rPr sz="2000" b="0">
                <a:solidFill>
                  <a:srgbClr val="B8C0CC"/>
                </a:solidFill>
                <a:latin typeface="Calibri"/>
              </a:rPr>
              <a:t>▸  Método: sample de 500 posts por foro con langdetect, truncado a 2000 chars</a:t>
            </a:r>
          </a:p>
          <a:p>
            <a:pPr algn="l" marL="0" indent="-228600"/>
            <a:r>
              <a:rPr sz="2000" b="0">
                <a:solidFill>
                  <a:srgbClr val="B8C0CC"/>
                </a:solidFill>
                <a:latin typeface="Calibri"/>
              </a:rPr>
              <a:t>▸  OGUsers / Cracked.to / Nulled.io / RaidForums: &gt;85% inglés → pipeline estándar</a:t>
            </a:r>
          </a:p>
          <a:p>
            <a:pPr algn="l" marL="0" indent="-228600"/>
            <a:r>
              <a:rPr sz="2000" b="0">
                <a:solidFill>
                  <a:srgbClr val="B8C0CC"/>
                </a:solidFill>
                <a:latin typeface="Calibri"/>
              </a:rPr>
              <a:t>▸  Exploit.in: ~80%+ ruso → pipeline separado</a:t>
            </a:r>
          </a:p>
          <a:p>
            <a:pPr lvl="1" algn="l" marL="274320" indent="-228600"/>
            <a:r>
              <a:rPr sz="1700" b="0">
                <a:solidFill>
                  <a:srgbClr val="606878"/>
                </a:solidFill>
                <a:latin typeface="Calibri"/>
              </a:rPr>
              <a:t>·  BERTopic: modelo multilingüe paraphrase-multilingual-mpnet-base-v2</a:t>
            </a:r>
          </a:p>
          <a:p>
            <a:pPr lvl="1" algn="l" marL="274320" indent="-228600"/>
            <a:r>
              <a:rPr sz="1700" b="0">
                <a:solidFill>
                  <a:srgbClr val="606878"/>
                </a:solidFill>
                <a:latin typeface="Calibri"/>
              </a:rPr>
              <a:t>·  NER: excluir de qwen2.5:14b (rendimiento inferior en ruso)</a:t>
            </a:r>
          </a:p>
          <a:p>
            <a:pPr lvl="1" algn="l" marL="274320" indent="-228600"/>
            <a:r>
              <a:rPr sz="1700" b="0">
                <a:solidFill>
                  <a:srgbClr val="606878"/>
                </a:solidFill>
                <a:latin typeface="Calibri"/>
              </a:rPr>
              <a:t>·  Embeddings: qwen3-embedding es multilingual → válido para todos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Decisión de pipeline por foro y técnica</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1661160" cy="438912"/>
          </a:xfrm>
          <a:prstGeom prst="rect">
            <a:avLst/>
          </a:prstGeom>
          <a:noFill/>
        </p:spPr>
        <p:txBody>
          <a:bodyPr wrap="square">
            <a:spAutoFit/>
          </a:bodyPr>
          <a:lstStyle/>
          <a:p>
            <a:pPr algn="l"/>
            <a:r>
              <a:rPr sz="1400" b="1">
                <a:solidFill>
                  <a:srgbClr val="FFFFFF"/>
                </a:solidFill>
                <a:latin typeface="Calibri"/>
              </a:rPr>
              <a:t>Técnica</a:t>
            </a:r>
          </a:p>
        </p:txBody>
      </p:sp>
      <p:sp>
        <p:nvSpPr>
          <p:cNvPr id="6" name="TextBox 5"/>
          <p:cNvSpPr txBox="1"/>
          <p:nvPr/>
        </p:nvSpPr>
        <p:spPr>
          <a:xfrm>
            <a:off x="2346960" y="1385880"/>
            <a:ext cx="1661160" cy="438912"/>
          </a:xfrm>
          <a:prstGeom prst="rect">
            <a:avLst/>
          </a:prstGeom>
          <a:noFill/>
        </p:spPr>
        <p:txBody>
          <a:bodyPr wrap="square">
            <a:spAutoFit/>
          </a:bodyPr>
          <a:lstStyle/>
          <a:p>
            <a:pPr algn="l"/>
            <a:r>
              <a:rPr sz="1400" b="1">
                <a:solidFill>
                  <a:srgbClr val="FFFFFF"/>
                </a:solidFill>
                <a:latin typeface="Calibri"/>
              </a:rPr>
              <a:t>OGUsers</a:t>
            </a:r>
          </a:p>
        </p:txBody>
      </p:sp>
      <p:sp>
        <p:nvSpPr>
          <p:cNvPr id="7" name="TextBox 6"/>
          <p:cNvSpPr txBox="1"/>
          <p:nvPr/>
        </p:nvSpPr>
        <p:spPr>
          <a:xfrm>
            <a:off x="4099560" y="1385880"/>
            <a:ext cx="1661160" cy="438912"/>
          </a:xfrm>
          <a:prstGeom prst="rect">
            <a:avLst/>
          </a:prstGeom>
          <a:noFill/>
        </p:spPr>
        <p:txBody>
          <a:bodyPr wrap="square">
            <a:spAutoFit/>
          </a:bodyPr>
          <a:lstStyle/>
          <a:p>
            <a:pPr algn="l"/>
            <a:r>
              <a:rPr sz="1400" b="1">
                <a:solidFill>
                  <a:srgbClr val="FFFFFF"/>
                </a:solidFill>
                <a:latin typeface="Calibri"/>
              </a:rPr>
              <a:t>Exploit.in</a:t>
            </a:r>
          </a:p>
        </p:txBody>
      </p:sp>
      <p:sp>
        <p:nvSpPr>
          <p:cNvPr id="8" name="TextBox 7"/>
          <p:cNvSpPr txBox="1"/>
          <p:nvPr/>
        </p:nvSpPr>
        <p:spPr>
          <a:xfrm>
            <a:off x="5852160" y="1385880"/>
            <a:ext cx="1661160" cy="438912"/>
          </a:xfrm>
          <a:prstGeom prst="rect">
            <a:avLst/>
          </a:prstGeom>
          <a:noFill/>
        </p:spPr>
        <p:txBody>
          <a:bodyPr wrap="square">
            <a:spAutoFit/>
          </a:bodyPr>
          <a:lstStyle/>
          <a:p>
            <a:pPr algn="l"/>
            <a:r>
              <a:rPr sz="1400" b="1">
                <a:solidFill>
                  <a:srgbClr val="FFFFFF"/>
                </a:solidFill>
                <a:latin typeface="Calibri"/>
              </a:rPr>
              <a:t>Cracked.to</a:t>
            </a:r>
          </a:p>
        </p:txBody>
      </p:sp>
      <p:sp>
        <p:nvSpPr>
          <p:cNvPr id="9" name="TextBox 8"/>
          <p:cNvSpPr txBox="1"/>
          <p:nvPr/>
        </p:nvSpPr>
        <p:spPr>
          <a:xfrm>
            <a:off x="7604760" y="1385880"/>
            <a:ext cx="1661160" cy="438912"/>
          </a:xfrm>
          <a:prstGeom prst="rect">
            <a:avLst/>
          </a:prstGeom>
          <a:noFill/>
        </p:spPr>
        <p:txBody>
          <a:bodyPr wrap="square">
            <a:spAutoFit/>
          </a:bodyPr>
          <a:lstStyle/>
          <a:p>
            <a:pPr algn="l"/>
            <a:r>
              <a:rPr sz="1400" b="1">
                <a:solidFill>
                  <a:srgbClr val="FFFFFF"/>
                </a:solidFill>
                <a:latin typeface="Calibri"/>
              </a:rPr>
              <a:t>Nulled.io</a:t>
            </a:r>
          </a:p>
        </p:txBody>
      </p:sp>
      <p:sp>
        <p:nvSpPr>
          <p:cNvPr id="10" name="TextBox 9"/>
          <p:cNvSpPr txBox="1"/>
          <p:nvPr/>
        </p:nvSpPr>
        <p:spPr>
          <a:xfrm>
            <a:off x="9357360" y="1385880"/>
            <a:ext cx="1661160" cy="438912"/>
          </a:xfrm>
          <a:prstGeom prst="rect">
            <a:avLst/>
          </a:prstGeom>
          <a:noFill/>
        </p:spPr>
        <p:txBody>
          <a:bodyPr wrap="square">
            <a:spAutoFit/>
          </a:bodyPr>
          <a:lstStyle/>
          <a:p>
            <a:pPr algn="l"/>
            <a:r>
              <a:rPr sz="1400" b="1">
                <a:solidFill>
                  <a:srgbClr val="FFFFFF"/>
                </a:solidFill>
                <a:latin typeface="Calibri"/>
              </a:rPr>
              <a:t>RaidForums</a:t>
            </a:r>
          </a:p>
        </p:txBody>
      </p:sp>
      <p:sp>
        <p:nvSpPr>
          <p:cNvPr id="11" name="Rectangle 10"/>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14792"/>
            <a:ext cx="1661160" cy="438912"/>
          </a:xfrm>
          <a:prstGeom prst="rect">
            <a:avLst/>
          </a:prstGeom>
          <a:noFill/>
        </p:spPr>
        <p:txBody>
          <a:bodyPr wrap="square">
            <a:spAutoFit/>
          </a:bodyPr>
          <a:lstStyle/>
          <a:p>
            <a:pPr algn="l"/>
            <a:r>
              <a:rPr sz="1300" b="0">
                <a:solidFill>
                  <a:srgbClr val="B8C0CC"/>
                </a:solidFill>
                <a:latin typeface="Calibri"/>
              </a:rPr>
              <a:t>BERTopic (en)</a:t>
            </a:r>
          </a:p>
        </p:txBody>
      </p:sp>
      <p:sp>
        <p:nvSpPr>
          <p:cNvPr id="13" name="TextBox 12"/>
          <p:cNvSpPr txBox="1"/>
          <p:nvPr/>
        </p:nvSpPr>
        <p:spPr>
          <a:xfrm>
            <a:off x="2346960" y="1814792"/>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14" name="TextBox 13"/>
          <p:cNvSpPr txBox="1"/>
          <p:nvPr/>
        </p:nvSpPr>
        <p:spPr>
          <a:xfrm>
            <a:off x="4099560" y="1814792"/>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15" name="TextBox 14"/>
          <p:cNvSpPr txBox="1"/>
          <p:nvPr/>
        </p:nvSpPr>
        <p:spPr>
          <a:xfrm>
            <a:off x="5852160" y="1814792"/>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16" name="TextBox 15"/>
          <p:cNvSpPr txBox="1"/>
          <p:nvPr/>
        </p:nvSpPr>
        <p:spPr>
          <a:xfrm>
            <a:off x="7604760" y="1814792"/>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17" name="TextBox 16"/>
          <p:cNvSpPr txBox="1"/>
          <p:nvPr/>
        </p:nvSpPr>
        <p:spPr>
          <a:xfrm>
            <a:off x="9357360" y="1814792"/>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18" name="Rectangle 17"/>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253704"/>
            <a:ext cx="1661160" cy="438912"/>
          </a:xfrm>
          <a:prstGeom prst="rect">
            <a:avLst/>
          </a:prstGeom>
          <a:noFill/>
        </p:spPr>
        <p:txBody>
          <a:bodyPr wrap="square">
            <a:spAutoFit/>
          </a:bodyPr>
          <a:lstStyle/>
          <a:p>
            <a:pPr algn="l"/>
            <a:r>
              <a:rPr sz="1300" b="0">
                <a:solidFill>
                  <a:srgbClr val="B8C0CC"/>
                </a:solidFill>
                <a:latin typeface="Calibri"/>
              </a:rPr>
              <a:t>BERTopic (multilingual)</a:t>
            </a:r>
          </a:p>
        </p:txBody>
      </p:sp>
      <p:sp>
        <p:nvSpPr>
          <p:cNvPr id="20" name="TextBox 19"/>
          <p:cNvSpPr txBox="1"/>
          <p:nvPr/>
        </p:nvSpPr>
        <p:spPr>
          <a:xfrm>
            <a:off x="2346960" y="225370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1" name="TextBox 20"/>
          <p:cNvSpPr txBox="1"/>
          <p:nvPr/>
        </p:nvSpPr>
        <p:spPr>
          <a:xfrm>
            <a:off x="4099560" y="225370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2" name="TextBox 21"/>
          <p:cNvSpPr txBox="1"/>
          <p:nvPr/>
        </p:nvSpPr>
        <p:spPr>
          <a:xfrm>
            <a:off x="5852160" y="225370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3" name="TextBox 22"/>
          <p:cNvSpPr txBox="1"/>
          <p:nvPr/>
        </p:nvSpPr>
        <p:spPr>
          <a:xfrm>
            <a:off x="7604760" y="225370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4" name="TextBox 23"/>
          <p:cNvSpPr txBox="1"/>
          <p:nvPr/>
        </p:nvSpPr>
        <p:spPr>
          <a:xfrm>
            <a:off x="9357360" y="2253704"/>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5" name="Rectangle 24"/>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2692616"/>
            <a:ext cx="1661160" cy="438912"/>
          </a:xfrm>
          <a:prstGeom prst="rect">
            <a:avLst/>
          </a:prstGeom>
          <a:noFill/>
        </p:spPr>
        <p:txBody>
          <a:bodyPr wrap="square">
            <a:spAutoFit/>
          </a:bodyPr>
          <a:lstStyle/>
          <a:p>
            <a:pPr algn="l"/>
            <a:r>
              <a:rPr sz="1300" b="0">
                <a:solidFill>
                  <a:srgbClr val="B8C0CC"/>
                </a:solidFill>
                <a:latin typeface="Calibri"/>
              </a:rPr>
              <a:t>NER qwen2.5:14b</a:t>
            </a:r>
          </a:p>
        </p:txBody>
      </p:sp>
      <p:sp>
        <p:nvSpPr>
          <p:cNvPr id="27" name="TextBox 26"/>
          <p:cNvSpPr txBox="1"/>
          <p:nvPr/>
        </p:nvSpPr>
        <p:spPr>
          <a:xfrm>
            <a:off x="2346960" y="2692616"/>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8" name="TextBox 27"/>
          <p:cNvSpPr txBox="1"/>
          <p:nvPr/>
        </p:nvSpPr>
        <p:spPr>
          <a:xfrm>
            <a:off x="4099560" y="2692616"/>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29" name="TextBox 28"/>
          <p:cNvSpPr txBox="1"/>
          <p:nvPr/>
        </p:nvSpPr>
        <p:spPr>
          <a:xfrm>
            <a:off x="5852160" y="2692616"/>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0" name="TextBox 29"/>
          <p:cNvSpPr txBox="1"/>
          <p:nvPr/>
        </p:nvSpPr>
        <p:spPr>
          <a:xfrm>
            <a:off x="7604760" y="2692616"/>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1" name="TextBox 30"/>
          <p:cNvSpPr txBox="1"/>
          <p:nvPr/>
        </p:nvSpPr>
        <p:spPr>
          <a:xfrm>
            <a:off x="9357360" y="2692616"/>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2" name="Rectangle 31"/>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131528"/>
            <a:ext cx="1661160" cy="438912"/>
          </a:xfrm>
          <a:prstGeom prst="rect">
            <a:avLst/>
          </a:prstGeom>
          <a:noFill/>
        </p:spPr>
        <p:txBody>
          <a:bodyPr wrap="square">
            <a:spAutoFit/>
          </a:bodyPr>
          <a:lstStyle/>
          <a:p>
            <a:pPr algn="l"/>
            <a:r>
              <a:rPr sz="1300" b="0">
                <a:solidFill>
                  <a:srgbClr val="B8C0CC"/>
                </a:solidFill>
                <a:latin typeface="Calibri"/>
              </a:rPr>
              <a:t>Burrows' Delta</a:t>
            </a:r>
          </a:p>
        </p:txBody>
      </p:sp>
      <p:sp>
        <p:nvSpPr>
          <p:cNvPr id="34" name="TextBox 33"/>
          <p:cNvSpPr txBox="1"/>
          <p:nvPr/>
        </p:nvSpPr>
        <p:spPr>
          <a:xfrm>
            <a:off x="2346960" y="3131528"/>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5" name="TextBox 34"/>
          <p:cNvSpPr txBox="1"/>
          <p:nvPr/>
        </p:nvSpPr>
        <p:spPr>
          <a:xfrm>
            <a:off x="4099560" y="3131528"/>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6" name="TextBox 35"/>
          <p:cNvSpPr txBox="1"/>
          <p:nvPr/>
        </p:nvSpPr>
        <p:spPr>
          <a:xfrm>
            <a:off x="5852160" y="3131528"/>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7" name="TextBox 36"/>
          <p:cNvSpPr txBox="1"/>
          <p:nvPr/>
        </p:nvSpPr>
        <p:spPr>
          <a:xfrm>
            <a:off x="7604760" y="3131528"/>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8" name="TextBox 37"/>
          <p:cNvSpPr txBox="1"/>
          <p:nvPr/>
        </p:nvSpPr>
        <p:spPr>
          <a:xfrm>
            <a:off x="9357360" y="3131528"/>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39" name="Rectangle 38"/>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570440"/>
            <a:ext cx="1661160" cy="438912"/>
          </a:xfrm>
          <a:prstGeom prst="rect">
            <a:avLst/>
          </a:prstGeom>
          <a:noFill/>
        </p:spPr>
        <p:txBody>
          <a:bodyPr wrap="square">
            <a:spAutoFit/>
          </a:bodyPr>
          <a:lstStyle/>
          <a:p>
            <a:pPr algn="l"/>
            <a:r>
              <a:rPr sz="1300" b="0">
                <a:solidFill>
                  <a:srgbClr val="B8C0CC"/>
                </a:solidFill>
                <a:latin typeface="Calibri"/>
              </a:rPr>
              <a:t>qwen3-embedding</a:t>
            </a:r>
          </a:p>
        </p:txBody>
      </p:sp>
      <p:sp>
        <p:nvSpPr>
          <p:cNvPr id="41" name="TextBox 40"/>
          <p:cNvSpPr txBox="1"/>
          <p:nvPr/>
        </p:nvSpPr>
        <p:spPr>
          <a:xfrm>
            <a:off x="2346960" y="3570440"/>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42" name="TextBox 41"/>
          <p:cNvSpPr txBox="1"/>
          <p:nvPr/>
        </p:nvSpPr>
        <p:spPr>
          <a:xfrm>
            <a:off x="4099560" y="3570440"/>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43" name="TextBox 42"/>
          <p:cNvSpPr txBox="1"/>
          <p:nvPr/>
        </p:nvSpPr>
        <p:spPr>
          <a:xfrm>
            <a:off x="5852160" y="3570440"/>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44" name="TextBox 43"/>
          <p:cNvSpPr txBox="1"/>
          <p:nvPr/>
        </p:nvSpPr>
        <p:spPr>
          <a:xfrm>
            <a:off x="7604760" y="3570440"/>
            <a:ext cx="1661160" cy="438912"/>
          </a:xfrm>
          <a:prstGeom prst="rect">
            <a:avLst/>
          </a:prstGeom>
          <a:noFill/>
        </p:spPr>
        <p:txBody>
          <a:bodyPr wrap="square">
            <a:spAutoFit/>
          </a:bodyPr>
          <a:lstStyle/>
          <a:p>
            <a:pPr algn="l"/>
            <a:r>
              <a:rPr sz="1300" b="0">
                <a:solidFill>
                  <a:srgbClr val="B8C0CC"/>
                </a:solidFill>
                <a:latin typeface="Calibri"/>
              </a:rPr>
              <a:t>✓</a:t>
            </a:r>
          </a:p>
        </p:txBody>
      </p:sp>
      <p:sp>
        <p:nvSpPr>
          <p:cNvPr id="45" name="TextBox 44"/>
          <p:cNvSpPr txBox="1"/>
          <p:nvPr/>
        </p:nvSpPr>
        <p:spPr>
          <a:xfrm>
            <a:off x="9357360" y="3570440"/>
            <a:ext cx="1661160" cy="438912"/>
          </a:xfrm>
          <a:prstGeom prst="rect">
            <a:avLst/>
          </a:prstGeom>
          <a:noFill/>
        </p:spPr>
        <p:txBody>
          <a:bodyPr wrap="square">
            <a:spAutoFit/>
          </a:bodyPr>
          <a:lstStyle/>
          <a:p>
            <a:pPr algn="l"/>
            <a:r>
              <a:rPr sz="1300" b="0">
                <a:solidFill>
                  <a:srgbClr val="B8C0CC"/>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EDA y detección de idioma</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HackingForums/00_extract_and_explore.ipynb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00_extract_and_explore</a:t>
            </a:r>
          </a:p>
          <a:p>
            <a:r>
              <a:rPr sz="1900">
                <a:solidFill>
                  <a:srgbClr val="B8C0CC"/>
                </a:solidFill>
                <a:latin typeface="Calibri"/>
              </a:rPr>
              <a:t>2.  Sección 2: tabla comparativa de los 5 foros (usuarios, posts, rango de fechas)</a:t>
            </a:r>
          </a:p>
          <a:p>
            <a:r>
              <a:rPr sz="1900">
                <a:solidFill>
                  <a:srgbClr val="B8C0CC"/>
                </a:solidFill>
                <a:latin typeface="Calibri"/>
              </a:rPr>
              <a:t>3.  Sección 5: gráfica de distribución de idioma por foro</a:t>
            </a:r>
          </a:p>
          <a:p>
            <a:r>
              <a:rPr sz="1900">
                <a:solidFill>
                  <a:srgbClr val="B8C0CC"/>
                </a:solidFill>
                <a:latin typeface="Calibri"/>
              </a:rPr>
              <a:t>4.  Observar: Exploit.in claramente separado del resto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3</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Red de co-participación y pivoting de handles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¿Quién es quién a través de los foros?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Red de co-participación — OGUsers como caso de estudio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Grafo usuario↔usuario: arista si ambos postearon en el mismo hilo</a:t>
            </a:r>
          </a:p>
          <a:p>
            <a:pPr algn="l" marL="0" indent="-228600"/>
            <a:r>
              <a:rPr sz="2000" b="0">
                <a:solidFill>
                  <a:srgbClr val="B8C0CC"/>
                </a:solidFill>
                <a:latin typeface="Calibri"/>
              </a:rPr>
              <a:t>▸  Muestra: hasta 5,000 threads → componente gigante con brokers identificables</a:t>
            </a:r>
          </a:p>
          <a:p>
            <a:pPr algn="l" marL="0" indent="-228600"/>
            <a:r>
              <a:rPr sz="2000" b="0">
                <a:solidFill>
                  <a:srgbClr val="B8C0CC"/>
                </a:solidFill>
                <a:latin typeface="Calibri"/>
              </a:rPr>
              <a:t>▸  Betweenness centrality: revela intermediarios entre subcomunidades</a:t>
            </a:r>
          </a:p>
          <a:p>
            <a:pPr algn="l" marL="0" indent="-228600"/>
            <a:r>
              <a:rPr sz="2000" b="0">
                <a:solidFill>
                  <a:srgbClr val="B8C0CC"/>
                </a:solidFill>
                <a:latin typeface="Calibri"/>
              </a:rPr>
              <a:t>▸  Visualización Plotly: top-150 nodos, color y tamaño por degree</a:t>
            </a:r>
          </a:p>
          <a:p>
            <a:pPr algn="l" marL="0" indent="-228600"/>
            <a:r>
              <a:rPr sz="2000" b="0">
                <a:solidFill>
                  <a:srgbClr val="B8C0CC"/>
                </a:solidFill>
                <a:latin typeface="Calibri"/>
              </a:rPr>
              <a:t>▸  Los brokers de OGUsers son candidatos prioritarios a pivoting cross-foro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Pivoting de handles — dos niveles de señal</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Matching exacto (alta precisión)</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Normalización: lowercase + strip</a:t>
            </a:r>
          </a:p>
          <a:p>
            <a:r>
              <a:rPr sz="1800">
                <a:solidFill>
                  <a:srgbClr val="B8C0CC"/>
                </a:solidFill>
                <a:latin typeface="Calibri"/>
              </a:rPr>
              <a:t>▸  Coincidencia case-insensitive entre los 5 foros</a:t>
            </a:r>
          </a:p>
          <a:p>
            <a:r>
              <a:rPr sz="1800">
                <a:solidFill>
                  <a:srgbClr val="B8C0CC"/>
                </a:solidFill>
                <a:latin typeface="Calibri"/>
              </a:rPr>
              <a:t>▸  Resultado: handles en ≥2 foros → candidatos a misma persona</a:t>
            </a:r>
          </a:p>
          <a:p>
            <a:r>
              <a:rPr sz="1800">
                <a:solidFill>
                  <a:srgbClr val="B8C0CC"/>
                </a:solidFill>
                <a:latin typeface="Calibri"/>
              </a:rPr>
              <a:t>▸  Conservador pero sin falsos positivos</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Fuzzy matching (mayor cobertura)</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rapidfuzz con threshold ≥85%</a:t>
            </a:r>
          </a:p>
          <a:p>
            <a:r>
              <a:rPr sz="1800">
                <a:solidFill>
                  <a:srgbClr val="B8C0CC"/>
                </a:solidFill>
                <a:latin typeface="Calibri"/>
              </a:rPr>
              <a:t>▸  Captura variaciones: user_v2, user_, user123</a:t>
            </a:r>
          </a:p>
          <a:p>
            <a:r>
              <a:rPr sz="1800">
                <a:solidFill>
                  <a:srgbClr val="B8C0CC"/>
                </a:solidFill>
                <a:latin typeface="Calibri"/>
              </a:rPr>
              <a:t>▸  Enriquecido con similitud coseno de embeddings</a:t>
            </a:r>
          </a:p>
          <a:p>
            <a:r>
              <a:rPr sz="1800">
                <a:solidFill>
                  <a:srgbClr val="B8C0CC"/>
                </a:solidFill>
                <a:latin typeface="Calibri"/>
              </a:rPr>
              <a:t>▸  Más ruido, pero detecta cambios deliberados de handle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Limpieza — el filtro epoch-0</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Problema: gráficas de actividad temporal arrancan en 1970</a:t>
            </a:r>
          </a:p>
          <a:p>
            <a:pPr algn="l" marL="0" indent="-228600"/>
            <a:r>
              <a:rPr sz="2000" b="0">
                <a:solidFill>
                  <a:srgbClr val="B8C0CC"/>
                </a:solidFill>
                <a:latin typeface="Calibri"/>
              </a:rPr>
              <a:t>▸  Causa: dateline = 0 (Unix timestamp nulo) → pd.to_datetime lo interpreta como 1970-01-01</a:t>
            </a:r>
          </a:p>
          <a:p>
            <a:pPr algn="l" marL="0" indent="-228600"/>
            <a:r>
              <a:rPr sz="2000" b="0">
                <a:solidFill>
                  <a:srgbClr val="B8C0CC"/>
                </a:solidFill>
                <a:latin typeface="Calibri"/>
              </a:rPr>
              <a:t>▸  Fix en notebook 01: filtrar posts con año &lt; 2000 antes de cualquier análisis temporal</a:t>
            </a:r>
          </a:p>
          <a:p>
            <a:pPr algn="l" marL="0" indent="-228600"/>
            <a:r>
              <a:rPr sz="2000" b="0">
                <a:solidFill>
                  <a:srgbClr val="B8C0CC"/>
                </a:solidFill>
                <a:latin typeface="Calibri"/>
              </a:rPr>
              <a:t>▸  Impacto real: solo afecta a un pequeño % de registros con timestamp corrupto</a:t>
            </a:r>
          </a:p>
          <a:p>
            <a:pPr algn="l" marL="0" indent="-228600"/>
            <a:r>
              <a:rPr sz="2000" b="0">
                <a:solidFill>
                  <a:srgbClr val="B8C0CC"/>
                </a:solidFill>
                <a:latin typeface="Calibri"/>
              </a:rPr>
              <a:t>▸  Regla general: validar siempre el rango de fechas antes de cualquier análisis temporal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4</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LLM local y embeddings cross-foro</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NER, BERTopic y perfilado multi-foro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NER en dominio hacking — entidades especializadas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Tipos estándar (PERSON, ORG) no son suficientes para el dominio underground</a:t>
            </a:r>
          </a:p>
          <a:p>
            <a:pPr algn="l" marL="0" indent="-228600"/>
            <a:r>
              <a:rPr sz="2000" b="0">
                <a:solidFill>
                  <a:srgbClr val="B8C0CC"/>
                </a:solidFill>
                <a:latin typeface="Calibri"/>
              </a:rPr>
              <a:t>▸  Tipos específicos definidos: ALIAS, TOOL, MALWARE, CVE, MARKETPLACE</a:t>
            </a:r>
          </a:p>
          <a:p>
            <a:pPr algn="l" marL="0" indent="-228600"/>
            <a:r>
              <a:rPr sz="2000" b="0">
                <a:solidFill>
                  <a:srgbClr val="B8C0CC"/>
                </a:solidFill>
                <a:latin typeface="Calibri"/>
              </a:rPr>
              <a:t>▸  Estrategia: top-50 usuarios × top-50 posts más largos (solo foros en inglés)</a:t>
            </a:r>
          </a:p>
          <a:p>
            <a:pPr algn="l" marL="0" indent="-228600"/>
            <a:r>
              <a:rPr sz="2000" b="0">
                <a:solidFill>
                  <a:srgbClr val="B8C0CC"/>
                </a:solidFill>
                <a:latin typeface="Calibri"/>
              </a:rPr>
              <a:t>▸  Checkpoint automático cada 10 usuarios → reanudable si falla el LLM</a:t>
            </a:r>
          </a:p>
          <a:p>
            <a:pPr algn="l" marL="0" indent="-228600"/>
            <a:r>
              <a:rPr sz="2000" b="0">
                <a:solidFill>
                  <a:srgbClr val="B8C0CC"/>
                </a:solidFill>
                <a:latin typeface="Calibri"/>
              </a:rPr>
              <a:t>▸  Exploit.in excluido: usar DeepPavlov/rubert o spacy ru_core_news_lg para ruso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Embeddings cross-foro — estrategia A vs C</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Objetivo: representar a cada usuario con un vector para comparar entre foros</a:t>
            </a:r>
          </a:p>
          <a:p>
            <a:pPr algn="l" marL="0" indent="-228600"/>
            <a:r>
              <a:rPr sz="2000" b="0">
                <a:solidFill>
                  <a:srgbClr val="B8C0CC"/>
                </a:solidFill>
                <a:latin typeface="Calibri"/>
              </a:rPr>
              <a:t>▸  A — embed_users: concatenar todos los posts → 1 vector/usuario (50K chars máx)</a:t>
            </a:r>
          </a:p>
          <a:p>
            <a:pPr algn="l" marL="0" indent="-228600"/>
            <a:r>
              <a:rPr sz="2000" b="0">
                <a:solidFill>
                  <a:srgbClr val="B8C0CC"/>
                </a:solidFill>
                <a:latin typeface="Calibri"/>
              </a:rPr>
              <a:t>▸  C — centroids muestreados: top-50 posts más largos → 1 embedding/post, promedio</a:t>
            </a:r>
          </a:p>
          <a:p>
            <a:pPr algn="l" marL="0" indent="-228600"/>
            <a:r>
              <a:rPr sz="2000" b="0">
                <a:solidFill>
                  <a:srgbClr val="B8C0CC"/>
                </a:solidFill>
                <a:latin typeface="Calibri"/>
              </a:rPr>
              <a:t>▸  Comparación Spearman: ρ(A vs C) indica si ambas estrategias preservan la misma estructura</a:t>
            </a:r>
          </a:p>
          <a:p>
            <a:pPr algn="l" marL="0" indent="-228600"/>
            <a:r>
              <a:rPr sz="2000" b="0">
                <a:solidFill>
                  <a:srgbClr val="B8C0CC"/>
                </a:solidFill>
                <a:latin typeface="Calibri"/>
              </a:rPr>
              <a:t>▸  Con ~21K usuarios en A y ~11K en C, la comparativa valida la estrategia de muestreo</a:t>
            </a:r>
          </a:p>
          <a:p>
            <a:pPr algn="l" marL="0" indent="-228600"/>
            <a:r>
              <a:rPr sz="2000" b="0">
                <a:solidFill>
                  <a:srgbClr val="B8C0CC"/>
                </a:solidFill>
                <a:latin typeface="Calibri"/>
              </a:rPr>
              <a:t>▸  qwen3-embedding (4096D) es multilingual → válido para Exploit.in en ruso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Señal combinada de atribución cross-foro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Ninguna señal sola es suficiente para afirmar que dos usuarios son la misma persona</a:t>
            </a:r>
          </a:p>
          <a:p>
            <a:pPr algn="l" marL="0" indent="-228600"/>
            <a:r>
              <a:rPr sz="2000" b="0">
                <a:solidFill>
                  <a:srgbClr val="B8C0CC"/>
                </a:solidFill>
                <a:latin typeface="Calibri"/>
              </a:rPr>
              <a:t>▸  Handle exacto o fuzzy: señal fuerte pero eludible (cambiar nombre es trivial)</a:t>
            </a:r>
          </a:p>
          <a:p>
            <a:pPr algn="l" marL="0" indent="-228600"/>
            <a:r>
              <a:rPr sz="2000" b="0">
                <a:solidFill>
                  <a:srgbClr val="B8C0CC"/>
                </a:solidFill>
                <a:latin typeface="Calibri"/>
              </a:rPr>
              <a:t>▸  Similitud coseno de embeddings: captura estilo aunque el handle cambie</a:t>
            </a:r>
          </a:p>
          <a:p>
            <a:pPr algn="l" marL="0" indent="-228600"/>
            <a:r>
              <a:rPr sz="2000" b="0">
                <a:solidFill>
                  <a:srgbClr val="B8C0CC"/>
                </a:solidFill>
                <a:latin typeface="Calibri"/>
              </a:rPr>
              <a:t>▸  Burrows' Delta cross-foro: misma distribución de palabras función → mismo autor</a:t>
            </a:r>
          </a:p>
          <a:p>
            <a:pPr algn="l" marL="0" indent="-228600"/>
            <a:r>
              <a:rPr sz="2000" b="0">
                <a:solidFill>
                  <a:srgbClr val="B8C0CC"/>
                </a:solidFill>
                <a:latin typeface="Calibri"/>
              </a:rPr>
              <a:t>▸  Combinación: score = (handle_sim + 1 - delta_norm + embedding_sim) / 3</a:t>
            </a:r>
          </a:p>
          <a:p>
            <a:pPr algn="l" marL="0" indent="-228600"/>
            <a:r>
              <a:rPr sz="2000" b="0">
                <a:solidFill>
                  <a:srgbClr val="B8C0CC"/>
                </a:solidFill>
                <a:latin typeface="Calibri"/>
              </a:rPr>
              <a:t>▸  Threshold práctico: score &gt; 0.7 con ≥2 señales → candidato de alta prioridad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matching cross-foro</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HackingForums/03_embeddings_profiling.ipynb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03_embeddings_profiling</a:t>
            </a:r>
          </a:p>
          <a:p>
            <a:r>
              <a:rPr sz="1900">
                <a:solidFill>
                  <a:srgbClr val="B8C0CC"/>
                </a:solidFill>
                <a:latin typeface="Calibri"/>
              </a:rPr>
              <a:t>2.  Sección 3: tabla de handles exactos compartidos entre foros</a:t>
            </a:r>
          </a:p>
          <a:p>
            <a:r>
              <a:rPr sz="1900">
                <a:solidFill>
                  <a:srgbClr val="B8C0CC"/>
                </a:solidFill>
                <a:latin typeface="Calibri"/>
              </a:rPr>
              <a:t>3.  Sección 3: fuzzy matching — ver handles similares (no idénticos)</a:t>
            </a:r>
          </a:p>
          <a:p>
            <a:r>
              <a:rPr sz="1900">
                <a:solidFill>
                  <a:srgbClr val="B8C0CC"/>
                </a:solidFill>
                <a:latin typeface="Calibri"/>
              </a:rPr>
              <a:t>4.  Sección 5: score combinado → top candidatos a identidad compartida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5</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Conclusiones y aprendizajes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Qué nos enseña el caso HackingForums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Resumen ejecutivo</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Hallazgos técnicos</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Bug real: IPS 3.x sin prefijo → falso positivo MyBB (3.2M posts perdidos)</a:t>
            </a:r>
          </a:p>
          <a:p>
            <a:r>
              <a:rPr sz="1800">
                <a:solidFill>
                  <a:srgbClr val="B8C0CC"/>
                </a:solidFill>
                <a:latin typeface="Calibri"/>
              </a:rPr>
              <a:t>▸  Idioma mixto: Exploit.in ruso requiere pipeline separado en cada capa</a:t>
            </a:r>
          </a:p>
          <a:p>
            <a:r>
              <a:rPr sz="1800">
                <a:solidFill>
                  <a:srgbClr val="B8C0CC"/>
                </a:solidFill>
                <a:latin typeface="Calibri"/>
              </a:rPr>
              <a:t>▸  Epoch-0: timestamps nulos distorsionan todo el análisis temporal</a:t>
            </a:r>
          </a:p>
          <a:p>
            <a:r>
              <a:rPr sz="1800">
                <a:solidFill>
                  <a:srgbClr val="B8C0CC"/>
                </a:solidFill>
                <a:latin typeface="Calibri"/>
              </a:rPr>
              <a:t>▸  Cross-foro: handles exactos + fuzzy + embeddings = señal robusta de identidad</a:t>
            </a:r>
          </a:p>
          <a:p>
            <a:r>
              <a:rPr sz="1800">
                <a:solidFill>
                  <a:srgbClr val="B8C0CC"/>
                </a:solidFill>
                <a:latin typeface="Calibri"/>
              </a:rPr>
              <a:t>▸  qwen3-embedding multilingual: un solo modelo para 5 foros en 2 idiomas</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Aprendizajes metodológicos</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Detectar idioma ANTES de cualquier modelo NLP</a:t>
            </a:r>
          </a:p>
          <a:p>
            <a:r>
              <a:rPr sz="1800">
                <a:solidFill>
                  <a:srgbClr val="B8C0CC"/>
                </a:solidFill>
                <a:latin typeface="Calibri"/>
              </a:rPr>
              <a:t>▸  Testear parsers con dumps reales — los schemas reales divergen del estándar</a:t>
            </a:r>
          </a:p>
          <a:p>
            <a:r>
              <a:rPr sz="1800">
                <a:solidFill>
                  <a:srgbClr val="B8C0CC"/>
                </a:solidFill>
                <a:latin typeface="Calibri"/>
              </a:rPr>
              <a:t>▸  Validar rango de fechas antes de cualquier análisis temporal</a:t>
            </a:r>
          </a:p>
          <a:p>
            <a:r>
              <a:rPr sz="1800">
                <a:solidFill>
                  <a:srgbClr val="B8C0CC"/>
                </a:solidFill>
                <a:latin typeface="Calibri"/>
              </a:rPr>
              <a:t>▸  La convergencia de señales supera a cualquier métrica aislada</a:t>
            </a:r>
          </a:p>
          <a:p>
            <a:r>
              <a:rPr sz="1800">
                <a:solidFill>
                  <a:srgbClr val="B8C0CC"/>
                </a:solidFill>
                <a:latin typeface="Calibri"/>
              </a:rPr>
              <a:t>▸  El muestreo por longitud (top-N posts más largos) preserva señal estilométrica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¿Por qué este caso importa?</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Los foros underground no operan en silos — los usuarios se mueven entre plataformas</a:t>
            </a:r>
          </a:p>
          <a:p>
            <a:pPr algn="l" marL="0" indent="-228600"/>
            <a:r>
              <a:rPr sz="2000" b="0">
                <a:solidFill>
                  <a:srgbClr val="B8C0CC"/>
                </a:solidFill>
                <a:latin typeface="Calibri"/>
              </a:rPr>
              <a:t>▸  El pivoting de handles es la técnica central de atribución en threat intelligence</a:t>
            </a:r>
          </a:p>
          <a:p>
            <a:pPr algn="l" marL="0" indent="-228600"/>
            <a:r>
              <a:rPr sz="2000" b="0">
                <a:solidFill>
                  <a:srgbClr val="B8C0CC"/>
                </a:solidFill>
                <a:latin typeface="Calibri"/>
              </a:rPr>
              <a:t>▸  Un solo bug de parser puede dejar fuera millones de posts — la ingeniería importa</a:t>
            </a:r>
          </a:p>
          <a:p>
            <a:pPr algn="l" marL="0" indent="-228600"/>
            <a:r>
              <a:rPr sz="2000" b="0">
                <a:solidFill>
                  <a:srgbClr val="B8C0CC"/>
                </a:solidFill>
                <a:latin typeface="Calibri"/>
              </a:rPr>
              <a:t>▸  El idioma original es siempre mejor para estilometría, aunque dificulte el análisis</a:t>
            </a:r>
          </a:p>
          <a:p>
            <a:pPr algn="l" marL="0" indent="-228600"/>
            <a:r>
              <a:rPr sz="2000" b="0">
                <a:solidFill>
                  <a:srgbClr val="B8C0CC"/>
                </a:solidFill>
                <a:latin typeface="Calibri"/>
              </a:rPr>
              <a:t>▸  Con 5 foros y 5 años de datos, este caso captura la evolución del ecosistema hacking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