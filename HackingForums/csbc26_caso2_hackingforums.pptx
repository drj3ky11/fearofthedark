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Caso 2 — Hacking Forums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8C0CC"/>
                </a:solidFill>
                <a:latin typeface="Calibri"/>
              </a:rPr>
              <a:t>Análisis comparativo de cinco foros underground (2013–2021)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54880"/>
            <a:ext cx="3291840" cy="411480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7731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6878"/>
                </a:solidFill>
                <a:latin typeface="Calibri"/>
              </a:rPr>
              <a:t>CSBC26 · Análisis de Leaks Underground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09360"/>
            <a:ext cx="10515600" cy="4572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Datasets y clasificación por 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Qué tenemos, qué sirve y por qué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Los 7 foros evaluados — tier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515600" cy="43891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588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6960" y="138588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Archivo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9560" y="138588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Parser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38588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Idioma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4760" y="138588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57360" y="138588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Uso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64792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14792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OGUsers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6960" y="1814792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OGUsers_2019.zip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9560" y="1814792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MyBB (prefijo no estándar)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814792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Inglés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4760" y="1814792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7360" y="1814792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Red social, pivoting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203704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253704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Exploit.in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6960" y="2253704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Exploit.in_2013.12.13.zip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9560" y="2253704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IPS 3.x (ibf_)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253704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Ruso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4760" y="2253704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7360" y="2253704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Pivoting cross-foro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642616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692616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Cracked.to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6960" y="2692616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Cracked.to_2019.01.zip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99560" y="2692616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MyBB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2692616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Inglés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4760" y="2692616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7360" y="2692616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Pivoting + contenido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081528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131528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Nulled.io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46960" y="3131528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Nulled.io_2016.05.zip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9560" y="3131528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IPS 3.x (sin prefijo)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3131528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Inglés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4760" y="3131528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57360" y="3131528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Contexto histórico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520440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357044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RaidForums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46960" y="357044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RaidForums_2021.zip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99560" y="357044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MyBB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357044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Inglés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04760" y="357044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57360" y="357044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Pivoting cross-foro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959352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009352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Hackforums.net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46960" y="4009352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Hackforums.net_2015.zip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99560" y="4009352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MyBB (solo usuarios)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60" y="4009352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04760" y="4009352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A↓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57360" y="4009352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Solo handles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398264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4448264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Void.to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46960" y="4448264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Void.to.zip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99560" y="4448264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MyBB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52160" y="4448264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4760" y="4448264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57360" y="4448264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Descartado (schema-only)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878"/>
                </a:solidFill>
                <a:latin typeface="Calibri"/>
              </a:rPr>
              <a:t>ℹ  Tier A = dump SQL completo. Tier A↓ = sin posts. Tier — = sin datos.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El bug que no esperabas — IPS 3.x sin prefijo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Problema: load_forum() devuelve {} para Nulled.io → 0 posts cargados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Diagnóstico: is_mybb() devuelve True porque _TABLE_MAP tiene clave 'posts'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IPS 3.x sin prefijo tiene exactamente una tabla llamada 'posts' → falso positivo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Fix: ejecutar _detect_version() (IPS-específico, comprueba columna member_id) ANTES de is_mybb()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Lección: los parsers genéricos fallan en variantes de schema — siempre testear con dumps reales</a:t>
            </a:r>
          </a:p>
          <a:p>
            <a:pPr lvl="1" algn="l" marL="274320" indent="-228600"/>
            <a:r>
              <a:rPr sz="1700" b="0">
                <a:solidFill>
                  <a:srgbClr val="606878"/>
                </a:solidFill>
                <a:latin typeface="Calibri"/>
              </a:rPr>
              <a:t>·  3,200,000 posts de Nulled.io perdidos hasta encontrar el bug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EDA y detección de idioma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Notebook 00 — entender el dato antes del modelo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EDA comparativo — cinco foros muy distintos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Escala: OGUsers (4.9M posts) vs. Exploit.in (80K posts) → ×60 diferencia de volumen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Épocas distintas: Exploit.in 2013, OGUsers 2019, RaidForums 2021 → evolución del ecosistema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Actividad temporal: cada foro tiene su propio ciclo de vida y eventos de pico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Longitud de posts: foros de hacking tienden a posts más cortos y técnicos que los ideológicos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El EDA ya revela la especialización: OGUsers = acceso, Exploit.in = técnica, RaidForums = filtraciones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Detección de idioma — la decisión de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Paso obligatorio: Burrows' Delta, NER y BERTopic son idioma-específicos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Método: sample de 500 posts por foro con langdetect, truncado a 2000 chars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OGUsers / Cracked.to / Nulled.io / RaidForums: &gt;85% inglés → pipeline estándar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Exploit.in: ~80%+ ruso → pipeline separado</a:t>
            </a:r>
          </a:p>
          <a:p>
            <a:pPr lvl="1" algn="l" marL="274320" indent="-228600"/>
            <a:r>
              <a:rPr sz="1700" b="0">
                <a:solidFill>
                  <a:srgbClr val="606878"/>
                </a:solidFill>
                <a:latin typeface="Calibri"/>
              </a:rPr>
              <a:t>·  BERTopic: modelo multilingüe paraphrase-multilingual-mpnet-base-v2</a:t>
            </a:r>
          </a:p>
          <a:p>
            <a:pPr lvl="1" algn="l" marL="274320" indent="-228600"/>
            <a:r>
              <a:rPr sz="1700" b="0">
                <a:solidFill>
                  <a:srgbClr val="606878"/>
                </a:solidFill>
                <a:latin typeface="Calibri"/>
              </a:rPr>
              <a:t>·  NER: excluir de qwen2.5:14b (rendimiento inferior en ruso)</a:t>
            </a:r>
          </a:p>
          <a:p>
            <a:pPr lvl="1" algn="l" marL="274320" indent="-228600"/>
            <a:r>
              <a:rPr sz="1700" b="0">
                <a:solidFill>
                  <a:srgbClr val="606878"/>
                </a:solidFill>
                <a:latin typeface="Calibri"/>
              </a:rPr>
              <a:t>·  Embeddings: qwen3-embedding es multilingual → válido para todos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Decisión de pipeline por foro y técnica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515600" cy="43891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588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6960" y="138588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OGUsers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9560" y="138588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Exploit.in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38588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Cracked.to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4760" y="138588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Nulled.io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57360" y="138588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RaidForums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64792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14792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BERTopic (en)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6960" y="1814792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9560" y="1814792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814792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4760" y="1814792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7360" y="1814792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203704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253704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BERTopic (multilingual)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6960" y="2253704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9560" y="2253704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253704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4760" y="2253704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7360" y="2253704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642616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692616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NER qwen2.5:14b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6960" y="2692616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99560" y="2692616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2692616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4760" y="2692616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7360" y="2692616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081528"/>
            <a:ext cx="10515600" cy="438912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131528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Burrows' Delta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46960" y="3131528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9560" y="3131528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3131528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4760" y="3131528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57360" y="3131528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520440"/>
            <a:ext cx="10515600" cy="438912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357044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qwen3-embedding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46960" y="357044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99560" y="357044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357044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04760" y="357044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57360" y="3570440"/>
            <a:ext cx="1661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C0CC"/>
                </a:solidFill>
                <a:latin typeface="Calibri"/>
              </a:rPr>
              <a:t>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E4E"/>
                </a:solidFill>
                <a:latin typeface="Calibri"/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Demo — EDA y detección de idioma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HackingForums/00_extract_and_explore.ipynb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B8C0CC"/>
                </a:solidFill>
                <a:latin typeface="Calibri"/>
              </a:rPr>
              <a:t>1.  Abrir notebook 00_extract_and_explore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2.  Sección 2: tabla comparativa de los 5 foros (usuarios, posts, rango de fechas)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3.  Sección 5: gráfica de distribución de idioma por foro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4.  Observar: Exploit.in claramente separado del resto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Red de co-participación y pivoting de handles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¿Quién es quién a través de los foros?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Red de co-participación — OGUsers como caso de estudio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Grafo usuario↔usuario: arista si ambos postearon en el mismo hilo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Muestra: hasta 5,000 threads → componente gigante con brokers identificables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Betweenness centrality: revela intermediarios entre subcomunidades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Visualización Plotly: top-150 nodos, color y tamaño por degree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Los brokers de OGUsers son candidatos prioritarios a pivoting cross-foro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Pivoting de handles — dos niveles de señal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E4E"/>
                </a:solidFill>
                <a:latin typeface="Calibri"/>
              </a:rPr>
              <a:t>Matching exacto (alta precisión)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8C0CC"/>
                </a:solidFill>
                <a:latin typeface="Calibri"/>
              </a:rPr>
              <a:t>▸  Normalización: lowercase + strip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Coincidencia case-insensitive entre los 5 foros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Resultado: handles en ≥2 foros → candidatos a misma persona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Conservador pero sin falsos positivos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E4E"/>
                </a:solidFill>
                <a:latin typeface="Calibri"/>
              </a:rPr>
              <a:t>Fuzzy matching (mayor cobertura)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8C0CC"/>
                </a:solidFill>
                <a:latin typeface="Calibri"/>
              </a:rPr>
              <a:t>▸  rapidfuzz con threshold ≥85%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Captura variaciones: user_v2, user_, user123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Enriquecido con similitud coseno de embeddings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Más ruido, pero detecta cambios deliberados de handle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Limpieza — el filtro epoch-0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Problema: gráficas de actividad temporal arrancan en 1970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Causa: dateline = 0 (Unix timestamp nulo) → pd.to_datetime lo interpreta como 1970-01-01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Fix en notebook 01: filtrar posts con año &lt; 2000 antes de cualquier análisis temporal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Impacto real: solo afecta a un pequeño % de registros con timestamp corrupto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Regla general: validar siempre el rango de fechas antes de cualquier análisis temporal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LLM local y embeddings cross-foro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NER, BERTopic y perfilado multi-foro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NER en dominio hacking — entidades especializadas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Tipos estándar (PERSON, ORG) no son suficientes para el dominio underground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Tipos específicos definidos: ALIAS, TOOL, MALWARE, CVE, MARKETPLACE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Estrategia: top-50 usuarios × top-50 posts más largos (solo foros en inglés)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Checkpoint automático cada 10 usuarios → reanudable si falla el LLM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Exploit.in excluido: usar DeepPavlov/rubert o spacy ru_core_news_lg para ruso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Embeddings cross-foro — estrategia A vs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Objetivo: representar a cada usuario con un vector para comparar entre foros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A — embed_users: concatenar todos los posts → 1 vector/usuario (50K chars máx)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 — centroids muestreados: top-50 posts más largos → 1 embedding/post, promedio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Comparación Spearman: ρ(A vs C) indica si ambas estrategias preservan la misma estructura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Con ~21K usuarios en A y ~11K en C, la comparativa valida la estrategia de muestreo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qwen3-embedding (4096D) es multilingual → válido para Exploit.in en ruso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Señal combinada de atribución cross-foro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Ninguna señal sola es suficiente para afirmar que dos usuarios son la misma persona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Handle exacto o fuzzy: señal fuerte pero eludible (cambiar nombre es trivial)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Similitud coseno de embeddings: captura estilo aunque el handle cambie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Burrows' Delta cross-foro: misma distribución de palabras función → mismo autor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Combinación: score = (handle_sim + 1 - delta_norm + embedding_sim) / 3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Threshold práctico: score &gt; 0.7 con ≥2 señales → candidato de alta prioridad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E4E"/>
                </a:solidFill>
                <a:latin typeface="Calibri"/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Demo — matching cross-foro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878"/>
                </a:solidFill>
                <a:latin typeface="Calibri"/>
              </a:rPr>
              <a:t>HackingForums/03_embeddings_profiling.ipynb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B8C0CC"/>
                </a:solidFill>
                <a:latin typeface="Calibri"/>
              </a:rPr>
              <a:t>1.  Abrir notebook 03_embeddings_profiling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2.  Sección 3: tabla de handles exactos compartidos entre foros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3.  Sección 3: fuzzy matching — ver handles similares (no idénticos)</a:t>
            </a:r>
          </a:p>
          <a:p>
            <a:r>
              <a:rPr sz="1900">
                <a:solidFill>
                  <a:srgbClr val="B8C0CC"/>
                </a:solidFill>
                <a:latin typeface="Calibri"/>
              </a:rPr>
              <a:t>4.  Sección 5: score combinado → top candidatos a identidad compartida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7315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>
                <a:solidFill>
                  <a:srgbClr val="252545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E4E"/>
                </a:solidFill>
                <a:latin typeface="Calibri"/>
              </a:rPr>
              <a:t>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Conclusiones y aprendizajes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0CC"/>
                </a:solidFill>
                <a:latin typeface="Calibri"/>
              </a:rPr>
              <a:t>Qué nos enseña el caso HackingForums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E4E"/>
                </a:solidFill>
                <a:latin typeface="Calibri"/>
              </a:rPr>
              <a:t>Hallazgos técnicos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8C0CC"/>
                </a:solidFill>
                <a:latin typeface="Calibri"/>
              </a:rPr>
              <a:t>▸  Bug real: IPS 3.x sin prefijo → falso positivo MyBB (3.2M posts perdidos)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Idioma mixto: Exploit.in ruso requiere pipeline separado en cada capa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Epoch-0: timestamps nulos distorsionan todo el análisis temporal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Cross-foro: handles exactos + fuzzy + embeddings = señal robusta de identidad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qwen3-embedding multilingual: un solo modelo para 5 foros en 2 idiomas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E4E"/>
                </a:solidFill>
                <a:latin typeface="Calibri"/>
              </a:rPr>
              <a:t>Aprendizajes metodológicos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8C0CC"/>
                </a:solidFill>
                <a:latin typeface="Calibri"/>
              </a:rPr>
              <a:t>▸  Detectar idioma ANTES de cualquier modelo NLP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Testear parsers con dumps reales — los schemas reales divergen del estándar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Validar rango de fechas antes de cualquier análisis temporal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La convergencia de señales supera a cualquier métrica aislada</a:t>
            </a:r>
          </a:p>
          <a:p>
            <a:r>
              <a:rPr sz="1800">
                <a:solidFill>
                  <a:srgbClr val="B8C0CC"/>
                </a:solidFill>
                <a:latin typeface="Calibri"/>
              </a:rPr>
              <a:t>▸  El muestreo por longitud (top-N posts más largos) preserva señal estilométrica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097280"/>
            <a:ext cx="10515600" cy="27432"/>
          </a:xfrm>
          <a:prstGeom prst="rect">
            <a:avLst/>
          </a:prstGeom>
          <a:solidFill>
            <a:srgbClr val="E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¿Por qué este caso importa?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Los foros underground no operan en silos — los usuarios se mueven entre plataformas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El pivoting de handles es la técnica central de atribución en threat intelligence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Un solo bug de parser puede dejar fuera millones de posts — la ingeniería importa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El idioma original es siempre mejor para estilometría, aunque dificulte el análisis</a:t>
            </a:r>
          </a:p>
          <a:p>
            <a:pPr algn="l" marL="0" indent="-228600"/>
            <a:r>
              <a:rPr sz="2000" b="0">
                <a:solidFill>
                  <a:srgbClr val="B8C0CC"/>
                </a:solidFill>
                <a:latin typeface="Calibri"/>
              </a:rPr>
              <a:t>▸  Con 5 foros y 5 años de datos, este caso captura la evolución del ecosistema hacking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