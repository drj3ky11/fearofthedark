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17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presProps.xml" ContentType="application/vnd.openxmlformats-officedocument.presentationml.presProps+xml"/>
  <Override PartName="/ppt/media/image3.gif" ContentType="image/gif"/>
  <Override PartName="/ppt/media/image6.gif" ContentType="image/gif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7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27D69F6C-2915-45B4-A6CE-A3CCF4B24498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9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Bienv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enida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bloqu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Antes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códig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o: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origen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los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datos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basur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proce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sada,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malint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erpret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ación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3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partes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origen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o,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ecosis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tema-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411FE04-5C02-4442-B6F8-CE0D09C5FCD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 del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leak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pistas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fiabilid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todos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nacen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igual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vías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princi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qué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hay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dentro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típica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9489F82-DE02-4B2B-9CDF-D4E20452BD1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vías, numeradas, cada una con distinta fiabilidad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Insider: LockBit 2022, developer vs. liderazgo del grupo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Redistribución = mercado de pago, no reparto altruista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sigue: qué hay dentro de un leak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5D24B24-A366-430F-8FCD-16206D5F65E3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Gestionar expectativas: mayoría = dumps SQL, tedioso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Chat logs internos = material más valioso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code/configs: minoritario, potente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pregunta flotando: ¿qué aporta valor?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sigue: tabla de prioridades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827A55C-120C-47EB-B164-5C3D0FEC0902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Guía práctica, no dogma — hay excepciones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S: revela comportamiento, rol, con quién habla, conflictos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 clave charla: 1 post bien situado &gt; 10k líneas relleno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calidad sobre volumen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sigue: sección formatos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E05CD0B-AB8B-4CF8-8DD0-B8976C085F0B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0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 vimos origen y tipos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Ahora: formato técnico real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Parte menos glamurosa, más determinante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casi nunca llega limpio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434DDAD-669D-4C64-A68D-0BA4EA9E01D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vBulletin domina 2000-2020 — encoding es tema aparte, se explica al hablar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IPS: prefijo variable, detectar versión antes de asumir schema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MyBB: prefijo distinto por instalación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 parser por formato en src/parsers/ — auto-detectar antes de elegir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DBA7465-7F38-4430-B2A6-F64BF577E14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Ojo: esta tabla es coste técnico, no valor investigativo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confundir con tier list anterior (tier D aquí ≠ tier D allí)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 los casos prácticos verán ambas dimensiones combinadas de formas distintas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sigue: el parser como primera línea de análisis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D4C7F04-9877-40EF-AEA1-3B78EB2FB09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Anécdota: parser mal calibrado descarta millones, sin warning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Estrategia: auto-detección versión + validación cruzada metadatos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cp1251 mal leído como UTF-8 → corrupción silenciosa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Primero identificar estructura (tablas/campos), luego limpiar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sigue: ecosistema como red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6DE2B78-35AB-40B8-BE22-9A1183658A3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Ya vimos origen y formato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Cierre de bloque: zoom hacia afuera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ecosistema como red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distribuidores también víctimas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CB8C741-51A9-41F6-987B-601B22EA166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Idea central: la identidad no muere con la plataforma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RaidForums seized 2022 → BreachForums hereda BD, preserva rangos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 repite: BreachForums seized 2023 y 2024, no es único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foreshadowing directo: esto es pivoting cross-foro, técnica de HackingForums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Monitorizar de forma pasiva, no hace falta operar dentro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3A342EE-11AF-4D72-8D55-CEF2F08B2DB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mezclar dos tipos de valor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Izquierda: táctico, caduca rápido, explotar ya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Derecha: inteligencia largo plazo, dura meses/años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Ojo: no siempre hay de todo — un dump viejo sin actividad reciente deja las IPs sin valor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fin bloque 0, pasamos a práctica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71E62D5-3EA8-49AD-B329-12022CE6830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gif"/><Relationship Id="rId4" Type="http://schemas.openxmlformats.org/officeDocument/2006/relationships/image" Target="../media/image3.gif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6.gif"/><Relationship Id="rId4" Type="http://schemas.openxmlformats.org/officeDocument/2006/relationships/image" Target="../media/image3.gif"/><Relationship Id="rId5" Type="http://schemas.openxmlformats.org/officeDocument/2006/relationships/image" Target="../media/image7.png"/><Relationship Id="rId6" Type="http://schemas.openxmlformats.org/officeDocument/2006/relationships/image" Target="../media/image6.gif"/><Relationship Id="rId7" Type="http://schemas.openxmlformats.org/officeDocument/2006/relationships/image" Target="../media/image6.gif"/><Relationship Id="rId8" Type="http://schemas.openxmlformats.org/officeDocument/2006/relationships/image" Target="../media/image3.gif"/><Relationship Id="rId9" Type="http://schemas.openxmlformats.org/officeDocument/2006/relationships/image" Target="../media/image7.png"/><Relationship Id="rId10" Type="http://schemas.openxmlformats.org/officeDocument/2006/relationships/image" Target="../media/image6.gif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3.gif"/><Relationship Id="rId4" Type="http://schemas.openxmlformats.org/officeDocument/2006/relationships/image" Target="../media/image3.gif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ortada presentació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body" hasCustomPrompt="1"/>
          </p:nvPr>
        </p:nvSpPr>
        <p:spPr>
          <a:xfrm>
            <a:off x="833040" y="1440360"/>
            <a:ext cx="5029200" cy="137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8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Título de la </a:t>
            </a:r>
            <a:r>
              <a:rPr lang="es-ES" sz="4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Presentación</a:t>
            </a:r>
            <a:endParaRPr lang="es-ES" sz="48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exto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body" hasCustomPrompt="1"/>
          </p:nvPr>
        </p:nvSpPr>
        <p:spPr>
          <a:xfrm>
            <a:off x="1073520" y="742680"/>
            <a:ext cx="6818760" cy="48096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1pPr>
            <a:lvl2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2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01. Título sección</a:t>
            </a:r>
            <a:endParaRPr lang="es-ES" sz="40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s-ES" sz="40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 hasCustomPrompt="1"/>
          </p:nvPr>
        </p:nvSpPr>
        <p:spPr>
          <a:xfrm>
            <a:off x="1073520" y="1747080"/>
            <a:ext cx="10058040" cy="3809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defRPr>
            </a:lvl1pPr>
          </a:lstStyle>
          <a:p>
            <a: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INFO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exto/Image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body" hasCustomPrompt="1"/>
          </p:nvPr>
        </p:nvSpPr>
        <p:spPr>
          <a:xfrm>
            <a:off x="1073520" y="742680"/>
            <a:ext cx="6818760" cy="52236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1pPr>
            <a:lvl2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2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01. Título sección</a:t>
            </a:r>
            <a:endParaRPr lang="es-E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s-E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 hasCustomPrompt="1"/>
          </p:nvPr>
        </p:nvSpPr>
        <p:spPr>
          <a:xfrm>
            <a:off x="1073520" y="1747080"/>
            <a:ext cx="6453360" cy="3823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defRPr>
            </a:lvl1pPr>
          </a:lstStyle>
          <a:p>
            <a: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INFO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7892640" y="1747080"/>
            <a:ext cx="3225600" cy="3823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Haga clic en el icono para agregar una imagen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exto/Imagen2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body" hasCustomPrompt="1"/>
          </p:nvPr>
        </p:nvSpPr>
        <p:spPr>
          <a:xfrm>
            <a:off x="1073520" y="742680"/>
            <a:ext cx="6818760" cy="52236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1pPr>
            <a:lvl2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2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01. Título sección</a:t>
            </a:r>
            <a:endParaRPr lang="es-E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s-E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 hasCustomPrompt="1"/>
          </p:nvPr>
        </p:nvSpPr>
        <p:spPr>
          <a:xfrm>
            <a:off x="1073520" y="1577520"/>
            <a:ext cx="3591000" cy="3993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defRPr>
            </a:lvl1pPr>
          </a:lstStyle>
          <a:p>
            <a: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INFO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5380560" y="1577520"/>
            <a:ext cx="5737680" cy="39931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Haga clic en el icono para agregar una imagen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agen/Texto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body" hasCustomPrompt="1"/>
          </p:nvPr>
        </p:nvSpPr>
        <p:spPr>
          <a:xfrm>
            <a:off x="1073520" y="742680"/>
            <a:ext cx="6818760" cy="52236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1pPr>
            <a:lvl2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2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01. Título sección</a:t>
            </a:r>
            <a:endParaRPr lang="es-E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s-E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 hasCustomPrompt="1"/>
          </p:nvPr>
        </p:nvSpPr>
        <p:spPr>
          <a:xfrm>
            <a:off x="4714920" y="1767960"/>
            <a:ext cx="6453360" cy="38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defRPr>
            </a:lvl1pPr>
          </a:lstStyle>
          <a:p>
            <a: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INFO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1073520" y="1767960"/>
            <a:ext cx="3225600" cy="3816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Haga clic en el icono para agregar una imagen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ullets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body" hasCustomPrompt="1"/>
          </p:nvPr>
        </p:nvSpPr>
        <p:spPr>
          <a:xfrm>
            <a:off x="1073520" y="742680"/>
            <a:ext cx="6818760" cy="52236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1pPr>
            <a:lvl2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2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01. Título sección</a:t>
            </a:r>
            <a:endParaRPr lang="es-ES" sz="40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s-ES" sz="40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 hasCustomPrompt="1"/>
          </p:nvPr>
        </p:nvSpPr>
        <p:spPr>
          <a:xfrm>
            <a:off x="1073520" y="1574640"/>
            <a:ext cx="10084680" cy="400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3"/>
              </a:buBlip>
              <a:tabLst>
                <a:tab pos="0" algn="l"/>
              </a:tabLst>
              <a:def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defRPr>
            </a:lvl1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4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Bullets opción 1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extos/Imágenes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body" hasCustomPrompt="1"/>
          </p:nvPr>
        </p:nvSpPr>
        <p:spPr>
          <a:xfrm>
            <a:off x="1073520" y="742680"/>
            <a:ext cx="6818760" cy="52236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1pPr>
            <a:lvl2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2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01. Título sección</a:t>
            </a:r>
            <a:endParaRPr lang="es-ES" sz="40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s-ES" sz="40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1090440" y="3412080"/>
            <a:ext cx="3179160" cy="2305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Haga clic en el icono para agregar una imagen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4658400" y="3412080"/>
            <a:ext cx="3179160" cy="2305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Haga clic en el icono para agregar una imagen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 hasCustomPrompt="1"/>
          </p:nvPr>
        </p:nvSpPr>
        <p:spPr>
          <a:xfrm>
            <a:off x="8253360" y="1526040"/>
            <a:ext cx="3179160" cy="163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defRPr>
            </a:lvl1pPr>
          </a:lstStyle>
          <a:p>
            <a: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INFO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body"/>
          </p:nvPr>
        </p:nvSpPr>
        <p:spPr>
          <a:xfrm>
            <a:off x="8253360" y="3412080"/>
            <a:ext cx="3179160" cy="2305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Haga clic en el icono para agregar una imagen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6"/>
          <p:cNvSpPr>
            <a:spLocks noGrp="1"/>
          </p:cNvSpPr>
          <p:nvPr>
            <p:ph type="body" hasCustomPrompt="1"/>
          </p:nvPr>
        </p:nvSpPr>
        <p:spPr>
          <a:xfrm>
            <a:off x="1090440" y="1526040"/>
            <a:ext cx="3179160" cy="163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defRPr>
            </a:lvl1pPr>
          </a:lstStyle>
          <a:p>
            <a: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INFO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7"/>
          <p:cNvSpPr>
            <a:spLocks noGrp="1"/>
          </p:cNvSpPr>
          <p:nvPr>
            <p:ph type="body" hasCustomPrompt="1"/>
          </p:nvPr>
        </p:nvSpPr>
        <p:spPr>
          <a:xfrm>
            <a:off x="4658400" y="1526040"/>
            <a:ext cx="3179160" cy="163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defRPr>
            </a:lvl1pPr>
          </a:lstStyle>
          <a:p>
            <a: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INFO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ierre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ortada sección 1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body" hasCustomPrompt="1"/>
          </p:nvPr>
        </p:nvSpPr>
        <p:spPr>
          <a:xfrm>
            <a:off x="2508840" y="2048760"/>
            <a:ext cx="7173720" cy="137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3600" b="1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36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Título de la sección</a:t>
            </a:r>
            <a:endParaRPr lang="es-ES" sz="36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Índice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body" hasCustomPrompt="1"/>
          </p:nvPr>
        </p:nvSpPr>
        <p:spPr>
          <a:xfrm>
            <a:off x="1073520" y="778320"/>
            <a:ext cx="6818760" cy="52236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1pPr>
            <a:lvl2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2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ÍNDICE</a:t>
            </a:r>
            <a:endParaRPr lang="es-ES" sz="4000" b="1" u="none" strike="noStrike">
              <a:solidFill>
                <a:srgbClr val="CD2D37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s-ES" sz="4000" b="1" u="none" strike="noStrike">
              <a:solidFill>
                <a:srgbClr val="CD2D37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 hasCustomPrompt="1"/>
          </p:nvPr>
        </p:nvSpPr>
        <p:spPr>
          <a:xfrm>
            <a:off x="1073520" y="1575720"/>
            <a:ext cx="10071360" cy="39808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SzPct val="100058"/>
              <a:buBlip>
                <a:blip r:embed="rId3"/>
              </a:buBlip>
              <a:tabLst>
                <a:tab pos="0" algn="l"/>
              </a:tabLst>
              <a:defRPr lang="es-ES" sz="28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SzPct val="100017"/>
              <a:buBlip>
                <a:blip r:embed="rId4"/>
              </a:buBlip>
              <a:tabLst>
                <a:tab pos="0" algn="l"/>
              </a:tabLst>
              <a:defRPr lang="es-ES" sz="2400" b="0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SzPct val="100000"/>
              <a:buBlip>
                <a:blip r:embed="rId5"/>
              </a:buBlip>
              <a:tabLst>
                <a:tab pos="0" algn="l"/>
              </a:tabLst>
              <a:defRPr lang="es-ES" sz="2000" b="0" u="none" strike="noStrike">
                <a:solidFill>
                  <a:srgbClr val="465461"/>
                </a:solidFill>
                <a:effectLst/>
                <a:uFillTx/>
                <a:latin typeface="Arial"/>
              </a:defRPr>
            </a:lvl3pPr>
            <a:lvl4pPr algn="l" defTabSz="914400">
              <a:lnSpc>
                <a:spcPct val="90000"/>
              </a:lnSpc>
              <a:spcBef>
                <a:spcPts val="1001"/>
              </a:spcBef>
              <a:buSzPct val="100058"/>
              <a:buBlip>
                <a:blip r:embed="rId6"/>
              </a:buBlip>
              <a:tabLst>
                <a:tab pos="0" algn="l"/>
              </a:tabLst>
              <a:defRPr lang="es-ES" sz="28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4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058"/>
              <a:buBlip>
                <a:blip r:embed="rId7"/>
              </a:buBlip>
              <a:tabLst>
                <a:tab pos="0" algn="l"/>
              </a:tabLst>
            </a:pPr>
            <a:r>
              <a:rPr lang="es-ES" sz="28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01. Título</a:t>
            </a:r>
            <a:endParaRPr lang="es-ES" sz="2800" b="1" u="none" strike="noStrike">
              <a:solidFill>
                <a:srgbClr val="CD2D37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SzPct val="100017"/>
              <a:buBlip>
                <a:blip r:embed="rId8"/>
              </a:buBlip>
              <a:tabLst>
                <a:tab pos="0" algn="l"/>
              </a:tabLst>
            </a:pPr>
            <a:r>
              <a:rPr lang="es-ES" sz="2400" b="0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01.1. Subtítulo</a:t>
            </a:r>
            <a:endParaRPr lang="es-ES" sz="2400" b="0" u="none" strike="noStrike">
              <a:solidFill>
                <a:srgbClr val="CD2D37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SzPct val="100000"/>
              <a:buBlip>
                <a:blip r:embed="rId9"/>
              </a:buBlip>
              <a:tabLst>
                <a:tab pos="0" algn="l"/>
              </a:tabLst>
            </a:pPr>
            <a:r>
              <a:rPr lang="es-ES" sz="20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01.1.1. Subtítulo 2</a:t>
            </a:r>
            <a:endParaRPr lang="es-ES" sz="20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058"/>
              <a:buBlip>
                <a:blip r:embed="rId10"/>
              </a:buBlip>
              <a:tabLst>
                <a:tab pos="0" algn="l"/>
              </a:tabLst>
            </a:pPr>
            <a:r>
              <a:rPr lang="es-ES" sz="28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02. Esta diapositiva puede llevar imagen de fondo o no.</a:t>
            </a:r>
            <a:endParaRPr lang="es-ES" sz="2800" b="1" u="none" strike="noStrike">
              <a:solidFill>
                <a:srgbClr val="CD2D37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ubtítulo/Texto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body" hasCustomPrompt="1"/>
          </p:nvPr>
        </p:nvSpPr>
        <p:spPr>
          <a:xfrm>
            <a:off x="1073520" y="742680"/>
            <a:ext cx="6818760" cy="52236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1pPr>
            <a:lvl2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2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01. Título sección</a:t>
            </a:r>
            <a:endParaRPr lang="es-ES" sz="4000" b="1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s-ES" sz="4000" b="1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 hasCustomPrompt="1"/>
          </p:nvPr>
        </p:nvSpPr>
        <p:spPr>
          <a:xfrm>
            <a:off x="1073520" y="2195640"/>
            <a:ext cx="10058040" cy="3403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defRPr>
            </a:lvl1pPr>
          </a:lstStyle>
          <a:p>
            <a: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INFO</a:t>
            </a:r>
            <a:endParaRPr lang="es-ES" sz="1800" b="1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 hasCustomPrompt="1"/>
          </p:nvPr>
        </p:nvSpPr>
        <p:spPr>
          <a:xfrm>
            <a:off x="1073520" y="1528560"/>
            <a:ext cx="10044720" cy="459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2400" b="1" u="none" strike="noStrike">
                <a:solidFill>
                  <a:srgbClr val="46546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2400" b="1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Subtítulo</a:t>
            </a:r>
            <a:endParaRPr lang="es-ES" sz="2400" b="1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ubtítulo/Texto/Imagen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body" hasCustomPrompt="1"/>
          </p:nvPr>
        </p:nvSpPr>
        <p:spPr>
          <a:xfrm>
            <a:off x="1073520" y="742680"/>
            <a:ext cx="6818760" cy="52236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1pPr>
            <a:lvl2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2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01. Título sección</a:t>
            </a:r>
            <a:endParaRPr lang="es-E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s-E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 hasCustomPrompt="1"/>
          </p:nvPr>
        </p:nvSpPr>
        <p:spPr>
          <a:xfrm>
            <a:off x="1073520" y="2307960"/>
            <a:ext cx="6466680" cy="3262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defRPr>
            </a:lvl1pPr>
          </a:lstStyle>
          <a:p>
            <a: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INFO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 hasCustomPrompt="1"/>
          </p:nvPr>
        </p:nvSpPr>
        <p:spPr>
          <a:xfrm>
            <a:off x="1073520" y="1557000"/>
            <a:ext cx="10044720" cy="459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2400" b="1" u="none" strike="noStrike">
                <a:solidFill>
                  <a:srgbClr val="46546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2400" b="1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Subtítulo</a:t>
            </a:r>
            <a:endParaRPr lang="es-E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7892640" y="2307960"/>
            <a:ext cx="3225600" cy="3262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Haga clic en el icono para agregar una imagen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ubtítulo/Texto/Imagen2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body" hasCustomPrompt="1"/>
          </p:nvPr>
        </p:nvSpPr>
        <p:spPr>
          <a:xfrm>
            <a:off x="1073520" y="742680"/>
            <a:ext cx="6818760" cy="52236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1pPr>
            <a:lvl2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2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01. Título sección</a:t>
            </a:r>
            <a:endParaRPr lang="es-E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s-E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 hasCustomPrompt="1"/>
          </p:nvPr>
        </p:nvSpPr>
        <p:spPr>
          <a:xfrm>
            <a:off x="1073520" y="2307960"/>
            <a:ext cx="3591000" cy="3290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defRPr>
            </a:lvl1pPr>
          </a:lstStyle>
          <a:p>
            <a: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INFO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body" hasCustomPrompt="1"/>
          </p:nvPr>
        </p:nvSpPr>
        <p:spPr>
          <a:xfrm>
            <a:off x="1073520" y="1557000"/>
            <a:ext cx="10044720" cy="459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2400" b="1" u="none" strike="noStrike">
                <a:solidFill>
                  <a:srgbClr val="46546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2400" b="1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Subtítulo</a:t>
            </a:r>
            <a:endParaRPr lang="es-E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body"/>
          </p:nvPr>
        </p:nvSpPr>
        <p:spPr>
          <a:xfrm>
            <a:off x="5380560" y="2307960"/>
            <a:ext cx="5737680" cy="3290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Haga clic en el icono para agregar una imagen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ubtítulo/Imagen/Texto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body" hasCustomPrompt="1"/>
          </p:nvPr>
        </p:nvSpPr>
        <p:spPr>
          <a:xfrm>
            <a:off x="1073520" y="742680"/>
            <a:ext cx="6818760" cy="52236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1pPr>
            <a:lvl2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2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01. Título sección</a:t>
            </a:r>
            <a:endParaRPr lang="es-ES" sz="4000" b="1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s-ES" sz="4000" b="1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 hasCustomPrompt="1"/>
          </p:nvPr>
        </p:nvSpPr>
        <p:spPr>
          <a:xfrm>
            <a:off x="4714920" y="2213640"/>
            <a:ext cx="6453360" cy="338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defRPr>
            </a:lvl1pPr>
          </a:lstStyle>
          <a:p>
            <a: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INFO</a:t>
            </a:r>
            <a:endParaRPr lang="es-ES" sz="1800" b="1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1073520" y="2213640"/>
            <a:ext cx="3225600" cy="3385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Haga clic en el icono para agregar una imagen</a:t>
            </a:r>
            <a:endParaRPr lang="es-ES" sz="1800" b="1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 hasCustomPrompt="1"/>
          </p:nvPr>
        </p:nvSpPr>
        <p:spPr>
          <a:xfrm>
            <a:off x="1073520" y="1557000"/>
            <a:ext cx="10044720" cy="459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2400" b="1" u="none" strike="noStrike">
                <a:solidFill>
                  <a:srgbClr val="46546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2400" b="1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Subtítulo</a:t>
            </a:r>
            <a:endParaRPr lang="es-ES" sz="2400" b="1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ubtítulo/Bullets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body" hasCustomPrompt="1"/>
          </p:nvPr>
        </p:nvSpPr>
        <p:spPr>
          <a:xfrm>
            <a:off x="1073520" y="742680"/>
            <a:ext cx="6818760" cy="52236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1pPr>
            <a:lvl2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2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01. Título sección</a:t>
            </a:r>
            <a:endParaRPr lang="es-ES" sz="4000" b="1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s-ES" sz="4000" b="1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 hasCustomPrompt="1"/>
          </p:nvPr>
        </p:nvSpPr>
        <p:spPr>
          <a:xfrm>
            <a:off x="1073520" y="2213640"/>
            <a:ext cx="10084680" cy="337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3"/>
              </a:buBlip>
              <a:tabLst>
                <a:tab pos="0" algn="l"/>
              </a:tabLst>
              <a:def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defRPr>
            </a:lvl1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4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Bullets opción 1</a:t>
            </a:r>
            <a:endParaRPr lang="es-ES" sz="1800" b="1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 hasCustomPrompt="1"/>
          </p:nvPr>
        </p:nvSpPr>
        <p:spPr>
          <a:xfrm>
            <a:off x="1073520" y="1557000"/>
            <a:ext cx="10044720" cy="459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2400" b="1" u="none" strike="noStrike">
                <a:solidFill>
                  <a:srgbClr val="46546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2400" b="1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Subtítulo</a:t>
            </a:r>
            <a:endParaRPr lang="es-ES" sz="2400" b="1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ubtítulo/Textos/Imágenes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body" hasCustomPrompt="1"/>
          </p:nvPr>
        </p:nvSpPr>
        <p:spPr>
          <a:xfrm>
            <a:off x="1073520" y="742680"/>
            <a:ext cx="6818760" cy="52236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1pPr>
            <a:lvl2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defRPr>
            </a:lvl2pPr>
          </a:lstStyle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01. Título sección</a:t>
            </a:r>
            <a:endParaRPr lang="es-E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s-E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 hasCustomPrompt="1"/>
          </p:nvPr>
        </p:nvSpPr>
        <p:spPr>
          <a:xfrm>
            <a:off x="1073520" y="1557000"/>
            <a:ext cx="10044720" cy="459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2400" b="1" u="none" strike="noStrike">
                <a:solidFill>
                  <a:srgbClr val="46546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2400" b="1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Subtítulo</a:t>
            </a:r>
            <a:endParaRPr lang="es-E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 hasCustomPrompt="1"/>
          </p:nvPr>
        </p:nvSpPr>
        <p:spPr>
          <a:xfrm>
            <a:off x="1087560" y="2244240"/>
            <a:ext cx="3179160" cy="11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defRPr>
            </a:lvl1pPr>
          </a:lstStyle>
          <a:p>
            <a: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INFO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1090440" y="3563640"/>
            <a:ext cx="3179160" cy="2034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Haga clic en el icono para agregar una imagen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 hasCustomPrompt="1"/>
          </p:nvPr>
        </p:nvSpPr>
        <p:spPr>
          <a:xfrm>
            <a:off x="4655520" y="2244240"/>
            <a:ext cx="3179160" cy="11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defRPr>
            </a:lvl1pPr>
          </a:lstStyle>
          <a:p>
            <a: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INFO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body"/>
          </p:nvPr>
        </p:nvSpPr>
        <p:spPr>
          <a:xfrm>
            <a:off x="4658400" y="3563640"/>
            <a:ext cx="3179160" cy="2034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Haga clic en el icono para agregar una imagen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7"/>
          <p:cNvSpPr>
            <a:spLocks noGrp="1"/>
          </p:cNvSpPr>
          <p:nvPr>
            <p:ph type="body" hasCustomPrompt="1"/>
          </p:nvPr>
        </p:nvSpPr>
        <p:spPr>
          <a:xfrm>
            <a:off x="8253360" y="2244240"/>
            <a:ext cx="3179160" cy="1184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defRPr>
            </a:lvl1pPr>
          </a:lstStyle>
          <a:p>
            <a:pPr indent="0" algn="just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INFO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8"/>
          <p:cNvSpPr>
            <a:spLocks noGrp="1"/>
          </p:cNvSpPr>
          <p:nvPr>
            <p:ph type="body"/>
          </p:nvPr>
        </p:nvSpPr>
        <p:spPr>
          <a:xfrm>
            <a:off x="8253360" y="3563640"/>
            <a:ext cx="3179160" cy="2034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Haga clic en el icono para agregar una imagen</a:t>
            </a:r>
            <a:endParaRPr lang="es-E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gif"/><Relationship Id="rId2" Type="http://schemas.openxmlformats.org/officeDocument/2006/relationships/image" Target="../media/image3.gif"/><Relationship Id="rId3" Type="http://schemas.openxmlformats.org/officeDocument/2006/relationships/image" Target="../media/image3.gif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gif"/><Relationship Id="rId2" Type="http://schemas.openxmlformats.org/officeDocument/2006/relationships/image" Target="../media/image3.gif"/><Relationship Id="rId3" Type="http://schemas.openxmlformats.org/officeDocument/2006/relationships/image" Target="../media/image3.gif"/><Relationship Id="rId4" Type="http://schemas.openxmlformats.org/officeDocument/2006/relationships/image" Target="../media/image3.gif"/><Relationship Id="rId5" Type="http://schemas.openxmlformats.org/officeDocument/2006/relationships/image" Target="../media/image3.gif"/><Relationship Id="rId6" Type="http://schemas.openxmlformats.org/officeDocument/2006/relationships/slideLayout" Target="../slideLayouts/slideLayout6.xml"/><Relationship Id="rId7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gif"/><Relationship Id="rId2" Type="http://schemas.openxmlformats.org/officeDocument/2006/relationships/image" Target="../media/image3.gif"/><Relationship Id="rId3" Type="http://schemas.openxmlformats.org/officeDocument/2006/relationships/image" Target="../media/image3.gif"/><Relationship Id="rId4" Type="http://schemas.openxmlformats.org/officeDocument/2006/relationships/image" Target="../media/image3.gif"/><Relationship Id="rId5" Type="http://schemas.openxmlformats.org/officeDocument/2006/relationships/image" Target="../media/image3.gif"/><Relationship Id="rId6" Type="http://schemas.openxmlformats.org/officeDocument/2006/relationships/slideLayout" Target="../slideLayouts/slideLayout6.xml"/><Relationship Id="rId7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gif"/><Relationship Id="rId2" Type="http://schemas.openxmlformats.org/officeDocument/2006/relationships/image" Target="../media/image3.gif"/><Relationship Id="rId3" Type="http://schemas.openxmlformats.org/officeDocument/2006/relationships/image" Target="../media/image3.gif"/><Relationship Id="rId4" Type="http://schemas.openxmlformats.org/officeDocument/2006/relationships/image" Target="../media/image3.gif"/><Relationship Id="rId5" Type="http://schemas.openxmlformats.org/officeDocument/2006/relationships/image" Target="../media/image3.gif"/><Relationship Id="rId6" Type="http://schemas.openxmlformats.org/officeDocument/2006/relationships/slideLayout" Target="../slideLayouts/slideLayout6.xml"/><Relationship Id="rId7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gif"/><Relationship Id="rId2" Type="http://schemas.openxmlformats.org/officeDocument/2006/relationships/image" Target="../media/image3.gif"/><Relationship Id="rId3" Type="http://schemas.openxmlformats.org/officeDocument/2006/relationships/image" Target="../media/image3.gif"/><Relationship Id="rId4" Type="http://schemas.openxmlformats.org/officeDocument/2006/relationships/image" Target="../media/image3.gif"/><Relationship Id="rId5" Type="http://schemas.openxmlformats.org/officeDocument/2006/relationships/slideLayout" Target="../slideLayouts/slideLayout6.xml"/><Relationship Id="rId6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hasCustomPrompt="1"/>
          </p:nvPr>
        </p:nvSpPr>
        <p:spPr>
          <a:xfrm>
            <a:off x="833040" y="1440360"/>
            <a:ext cx="5029200" cy="137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8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El ecosistema de leaks</a:t>
            </a:r>
            <a:endParaRPr lang="es-ES" sz="48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1" u="none" strike="noStrike">
                <a:solidFill>
                  <a:srgbClr val="D6DAE2"/>
                </a:solidFill>
                <a:effectLst/>
                <a:uFillTx/>
                <a:latin typeface="Arial"/>
              </a:rPr>
              <a:t>De dónde vienen los datos y qué encontramos</a:t>
            </a:r>
            <a:endParaRPr lang="es-ES" sz="18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200" b="1" u="none" strike="noStrike">
                <a:solidFill>
                  <a:srgbClr val="9AA3B5"/>
                </a:solidFill>
                <a:effectLst/>
                <a:uFillTx/>
                <a:latin typeface="Arial"/>
              </a:rPr>
              <a:t>CSBC26 · Bloque 0 · 45 min</a:t>
            </a:r>
            <a:endParaRPr lang="es-ES" sz="12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hasCustomPrompt="1"/>
          </p:nvPr>
        </p:nvSpPr>
        <p:spPr>
          <a:xfrm>
            <a:off x="2508840" y="2048760"/>
            <a:ext cx="7173720" cy="137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7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SECCIÓN 1</a:t>
            </a:r>
            <a:endParaRPr lang="es-ES" sz="17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36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De dónde vienen los datos</a:t>
            </a:r>
            <a:endParaRPr lang="es-ES" sz="36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600" b="1" u="none" strike="noStrike">
                <a:solidFill>
                  <a:srgbClr val="D6DAE2"/>
                </a:solidFill>
                <a:effectLst/>
                <a:uFillTx/>
                <a:latin typeface="Arial"/>
              </a:rPr>
              <a:t>Tres vías principales de filtración</a:t>
            </a:r>
            <a:endParaRPr lang="es-ES" sz="16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hasCustomPrompt="1"/>
          </p:nvPr>
        </p:nvSpPr>
        <p:spPr>
          <a:xfrm>
            <a:off x="1073520" y="742680"/>
            <a:ext cx="6818760" cy="52236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¿Cómo llega un leak al espacio público?</a:t>
            </a:r>
            <a:endParaRPr lang="es-ES" sz="40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hasCustomPrompt="1"/>
          </p:nvPr>
        </p:nvSpPr>
        <p:spPr>
          <a:xfrm>
            <a:off x="1073520" y="2214720"/>
            <a:ext cx="10084680" cy="336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1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1. Hackeo directo: explotación de una vulnerabilidad en el servidor del foro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2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2. Filtración interna: alguien con acceso privilegiado saca los datos — ej. el builder de LockBit 3.0 (2022), filtrado por un desarrollador descontento con el liderazgo del grupo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3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3. Repositorios de redistribución: mercados de pago donde se compra y vende acceso a leaks ya en circulación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hasCustomPrompt="1"/>
          </p:nvPr>
        </p:nvSpPr>
        <p:spPr>
          <a:xfrm>
            <a:off x="1073520" y="742680"/>
            <a:ext cx="6818760" cy="52236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¿Qué encontramos en un leak?</a:t>
            </a:r>
            <a:endParaRPr lang="es-ES" sz="40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hasCustomPrompt="1"/>
          </p:nvPr>
        </p:nvSpPr>
        <p:spPr>
          <a:xfrm>
            <a:off x="1073520" y="2214720"/>
            <a:ext cx="10084680" cy="336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1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Dumps de bases de datos: el grueso del material — usuarios, posts, IPs, emails, fechas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2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Logs de chat internos: comunicaciones sin filtro entre operadores (el material más valioso)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3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Flat files de credenciales: útiles para pivoting, pobres en contexto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4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Source code filtrado: paneles de administración, herramientas de ataque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5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Configuraciones de infraestructura: IPs, dominios, credenciales de servicios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hasCustomPrompt="1"/>
          </p:nvPr>
        </p:nvSpPr>
        <p:spPr>
          <a:xfrm>
            <a:off x="1073520" y="742680"/>
            <a:ext cx="6818760" cy="52236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Tier list — utilidad para investigación</a:t>
            </a:r>
            <a:endParaRPr lang="es-ES" sz="40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hasCustomPrompt="1"/>
          </p:nvPr>
        </p:nvSpPr>
        <p:spPr>
          <a:xfrm>
            <a:off x="1073520" y="1574640"/>
            <a:ext cx="10084680" cy="400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9" name="Table 3"/>
          <p:cNvGraphicFramePr/>
          <p:nvPr/>
        </p:nvGraphicFramePr>
        <p:xfrm>
          <a:off x="1051560" y="2286000"/>
          <a:ext cx="10058040" cy="1848600"/>
        </p:xfrm>
        <a:graphic>
          <a:graphicData uri="http://schemas.openxmlformats.org/drawingml/2006/table">
            <a:tbl>
              <a:tblPr/>
              <a:tblGrid>
                <a:gridCol w="822960"/>
                <a:gridCol w="4617720"/>
                <a:gridCol w="4617720"/>
              </a:tblGrid>
              <a:tr h="365760">
                <a:tc>
                  <a:txBody>
                    <a:bodyPr lIns="45000" tIns="24840" rIns="45000" bIns="248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s-E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Tier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2D37"/>
                    </a:solidFill>
                  </a:tcPr>
                </a:tc>
                <a:tc>
                  <a:txBody>
                    <a:bodyPr lIns="45000" tIns="24840" rIns="45000" bIns="248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Tipo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2D37"/>
                    </a:solidFill>
                  </a:tcPr>
                </a:tc>
                <a:tc>
                  <a:txBody>
                    <a:bodyPr lIns="45000" tIns="24840" rIns="45000" bIns="248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Por qué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 lIns="45000" tIns="24840" rIns="45000" bIns="248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s-ES" sz="1800" b="1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7F7F"/>
                    </a:solidFill>
                  </a:tcPr>
                </a:tc>
                <a:tc>
                  <a:txBody>
                    <a:bodyPr lIns="45000" tIns="24840" rIns="45000" bIns="248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100" b="0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Chat logs internos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7F7F"/>
                    </a:solidFill>
                  </a:tcPr>
                </a:tc>
                <a:tc>
                  <a:txBody>
                    <a:bodyPr lIns="45000" tIns="24840" rIns="45000" bIns="248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100" b="0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Sin filtro entre operadores: revela cómo se comporta cada usuario, qué rol cumple, con quién habla, qué conflictos hay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7F7F"/>
                    </a:solidFill>
                  </a:tcPr>
                </a:tc>
              </a:tr>
              <a:tr h="365760">
                <a:tc>
                  <a:txBody>
                    <a:bodyPr lIns="45000" tIns="24840" rIns="45000" bIns="248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s-ES" sz="1800" b="1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BF7F"/>
                    </a:solidFill>
                  </a:tcPr>
                </a:tc>
                <a:tc>
                  <a:txBody>
                    <a:bodyPr lIns="45000" tIns="24840" rIns="45000" bIns="248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100" b="0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Dumps SQL de foros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BF7F"/>
                    </a:solidFill>
                  </a:tcPr>
                </a:tc>
                <a:tc>
                  <a:txBody>
                    <a:bodyPr lIns="45000" tIns="24840" rIns="45000" bIns="248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100" b="0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Usuarios, posts, IPs, fechas → red, atribución, correlación cross-foro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BF7F"/>
                    </a:solidFill>
                  </a:tcPr>
                </a:tc>
              </a:tr>
              <a:tr h="365760">
                <a:tc>
                  <a:txBody>
                    <a:bodyPr lIns="45000" tIns="24840" rIns="45000" bIns="248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s-ES" sz="1800" b="1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DF7F"/>
                    </a:solidFill>
                  </a:tcPr>
                </a:tc>
                <a:tc>
                  <a:txBody>
                    <a:bodyPr lIns="45000" tIns="24840" rIns="45000" bIns="248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100" b="0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Flat files de credenciales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DF7F"/>
                    </a:solidFill>
                  </a:tcPr>
                </a:tc>
                <a:tc>
                  <a:txBody>
                    <a:bodyPr lIns="45000" tIns="24840" rIns="45000" bIns="248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100" b="0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Útiles para pivoting, sin narrativa ni contexto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DF7F"/>
                    </a:solidFill>
                  </a:tcPr>
                </a:tc>
              </a:tr>
              <a:tr h="365760">
                <a:tc>
                  <a:txBody>
                    <a:bodyPr lIns="45000" tIns="24840" rIns="45000" bIns="248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s-ES" sz="1800" b="1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7F"/>
                    </a:solidFill>
                  </a:tcPr>
                </a:tc>
                <a:tc>
                  <a:txBody>
                    <a:bodyPr lIns="45000" tIns="24840" rIns="45000" bIns="248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100" b="0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Source code / configs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7F"/>
                    </a:solidFill>
                  </a:tcPr>
                </a:tc>
                <a:tc>
                  <a:txBody>
                    <a:bodyPr lIns="45000" tIns="24840" rIns="45000" bIns="248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100" b="0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Muy específicos, requieren expertise técnico profundo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7F"/>
                    </a:solidFill>
                  </a:tcPr>
                </a:tc>
              </a:tr>
            </a:tbl>
          </a:graphicData>
        </a:graphic>
      </p:graphicFrame>
      <p:sp>
        <p:nvSpPr>
          <p:cNvPr id="70" name="TextBox 4"/>
          <p:cNvSpPr/>
          <p:nvPr/>
        </p:nvSpPr>
        <p:spPr>
          <a:xfrm>
            <a:off x="1051560" y="5760720"/>
            <a:ext cx="10058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s-ES" sz="10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ℹ  No todos </a:t>
            </a:r>
            <a:r>
              <a:rPr lang="es-ES" sz="10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los leaks son </a:t>
            </a:r>
            <a:r>
              <a:rPr lang="es-ES" sz="10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iguales. Un </a:t>
            </a:r>
            <a:r>
              <a:rPr lang="es-ES" sz="10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post con info </a:t>
            </a:r>
            <a:r>
              <a:rPr lang="es-ES" sz="10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de acceso a </a:t>
            </a:r>
            <a:r>
              <a:rPr lang="es-ES" sz="10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infraestructur</a:t>
            </a:r>
            <a:r>
              <a:rPr lang="es-ES" sz="10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a crítica vale </a:t>
            </a:r>
            <a:r>
              <a:rPr lang="es-ES" sz="10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más que 10K </a:t>
            </a:r>
            <a:r>
              <a:rPr lang="es-ES" sz="10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posts de </a:t>
            </a:r>
            <a:r>
              <a:rPr lang="es-ES" sz="10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relleno.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hasCustomPrompt="1"/>
          </p:nvPr>
        </p:nvSpPr>
        <p:spPr>
          <a:xfrm>
            <a:off x="2508840" y="2048760"/>
            <a:ext cx="7173720" cy="137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7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SECCIÓN 2</a:t>
            </a:r>
            <a:endParaRPr lang="es-ES" sz="17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36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Formatos y su realidad técnica</a:t>
            </a:r>
            <a:endParaRPr lang="es-ES" sz="36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600" b="1" u="none" strike="noStrike">
                <a:solidFill>
                  <a:srgbClr val="D6DAE2"/>
                </a:solidFill>
                <a:effectLst/>
                <a:uFillTx/>
                <a:latin typeface="Arial"/>
              </a:rPr>
              <a:t>Los datos rara vez llegan limpios</a:t>
            </a:r>
            <a:endParaRPr lang="es-ES" sz="16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hasCustomPrompt="1"/>
          </p:nvPr>
        </p:nvSpPr>
        <p:spPr>
          <a:xfrm>
            <a:off x="1073520" y="742680"/>
            <a:ext cx="6818760" cy="52236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Formatos habituales en la práctica</a:t>
            </a:r>
            <a:endParaRPr lang="es-ES" sz="40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hasCustomPrompt="1"/>
          </p:nvPr>
        </p:nvSpPr>
        <p:spPr>
          <a:xfrm>
            <a:off x="1073520" y="2214720"/>
            <a:ext cx="10084680" cy="336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1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vBulletin SQL: formato dominante en foros underground 2000-2020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2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IPS (Invision Power Suite): prefijos de tabla variables (ibf_, o ninguno), varias versiones mayores con schema distinto — hay que detectar la versión antes de asumir nombres de tabla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3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MyBB: open source, más predecible, pero el prefijo también varía según cómo lo instaló cada administrador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4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JSON estructurado: chat logs modernos (Telegram, Slack/Rocket.Chat) — se carga directo con pandas, pero los campos cambian entre plataformas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5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Flat files: sin schema, delimitadores arbitrarios — hay que inferirlo a mano, dump a dump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Un parser por formato (src/parsers/: vbulletin.py, ips.py, mybb.py, flat.py) — auto-detectar versión antes de elegir uno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hasCustomPrompt="1"/>
          </p:nvPr>
        </p:nvSpPr>
        <p:spPr>
          <a:xfrm>
            <a:off x="1073520" y="742680"/>
            <a:ext cx="6818760" cy="52236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Tier list — facilidad técnica de procesamiento</a:t>
            </a:r>
            <a:endParaRPr lang="es-ES" sz="40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hasCustomPrompt="1"/>
          </p:nvPr>
        </p:nvSpPr>
        <p:spPr>
          <a:xfrm>
            <a:off x="1073520" y="1574640"/>
            <a:ext cx="10084680" cy="400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6" name="Table 3"/>
          <p:cNvGraphicFramePr/>
          <p:nvPr/>
        </p:nvGraphicFramePr>
        <p:xfrm>
          <a:off x="1051560" y="2286000"/>
          <a:ext cx="10058040" cy="2194560"/>
        </p:xfrm>
        <a:graphic>
          <a:graphicData uri="http://schemas.openxmlformats.org/drawingml/2006/table">
            <a:tbl>
              <a:tblPr/>
              <a:tblGrid>
                <a:gridCol w="822960"/>
                <a:gridCol w="4617720"/>
                <a:gridCol w="4617720"/>
              </a:tblGrid>
              <a:tr h="365760">
                <a:tc>
                  <a:txBody>
                    <a:bodyPr lIns="45000" tIns="24840" rIns="45000" bIns="248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s-E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Tier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2D37"/>
                    </a:solidFill>
                  </a:tcPr>
                </a:tc>
                <a:tc>
                  <a:txBody>
                    <a:bodyPr lIns="45000" tIns="24840" rIns="45000" bIns="248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Formato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2D37"/>
                    </a:solidFill>
                  </a:tcPr>
                </a:tc>
                <a:tc>
                  <a:txBody>
                    <a:bodyPr lIns="45000" tIns="24840" rIns="45000" bIns="248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Por qué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D2D37"/>
                    </a:solidFill>
                  </a:tcPr>
                </a:tc>
              </a:tr>
              <a:tr h="365760">
                <a:tc>
                  <a:txBody>
                    <a:bodyPr lIns="45000" tIns="24840" rIns="45000" bIns="248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s-ES" sz="1800" b="1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7F7F"/>
                    </a:solidFill>
                  </a:tcPr>
                </a:tc>
                <a:tc>
                  <a:txBody>
                    <a:bodyPr lIns="45000" tIns="24840" rIns="45000" bIns="248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100" b="0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JSON estructurado (Telegram, chat logs)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7F7F"/>
                    </a:solidFill>
                  </a:tcPr>
                </a:tc>
                <a:tc>
                  <a:txBody>
                    <a:bodyPr lIns="45000" tIns="24840" rIns="45000" bIns="248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100" b="0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Schema conocido, parseable directamente, encoding limpio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7F7F"/>
                    </a:solidFill>
                  </a:tcPr>
                </a:tc>
              </a:tr>
              <a:tr h="365760">
                <a:tc>
                  <a:txBody>
                    <a:bodyPr lIns="45000" tIns="24840" rIns="45000" bIns="248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s-ES" sz="1800" b="1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BF7F"/>
                    </a:solidFill>
                  </a:tcPr>
                </a:tc>
                <a:tc>
                  <a:txBody>
                    <a:bodyPr lIns="45000" tIns="24840" rIns="45000" bIns="248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100" b="0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vBulletin / IPS estándar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BF7F"/>
                    </a:solidFill>
                  </a:tcPr>
                </a:tc>
                <a:tc>
                  <a:txBody>
                    <a:bodyPr lIns="45000" tIns="24840" rIns="45000" bIns="248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100" b="0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Schema documentado, hay parsers, columnas predecibles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BF7F"/>
                    </a:solidFill>
                  </a:tcPr>
                </a:tc>
              </a:tr>
              <a:tr h="365760">
                <a:tc>
                  <a:txBody>
                    <a:bodyPr lIns="45000" tIns="24840" rIns="45000" bIns="248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s-ES" sz="1800" b="1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B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DF7F"/>
                    </a:solidFill>
                  </a:tcPr>
                </a:tc>
                <a:tc>
                  <a:txBody>
                    <a:bodyPr lIns="45000" tIns="24840" rIns="45000" bIns="248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100" b="0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vBulletin / IPS con variantes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DF7F"/>
                    </a:solidFill>
                  </a:tcPr>
                </a:tc>
                <a:tc>
                  <a:txBody>
                    <a:bodyPr lIns="45000" tIns="24840" rIns="45000" bIns="248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100" b="0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Requiere detección automática de versión y prefijo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DF7F"/>
                    </a:solidFill>
                  </a:tcPr>
                </a:tc>
              </a:tr>
              <a:tr h="365760">
                <a:tc>
                  <a:txBody>
                    <a:bodyPr lIns="45000" tIns="24840" rIns="45000" bIns="248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s-ES" sz="1800" b="1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C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7F"/>
                    </a:solidFill>
                  </a:tcPr>
                </a:tc>
                <a:tc>
                  <a:txBody>
                    <a:bodyPr lIns="45000" tIns="24840" rIns="45000" bIns="248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100" b="0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Flat files delimitados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7F"/>
                    </a:solidFill>
                  </a:tcPr>
                </a:tc>
                <a:tc>
                  <a:txBody>
                    <a:bodyPr lIns="45000" tIns="24840" rIns="45000" bIns="248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100" b="0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Hay que inferir el schema caso a caso — cada dump es diferente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7F"/>
                    </a:solidFill>
                  </a:tcPr>
                </a:tc>
              </a:tr>
              <a:tr h="365760">
                <a:tc>
                  <a:txBody>
                    <a:bodyPr lIns="45000" tIns="24840" rIns="45000" bIns="248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s-ES" sz="1800" b="1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BFFF7F"/>
                    </a:solidFill>
                  </a:tcPr>
                </a:tc>
                <a:tc>
                  <a:txBody>
                    <a:bodyPr lIns="45000" tIns="24840" rIns="45000" bIns="248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100" b="0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Dumps custom / propietarios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BFFF7F"/>
                    </a:solidFill>
                  </a:tcPr>
                </a:tc>
                <a:tc>
                  <a:txBody>
                    <a:bodyPr lIns="45000" tIns="24840" rIns="45000" bIns="248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s-ES" sz="1100" b="0" u="none" strike="noStrike">
                          <a:solidFill>
                            <a:srgbClr val="465461"/>
                          </a:solidFill>
                          <a:effectLst/>
                          <a:uFillTx/>
                          <a:latin typeface="Arial"/>
                        </a:rPr>
                        <a:t>Sin documentación, requieren ingeniería inversa del schema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45000" marR="45000" marT="24840" marB="248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BFFF7F"/>
                    </a:solidFill>
                  </a:tcPr>
                </a:tc>
              </a:tr>
            </a:tbl>
          </a:graphicData>
        </a:graphic>
      </p:graphicFrame>
      <p:sp>
        <p:nvSpPr>
          <p:cNvPr id="77" name="TextBox 4"/>
          <p:cNvSpPr/>
          <p:nvPr/>
        </p:nvSpPr>
        <p:spPr>
          <a:xfrm>
            <a:off x="1051560" y="5760720"/>
            <a:ext cx="10058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s-ES" sz="10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ℹ  Esta </a:t>
            </a:r>
            <a:r>
              <a:rPr lang="es-ES" sz="10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tabla es </a:t>
            </a:r>
            <a:r>
              <a:rPr lang="es-ES" sz="10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coste </a:t>
            </a:r>
            <a:r>
              <a:rPr lang="es-ES" sz="10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técnico, no </a:t>
            </a:r>
            <a:r>
              <a:rPr lang="es-ES" sz="10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valor </a:t>
            </a:r>
            <a:r>
              <a:rPr lang="es-ES" sz="10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investigativo </a:t>
            </a:r>
            <a:r>
              <a:rPr lang="es-ES" sz="10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— no </a:t>
            </a:r>
            <a:r>
              <a:rPr lang="es-ES" sz="10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confundir </a:t>
            </a:r>
            <a:r>
              <a:rPr lang="es-ES" sz="10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con la tier list </a:t>
            </a:r>
            <a:r>
              <a:rPr lang="es-ES" sz="10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anterior.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hasCustomPrompt="1"/>
          </p:nvPr>
        </p:nvSpPr>
        <p:spPr>
          <a:xfrm>
            <a:off x="1073520" y="742680"/>
            <a:ext cx="6818760" cy="52236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El parser como primera línea de análisis</a:t>
            </a:r>
            <a:endParaRPr lang="es-ES" sz="40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hasCustomPrompt="1"/>
          </p:nvPr>
        </p:nvSpPr>
        <p:spPr>
          <a:xfrm>
            <a:off x="1073520" y="2214720"/>
            <a:ext cx="10084680" cy="336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1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Un parser mal calibrado puede dejar fuera millones de registros sin advertencia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2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Estrategia: auto-detección de versión + validación de recuento contra tablas de metadatos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3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El encoding importa: cp1251 mal interpretado como UTF-8 → datos corruptos sin error visible (mojibake)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4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Siempre verificar: ¿cuántos registros esperábamos? ¿cuántos cargamos? ¿la diferencia tiene explicación?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5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Antes de deduplicar o limpiar vacíos, hay que identificar la estructura real del leak: qué tablas tiene, qué campos, cómo se relacionan entre sí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hasCustomPrompt="1"/>
          </p:nvPr>
        </p:nvSpPr>
        <p:spPr>
          <a:xfrm>
            <a:off x="2508840" y="2048760"/>
            <a:ext cx="7173720" cy="1379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7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SECCIÓN 3</a:t>
            </a:r>
            <a:endParaRPr lang="es-ES" sz="17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3600" b="1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El ecosistema como red</a:t>
            </a:r>
            <a:endParaRPr lang="es-ES" sz="36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1600" b="1" u="none" strike="noStrike">
                <a:solidFill>
                  <a:srgbClr val="D6DAE2"/>
                </a:solidFill>
                <a:effectLst/>
                <a:uFillTx/>
                <a:latin typeface="Arial"/>
              </a:rPr>
              <a:t>Plataformas que se monitorizan entre sí</a:t>
            </a:r>
            <a:endParaRPr lang="es-ES" sz="1600" b="1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hasCustomPrompt="1"/>
          </p:nvPr>
        </p:nvSpPr>
        <p:spPr>
          <a:xfrm>
            <a:off x="1073520" y="742680"/>
            <a:ext cx="6818760" cy="52236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Las identidades sobreviven a las plataformas</a:t>
            </a:r>
            <a:endParaRPr lang="es-ES" sz="40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hasCustomPrompt="1"/>
          </p:nvPr>
        </p:nvSpPr>
        <p:spPr>
          <a:xfrm>
            <a:off x="1073520" y="2214720"/>
            <a:ext cx="10084680" cy="336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1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Cuando una plataforma cae — brecha, seizure, cierre —, el operador no desaparece: cambia de sitio, y casi siempre se lleva el mismo handle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2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Ejemplo real: RaidForums (seized por Europol en 2022) → BreachForums lo reemplaza incorporando su BD oficial y preservando rangos/roles de los usuarios antiguos como incentivo explícito para migrar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3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El ciclo se repite: BreachForums fue seized a su vez en 2023 y de nuevo en 2024 — no es un caso aislado, es estructural del ecosistema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SzPct val="100112"/>
              <a:buBlip>
                <a:blip r:embed="rId4"/>
              </a:buBlip>
              <a:tabLst>
                <a:tab pos="0" algn="l"/>
              </a:tabLst>
            </a:pPr>
            <a:r>
              <a:rPr lang="es-ES" sz="18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Consecuencia práctica: el mismo actor puede aparecer en 5 plataformas distintas a lo largo de los años, bajo el mismo o parecido nombre</a:t>
            </a: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  <a:p>
            <a:pPr marL="274320" indent="-22860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r>
              <a:rPr lang="es-ES" sz="15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·  Esta persistencia de identidad es la base técnica del caso HackingForums, donde se convierte en una técnica concreta: pivoting cross-foro</a:t>
            </a:r>
            <a:endParaRPr lang="es-ES" sz="15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hasCustomPrompt="1"/>
          </p:nvPr>
        </p:nvSpPr>
        <p:spPr>
          <a:xfrm>
            <a:off x="1073520" y="742680"/>
            <a:ext cx="6818760" cy="522360"/>
          </a:xfrm>
          <a:prstGeom prst="rect">
            <a:avLst/>
          </a:prstGeom>
          <a:noFill/>
          <a:ln w="0">
            <a:noFill/>
          </a:ln>
        </p:spPr>
        <p:txBody>
          <a:bodyPr lIns="3600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s-ES" sz="40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Dos tipos de valor analítico</a:t>
            </a:r>
            <a:endParaRPr lang="es-ES" sz="40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hasCustomPrompt="1"/>
          </p:nvPr>
        </p:nvSpPr>
        <p:spPr>
          <a:xfrm>
            <a:off x="1073520" y="1574640"/>
            <a:ext cx="10084680" cy="400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s-ES" sz="1800" b="0" u="none" strike="noStrike">
              <a:solidFill>
                <a:srgbClr val="465461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3"/>
          <p:cNvSpPr/>
          <p:nvPr/>
        </p:nvSpPr>
        <p:spPr>
          <a:xfrm>
            <a:off x="1051560" y="2331720"/>
            <a:ext cx="48459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s-ES" sz="16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Valor </a:t>
            </a:r>
            <a:r>
              <a:rPr lang="es-ES" sz="16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inmedi</a:t>
            </a:r>
            <a:r>
              <a:rPr lang="es-ES" sz="16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ato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4"/>
          <p:cNvSpPr/>
          <p:nvPr/>
        </p:nvSpPr>
        <p:spPr>
          <a:xfrm>
            <a:off x="1051560" y="2788920"/>
            <a:ext cx="484596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s-ES" sz="1600" b="0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▸ 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Creden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ciales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activas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para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acceso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600" b="0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▸ 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IPs y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dominio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s de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infraestr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uctura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600" b="0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▸ 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Datos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persona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les para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identific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ación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600" b="0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▸ 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TTPs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docume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ntados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(cómo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operan)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5"/>
          <p:cNvSpPr/>
          <p:nvPr/>
        </p:nvSpPr>
        <p:spPr>
          <a:xfrm>
            <a:off x="6217920" y="2331720"/>
            <a:ext cx="484596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s-ES" sz="16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Valor </a:t>
            </a:r>
            <a:r>
              <a:rPr lang="es-ES" sz="16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de </a:t>
            </a:r>
            <a:r>
              <a:rPr lang="es-ES" sz="16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intelige</a:t>
            </a:r>
            <a:r>
              <a:rPr lang="es-ES" sz="16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ncia a </a:t>
            </a:r>
            <a:r>
              <a:rPr lang="es-ES" sz="16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largo </a:t>
            </a:r>
            <a:r>
              <a:rPr lang="es-ES" sz="1600" b="1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plazo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6"/>
          <p:cNvSpPr/>
          <p:nvPr/>
        </p:nvSpPr>
        <p:spPr>
          <a:xfrm>
            <a:off x="6217920" y="2788920"/>
            <a:ext cx="4845960" cy="32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s-ES" sz="1600" b="0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▸ 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Patrone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s de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comport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amiento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estable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600" b="0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▸ 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Redes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de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confian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za entre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actores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600" b="0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▸ 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Evoluci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ón de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vocabul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ario y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técnica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ES" sz="1600" b="0" u="none" strike="noStrike">
                <a:solidFill>
                  <a:srgbClr val="CD2D37"/>
                </a:solidFill>
                <a:effectLst/>
                <a:uFillTx/>
                <a:latin typeface="Arial"/>
              </a:rPr>
              <a:t>▸ 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Identida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des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cruzada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s entre 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platafor</a:t>
            </a:r>
            <a:r>
              <a:rPr lang="es-ES" sz="1600" b="0" u="none" strike="noStrike">
                <a:solidFill>
                  <a:srgbClr val="465461"/>
                </a:solidFill>
                <a:effectLst/>
                <a:uFillTx/>
                <a:latin typeface="Arial"/>
              </a:rPr>
              <a:t>mas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7"/>
          <p:cNvSpPr/>
          <p:nvPr/>
        </p:nvSpPr>
        <p:spPr>
          <a:xfrm>
            <a:off x="1051560" y="5688720"/>
            <a:ext cx="10058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s-ES" sz="11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ℹ  No </a:t>
            </a:r>
            <a:r>
              <a:rPr lang="es-ES" sz="11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siempre se </a:t>
            </a:r>
            <a:r>
              <a:rPr lang="es-ES" sz="11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dispone de </a:t>
            </a:r>
            <a:r>
              <a:rPr lang="es-ES" sz="11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todos estos </a:t>
            </a:r>
            <a:r>
              <a:rPr lang="es-ES" sz="11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datos — un </a:t>
            </a:r>
            <a:r>
              <a:rPr lang="es-ES" sz="11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dump de </a:t>
            </a:r>
            <a:r>
              <a:rPr lang="es-ES" sz="11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hace años </a:t>
            </a:r>
            <a:r>
              <a:rPr lang="es-ES" sz="11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sin </a:t>
            </a:r>
            <a:r>
              <a:rPr lang="es-ES" sz="11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actividad </a:t>
            </a:r>
            <a:r>
              <a:rPr lang="es-ES" sz="11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reciente </a:t>
            </a:r>
            <a:r>
              <a:rPr lang="es-ES" sz="11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hace que, </a:t>
            </a:r>
            <a:r>
              <a:rPr lang="es-ES" sz="11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por </a:t>
            </a:r>
            <a:r>
              <a:rPr lang="es-ES" sz="11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ejemplo, </a:t>
            </a:r>
            <a:r>
              <a:rPr lang="es-ES" sz="11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las IPs ya </a:t>
            </a:r>
            <a:r>
              <a:rPr lang="es-ES" sz="11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no aporten </a:t>
            </a:r>
            <a:r>
              <a:rPr lang="es-ES" sz="1100" b="0" u="none" strike="noStrike">
                <a:solidFill>
                  <a:srgbClr val="707888"/>
                </a:solidFill>
                <a:effectLst/>
                <a:uFillTx/>
                <a:latin typeface="Arial"/>
              </a:rPr>
              <a:t>valor.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91</TotalTime>
  <Application>LibreOffice/26.2.4.2$Linux_X86_64 LibreOffice_project/3346a99e6b841765b75a9b29714a5b95c6761ce3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2024-03-27T14:17:30Z</dcterms:created>
  <dc:creator>Marta Torralbo Calero</dc:creator>
  <dc:description/>
  <dc:language>en-US</dc:language>
  <cp:lastModifiedBy/>
  <dcterms:modified xsi:type="dcterms:W3CDTF">2026-07-14T10:31:12Z</dcterms:modified>
  <cp:revision>5</cp:revision>
  <dc:subject/>
  <dc:title>Presentación de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  <property fmtid="{D5CDD505-2E9C-101B-9397-08002B2CF9AE}" pid="3" name="PresentationFormat">
    <vt:lpwstr>Panorámica</vt:lpwstr>
  </property>
  <property fmtid="{D5CDD505-2E9C-101B-9397-08002B2CF9AE}" pid="4" name="Slides">
    <vt:i4>5</vt:i4>
  </property>
</Properties>
</file>