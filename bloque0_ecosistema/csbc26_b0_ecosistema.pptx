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Bienvenidos al bloque 0. Antes de tocar una sola línea de código vamos a entender de dónde sale realmente el material que vais a analizar: quién lo filtra, por qué canales circula y qué tipos de archivo os vais a encontrar. Esto no es teoría de relleno — si no entendéis el origen de un leak, vais a perder tiempo procesando basura o, peor, vais a malinterpretar los datos. En 45 minutos cubrimos tres bloques: origen, formato técnico, y el ecosistema como red que se vigila y se traiciona a sí misma.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Empezamos por el origen. No todos los leaks nacen igual, y saber cómo llegó un dump a vuestras manos os da pistas sobre su fiabilidad. Vamos a ver las tres vías principales y qué encontramos típicamente dentro de un leak.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Fijaos en la última idea, es la que más cuesta interiorizar: el mismo ecosistema que produce el leak lo redistribuye, y ese redistribuidor también acaba siendo víctima. Preguntadle a la audiencia si alguna vez se han planteado quién filtra al que filtra. Cuando lleguéis a un dato en Telegram o en un paste site, preguntaos siempre: ¿esto es la fuente original o ya pasó por dos o tres manos? Eso cambia por completo cómo valoráis su fiabilidad. Con esto en mente pasamos a qué contiene realmente un leak una vez lo tenéis delante.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 importante gestionar expectativas: la mayoría del material que vais a recibir son dumps de bases de datos, y eso suena espectacular pero en la práctica es tedioso de procesar. Destacad que los logs de chat internos son el material más valioso porque ahí la gente habla sin filtro, sin pensar que alguien los va a leer después. El source code y las configuraciones son minoritarios pero muy potentes si sabéis leerlos. La pregunta que debéis dejar flotando es: ¿qué de todo esto realmente aporta valor investigativo? Eso nos lleva directamente a la tabla de prioridades.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tier list es una guía práctica, no un dogma: hay excepciones constantemente. Explicad que un chat log de Conti o BlackBasta con estructura interna y roles vale muchísimo más que un dump SQL enorme, aunque el dump tenga cien veces más registros. La nota al pie es la idea clave de toda la charla — un solo post bien colocado puede valer más que diez mil líneas de relleno, así que insistid en calidad sobre volumen antes de pasar a la sección de formatos.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 sabemos de dónde vienen los datos y qué tipos hay. Ahora toca la parte menos glamurosa pero más determinante para vuestro trabajo diario: en qué formato os va a llegar todo esto y por qué casi nunca está limpio.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conviene ser honestos: vBulletin con cp1251 os va a dar más de un dolor de cabeza, y no es un caso raro — es el formato dominante en foros de dos décadas. Contad que IPS tiene tantas variantes de schema entre versiones que asumir un prefijo de tabla fijo os va a romper el parser tarde o temprano. La frase final es la más importante de esta diapositiva: en la práctica os vais a encontrar encodings mixtos, tablas renombradas y backups incompletos, así que nunca asumáis que un dump está completo solo porque abre sin errores.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segunda tier list es sobre coste de procesamiento, no sobre valor investigativo — no las confundáis, un dump tier D en esfuerzo técnico puede ser tier S en la lista anterior. Remarcad que JSON estructurado gana precisamente porque tiene el schema conocido de antemano, mientras que un dump custom sin documentación os obliga a hacer ingeniería inversa del schema desde cero. Esto conecta directo con la siguiente idea: el parser no es un trámite, es la primera línea real de análisis.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Contad una anécdota o hipótesis realista: un parser mal calibrado puede descartar millones de registros en silencio, sin lanzar ni un warning, y nadie se entera hasta que alguien pregunta por qué faltan usuarios de cierto rango de fechas. Por eso la estrategia que proponemos es auto-detección de versión más validación cruzada contra los recuentos de las tablas de metadatos. El caso del cp1251 mal interpretado como UTF-8 es el ejemplo perfecto de corrupción silenciosa: los datos parecen válidos pero están rotos. Cerrad con la frase que resume el bloque: esto no es limpieza de datos, es arqueología de schemas, y esa mentalidad es la que abre la siguiente sección sobre el ecosistema como 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 entendemos el origen y el formato técnico. Cerramos el bloque zoomando hacia afuera: cómo se comporta todo este ecosistema como red, y por qué los mismos actores que distribuyen leaks acaban siendo víctimas de otros leaks.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probablemente el dato que más sorprende a quien empieza en este mundo: RaidForums distribuía breaches ajenos y terminó con su propia base de datos filtrada tras el seizure de Europol en 2022. BreachForums la sustituyó y corrió la misma suerte, no una sino dos veces, en 2023 y 2024. Preguntad a la audiencia: si vosotros fuerais un operador de este ecosistema, ¿cambiaríais de plataforma sabiendo que tarde o temprano os van a brechear también? La clave práctica es que los handles persisten aunque la plataforma muera, así que un mismo actor puede dejar rastro en cinco plataformas distintas — y eso es oro para quien investiga.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Terminamos distinguiendo dos formas de valor que no debéis mezclar al priorizar vuestro análisis. A la izquierda tenéis el valor táctico e inmediato — credenciales activas, IPs, dominios, cosas que caducan rápido y hay que explotar ya. A la derecha, el valor de inteligencia a largo plazo: patrones de comportamiento y redes de confianza que siguen siendo útiles meses o años después. La pregunta para cerrar el bloque es cuál de los dos vais a priorizar según el objetivo de vuestra investigación, porque no siempre coinciden. Con esto cerramos el bloque 0 y pasamos a la parte práctica.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0"/>
            <a:ext cx="10972800" cy="1645920"/>
          </a:xfrm>
          <a:prstGeom prst="rect">
            <a:avLst/>
          </a:prstGeom>
          <a:noFill/>
        </p:spPr>
        <p:txBody>
          <a:bodyPr wrap="square">
            <a:spAutoFit/>
          </a:bodyPr>
          <a:lstStyle/>
          <a:p>
            <a:pPr algn="l"/>
            <a:r>
              <a:rPr sz="4400" b="1">
                <a:solidFill>
                  <a:srgbClr val="FFFFFF"/>
                </a:solidFill>
                <a:latin typeface="Calibri"/>
              </a:rPr>
              <a:t>El ecosistema de leaks underground</a:t>
            </a:r>
          </a:p>
        </p:txBody>
      </p:sp>
      <p:sp>
        <p:nvSpPr>
          <p:cNvPr id="4" name="TextBox 3"/>
          <p:cNvSpPr txBox="1"/>
          <p:nvPr/>
        </p:nvSpPr>
        <p:spPr>
          <a:xfrm>
            <a:off x="548640" y="3566160"/>
            <a:ext cx="10972800" cy="914400"/>
          </a:xfrm>
          <a:prstGeom prst="rect">
            <a:avLst/>
          </a:prstGeom>
          <a:noFill/>
        </p:spPr>
        <p:txBody>
          <a:bodyPr wrap="square">
            <a:spAutoFit/>
          </a:bodyPr>
          <a:lstStyle/>
          <a:p>
            <a:pPr algn="l"/>
            <a:r>
              <a:rPr sz="2400" b="0">
                <a:solidFill>
                  <a:srgbClr val="B8C0CC"/>
                </a:solidFill>
                <a:latin typeface="Calibri"/>
              </a:rPr>
              <a:t>De dónde vienen los datos y qué encontramos</a:t>
            </a:r>
          </a:p>
        </p:txBody>
      </p:sp>
      <p:sp>
        <p:nvSpPr>
          <p:cNvPr id="5" name="Rectangle 4"/>
          <p:cNvSpPr/>
          <p:nvPr/>
        </p:nvSpPr>
        <p:spPr>
          <a:xfrm>
            <a:off x="548640" y="4754880"/>
            <a:ext cx="3291840" cy="411480"/>
          </a:xfrm>
          <a:prstGeom prst="rect">
            <a:avLst/>
          </a:prstGeom>
          <a:solidFill>
            <a:srgbClr val="2A2A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73168"/>
            <a:ext cx="3200400" cy="365760"/>
          </a:xfrm>
          <a:prstGeom prst="rect">
            <a:avLst/>
          </a:prstGeom>
          <a:noFill/>
        </p:spPr>
        <p:txBody>
          <a:bodyPr wrap="square">
            <a:spAutoFit/>
          </a:bodyPr>
          <a:lstStyle/>
          <a:p>
            <a:pPr algn="l"/>
            <a:r>
              <a:rPr sz="1400" b="0">
                <a:solidFill>
                  <a:srgbClr val="606878"/>
                </a:solidFill>
                <a:latin typeface="Calibri"/>
              </a:rPr>
              <a:t>CSBC26 · Bloque 0 · 45 min</a:t>
            </a:r>
          </a:p>
        </p:txBody>
      </p:sp>
      <p:sp>
        <p:nvSpPr>
          <p:cNvPr id="7" name="Rectangle 6"/>
          <p:cNvSpPr/>
          <p:nvPr/>
        </p:nvSpPr>
        <p:spPr>
          <a:xfrm>
            <a:off x="548640" y="6309360"/>
            <a:ext cx="10515600" cy="4572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1</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De dónde vienen los datos</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Tres vías principales de filtración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¿Cómo llega un leak al espacio público?</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Hackeo directo: explotación de vulnerabilidad en el servidor del foro</a:t>
            </a:r>
          </a:p>
          <a:p>
            <a:pPr algn="l" marL="0" indent="-228600"/>
            <a:r>
              <a:rPr sz="2000" b="0">
                <a:solidFill>
                  <a:srgbClr val="B8C0CC"/>
                </a:solidFill>
                <a:latin typeface="Calibri"/>
              </a:rPr>
              <a:t>▸  Filtración interna: miembro descontento, admin que abandona, búsqueda de notoriedad</a:t>
            </a:r>
          </a:p>
          <a:p>
            <a:pPr algn="l" marL="0" indent="-228600"/>
            <a:r>
              <a:rPr sz="2000" b="0">
                <a:solidFill>
                  <a:srgbClr val="B8C0CC"/>
                </a:solidFill>
                <a:latin typeface="Calibri"/>
              </a:rPr>
              <a:t>▸  Repositorios de redistribución: plataformas que actúan como mercado de breaches</a:t>
            </a:r>
          </a:p>
          <a:p>
            <a:pPr algn="l" marL="0" indent="-228600"/>
            <a:r>
              <a:rPr sz="2000" b="0">
                <a:solidFill>
                  <a:srgbClr val="B8C0CC"/>
                </a:solidFill>
                <a:latin typeface="Calibri"/>
              </a:rPr>
              <a:t>▸  Una vez en circulación: Telegram especializado, foros underground, paste sites, dark web</a:t>
            </a:r>
          </a:p>
          <a:p>
            <a:pPr algn="l" marL="0" indent="-228600"/>
            <a:r>
              <a:rPr sz="2000" b="0">
                <a:solidFill>
                  <a:srgbClr val="B8C0CC"/>
                </a:solidFill>
                <a:latin typeface="Calibri"/>
              </a:rPr>
              <a:t>▸  El mismo ecosistema que genera los datos también los redistribuye — y a su vez es brecheado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¿Qué encontramos en un leak?</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Dumps de bases de datos: el grueso del material — usuarios, posts, IPs, emails, fechas</a:t>
            </a:r>
          </a:p>
          <a:p>
            <a:pPr algn="l" marL="0" indent="-228600"/>
            <a:r>
              <a:rPr sz="2000" b="0">
                <a:solidFill>
                  <a:srgbClr val="B8C0CC"/>
                </a:solidFill>
                <a:latin typeface="Calibri"/>
              </a:rPr>
              <a:t>▸  Logs de chat internos: comunicaciones sin filtro entre operadores (el material más valioso)</a:t>
            </a:r>
          </a:p>
          <a:p>
            <a:pPr algn="l" marL="0" indent="-228600"/>
            <a:r>
              <a:rPr sz="2000" b="0">
                <a:solidFill>
                  <a:srgbClr val="B8C0CC"/>
                </a:solidFill>
                <a:latin typeface="Calibri"/>
              </a:rPr>
              <a:t>▸  Flat files de credenciales: útiles para pivoting, pobres en contexto</a:t>
            </a:r>
          </a:p>
          <a:p>
            <a:pPr algn="l" marL="0" indent="-228600"/>
            <a:r>
              <a:rPr sz="2000" b="0">
                <a:solidFill>
                  <a:srgbClr val="B8C0CC"/>
                </a:solidFill>
                <a:latin typeface="Calibri"/>
              </a:rPr>
              <a:t>▸  Source code filtrado: paneles de administración, herramientas de ataque</a:t>
            </a:r>
          </a:p>
          <a:p>
            <a:pPr algn="l" marL="0" indent="-228600"/>
            <a:r>
              <a:rPr sz="2000" b="0">
                <a:solidFill>
                  <a:srgbClr val="B8C0CC"/>
                </a:solidFill>
                <a:latin typeface="Calibri"/>
              </a:rPr>
              <a:t>▸  Configuraciones de infraestructura: IPs, dominios, credenciales de servicios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Tier list — utilidad para investigación</a:t>
            </a:r>
          </a:p>
        </p:txBody>
      </p:sp>
      <p:sp>
        <p:nvSpPr>
          <p:cNvPr id="4" name="Rectangle 3"/>
          <p:cNvSpPr/>
          <p:nvPr/>
        </p:nvSpPr>
        <p:spPr>
          <a:xfrm>
            <a:off x="548640" y="1325880"/>
            <a:ext cx="10515600" cy="43891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385880"/>
            <a:ext cx="3413760" cy="438912"/>
          </a:xfrm>
          <a:prstGeom prst="rect">
            <a:avLst/>
          </a:prstGeom>
          <a:noFill/>
        </p:spPr>
        <p:txBody>
          <a:bodyPr wrap="square">
            <a:spAutoFit/>
          </a:bodyPr>
          <a:lstStyle/>
          <a:p>
            <a:pPr algn="l"/>
            <a:r>
              <a:rPr sz="1400" b="1">
                <a:solidFill>
                  <a:srgbClr val="FFFFFF"/>
                </a:solidFill>
                <a:latin typeface="Calibri"/>
              </a:rPr>
              <a:t>Tier</a:t>
            </a:r>
          </a:p>
        </p:txBody>
      </p:sp>
      <p:sp>
        <p:nvSpPr>
          <p:cNvPr id="6" name="TextBox 5"/>
          <p:cNvSpPr txBox="1"/>
          <p:nvPr/>
        </p:nvSpPr>
        <p:spPr>
          <a:xfrm>
            <a:off x="4099560" y="1385880"/>
            <a:ext cx="3413760" cy="438912"/>
          </a:xfrm>
          <a:prstGeom prst="rect">
            <a:avLst/>
          </a:prstGeom>
          <a:noFill/>
        </p:spPr>
        <p:txBody>
          <a:bodyPr wrap="square">
            <a:spAutoFit/>
          </a:bodyPr>
          <a:lstStyle/>
          <a:p>
            <a:pPr algn="l"/>
            <a:r>
              <a:rPr sz="1400" b="1">
                <a:solidFill>
                  <a:srgbClr val="FFFFFF"/>
                </a:solidFill>
                <a:latin typeface="Calibri"/>
              </a:rPr>
              <a:t>Tipo</a:t>
            </a:r>
          </a:p>
        </p:txBody>
      </p:sp>
      <p:sp>
        <p:nvSpPr>
          <p:cNvPr id="7" name="TextBox 6"/>
          <p:cNvSpPr txBox="1"/>
          <p:nvPr/>
        </p:nvSpPr>
        <p:spPr>
          <a:xfrm>
            <a:off x="7604760" y="1385880"/>
            <a:ext cx="3413760" cy="438912"/>
          </a:xfrm>
          <a:prstGeom prst="rect">
            <a:avLst/>
          </a:prstGeom>
          <a:noFill/>
        </p:spPr>
        <p:txBody>
          <a:bodyPr wrap="square">
            <a:spAutoFit/>
          </a:bodyPr>
          <a:lstStyle/>
          <a:p>
            <a:pPr algn="l"/>
            <a:r>
              <a:rPr sz="1400" b="1">
                <a:solidFill>
                  <a:srgbClr val="FFFFFF"/>
                </a:solidFill>
                <a:latin typeface="Calibri"/>
              </a:rPr>
              <a:t>Por qué</a:t>
            </a:r>
          </a:p>
        </p:txBody>
      </p:sp>
      <p:sp>
        <p:nvSpPr>
          <p:cNvPr id="8" name="Rectangle 7"/>
          <p:cNvSpPr/>
          <p:nvPr/>
        </p:nvSpPr>
        <p:spPr>
          <a:xfrm>
            <a:off x="548640" y="1764792"/>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814792"/>
            <a:ext cx="3413760" cy="438912"/>
          </a:xfrm>
          <a:prstGeom prst="rect">
            <a:avLst/>
          </a:prstGeom>
          <a:noFill/>
        </p:spPr>
        <p:txBody>
          <a:bodyPr wrap="square">
            <a:spAutoFit/>
          </a:bodyPr>
          <a:lstStyle/>
          <a:p>
            <a:pPr algn="l"/>
            <a:r>
              <a:rPr sz="1300" b="0">
                <a:solidFill>
                  <a:srgbClr val="B8C0CC"/>
                </a:solidFill>
                <a:latin typeface="Calibri"/>
              </a:rPr>
              <a:t>S</a:t>
            </a:r>
          </a:p>
        </p:txBody>
      </p:sp>
      <p:sp>
        <p:nvSpPr>
          <p:cNvPr id="10" name="TextBox 9"/>
          <p:cNvSpPr txBox="1"/>
          <p:nvPr/>
        </p:nvSpPr>
        <p:spPr>
          <a:xfrm>
            <a:off x="4099560" y="1814792"/>
            <a:ext cx="3413760" cy="438912"/>
          </a:xfrm>
          <a:prstGeom prst="rect">
            <a:avLst/>
          </a:prstGeom>
          <a:noFill/>
        </p:spPr>
        <p:txBody>
          <a:bodyPr wrap="square">
            <a:spAutoFit/>
          </a:bodyPr>
          <a:lstStyle/>
          <a:p>
            <a:pPr algn="l"/>
            <a:r>
              <a:rPr sz="1300" b="0">
                <a:solidFill>
                  <a:srgbClr val="B8C0CC"/>
                </a:solidFill>
                <a:latin typeface="Calibri"/>
              </a:rPr>
              <a:t>Chat logs internos (Conti, BlackBasta)</a:t>
            </a:r>
          </a:p>
        </p:txBody>
      </p:sp>
      <p:sp>
        <p:nvSpPr>
          <p:cNvPr id="11" name="TextBox 10"/>
          <p:cNvSpPr txBox="1"/>
          <p:nvPr/>
        </p:nvSpPr>
        <p:spPr>
          <a:xfrm>
            <a:off x="7604760" y="1814792"/>
            <a:ext cx="3413760" cy="438912"/>
          </a:xfrm>
          <a:prstGeom prst="rect">
            <a:avLst/>
          </a:prstGeom>
          <a:noFill/>
        </p:spPr>
        <p:txBody>
          <a:bodyPr wrap="square">
            <a:spAutoFit/>
          </a:bodyPr>
          <a:lstStyle/>
          <a:p>
            <a:pPr algn="l"/>
            <a:r>
              <a:rPr sz="1300" b="0">
                <a:solidFill>
                  <a:srgbClr val="B8C0CC"/>
                </a:solidFill>
                <a:latin typeface="Calibri"/>
              </a:rPr>
              <a:t>Sin filtro entre operadores: estructura, TTPs, roles, conflictos</a:t>
            </a:r>
          </a:p>
        </p:txBody>
      </p:sp>
      <p:sp>
        <p:nvSpPr>
          <p:cNvPr id="12" name="Rectangle 11"/>
          <p:cNvSpPr/>
          <p:nvPr/>
        </p:nvSpPr>
        <p:spPr>
          <a:xfrm>
            <a:off x="548640" y="2203704"/>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53704"/>
            <a:ext cx="3413760" cy="438912"/>
          </a:xfrm>
          <a:prstGeom prst="rect">
            <a:avLst/>
          </a:prstGeom>
          <a:noFill/>
        </p:spPr>
        <p:txBody>
          <a:bodyPr wrap="square">
            <a:spAutoFit/>
          </a:bodyPr>
          <a:lstStyle/>
          <a:p>
            <a:pPr algn="l"/>
            <a:r>
              <a:rPr sz="1300" b="0">
                <a:solidFill>
                  <a:srgbClr val="B8C0CC"/>
                </a:solidFill>
                <a:latin typeface="Calibri"/>
              </a:rPr>
              <a:t>A</a:t>
            </a:r>
          </a:p>
        </p:txBody>
      </p:sp>
      <p:sp>
        <p:nvSpPr>
          <p:cNvPr id="14" name="TextBox 13"/>
          <p:cNvSpPr txBox="1"/>
          <p:nvPr/>
        </p:nvSpPr>
        <p:spPr>
          <a:xfrm>
            <a:off x="4099560" y="2253704"/>
            <a:ext cx="3413760" cy="438912"/>
          </a:xfrm>
          <a:prstGeom prst="rect">
            <a:avLst/>
          </a:prstGeom>
          <a:noFill/>
        </p:spPr>
        <p:txBody>
          <a:bodyPr wrap="square">
            <a:spAutoFit/>
          </a:bodyPr>
          <a:lstStyle/>
          <a:p>
            <a:pPr algn="l"/>
            <a:r>
              <a:rPr sz="1300" b="0">
                <a:solidFill>
                  <a:srgbClr val="B8C0CC"/>
                </a:solidFill>
                <a:latin typeface="Calibri"/>
              </a:rPr>
              <a:t>Dumps SQL de foros</a:t>
            </a:r>
          </a:p>
        </p:txBody>
      </p:sp>
      <p:sp>
        <p:nvSpPr>
          <p:cNvPr id="15" name="TextBox 14"/>
          <p:cNvSpPr txBox="1"/>
          <p:nvPr/>
        </p:nvSpPr>
        <p:spPr>
          <a:xfrm>
            <a:off x="7604760" y="2253704"/>
            <a:ext cx="3413760" cy="438912"/>
          </a:xfrm>
          <a:prstGeom prst="rect">
            <a:avLst/>
          </a:prstGeom>
          <a:noFill/>
        </p:spPr>
        <p:txBody>
          <a:bodyPr wrap="square">
            <a:spAutoFit/>
          </a:bodyPr>
          <a:lstStyle/>
          <a:p>
            <a:pPr algn="l"/>
            <a:r>
              <a:rPr sz="1300" b="0">
                <a:solidFill>
                  <a:srgbClr val="B8C0CC"/>
                </a:solidFill>
                <a:latin typeface="Calibri"/>
              </a:rPr>
              <a:t>Usuarios, posts, IPs, fechas → red, atribución, correlación cross-foro</a:t>
            </a:r>
          </a:p>
        </p:txBody>
      </p:sp>
      <p:sp>
        <p:nvSpPr>
          <p:cNvPr id="16" name="Rectangle 15"/>
          <p:cNvSpPr/>
          <p:nvPr/>
        </p:nvSpPr>
        <p:spPr>
          <a:xfrm>
            <a:off x="548640" y="2642616"/>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692616"/>
            <a:ext cx="3413760" cy="438912"/>
          </a:xfrm>
          <a:prstGeom prst="rect">
            <a:avLst/>
          </a:prstGeom>
          <a:noFill/>
        </p:spPr>
        <p:txBody>
          <a:bodyPr wrap="square">
            <a:spAutoFit/>
          </a:bodyPr>
          <a:lstStyle/>
          <a:p>
            <a:pPr algn="l"/>
            <a:r>
              <a:rPr sz="1300" b="0">
                <a:solidFill>
                  <a:srgbClr val="B8C0CC"/>
                </a:solidFill>
                <a:latin typeface="Calibri"/>
              </a:rPr>
              <a:t>B</a:t>
            </a:r>
          </a:p>
        </p:txBody>
      </p:sp>
      <p:sp>
        <p:nvSpPr>
          <p:cNvPr id="18" name="TextBox 17"/>
          <p:cNvSpPr txBox="1"/>
          <p:nvPr/>
        </p:nvSpPr>
        <p:spPr>
          <a:xfrm>
            <a:off x="4099560" y="2692616"/>
            <a:ext cx="3413760" cy="438912"/>
          </a:xfrm>
          <a:prstGeom prst="rect">
            <a:avLst/>
          </a:prstGeom>
          <a:noFill/>
        </p:spPr>
        <p:txBody>
          <a:bodyPr wrap="square">
            <a:spAutoFit/>
          </a:bodyPr>
          <a:lstStyle/>
          <a:p>
            <a:pPr algn="l"/>
            <a:r>
              <a:rPr sz="1300" b="0">
                <a:solidFill>
                  <a:srgbClr val="B8C0CC"/>
                </a:solidFill>
                <a:latin typeface="Calibri"/>
              </a:rPr>
              <a:t>Flat files de credenciales</a:t>
            </a:r>
          </a:p>
        </p:txBody>
      </p:sp>
      <p:sp>
        <p:nvSpPr>
          <p:cNvPr id="19" name="TextBox 18"/>
          <p:cNvSpPr txBox="1"/>
          <p:nvPr/>
        </p:nvSpPr>
        <p:spPr>
          <a:xfrm>
            <a:off x="7604760" y="2692616"/>
            <a:ext cx="3413760" cy="438912"/>
          </a:xfrm>
          <a:prstGeom prst="rect">
            <a:avLst/>
          </a:prstGeom>
          <a:noFill/>
        </p:spPr>
        <p:txBody>
          <a:bodyPr wrap="square">
            <a:spAutoFit/>
          </a:bodyPr>
          <a:lstStyle/>
          <a:p>
            <a:pPr algn="l"/>
            <a:r>
              <a:rPr sz="1300" b="0">
                <a:solidFill>
                  <a:srgbClr val="B8C0CC"/>
                </a:solidFill>
                <a:latin typeface="Calibri"/>
              </a:rPr>
              <a:t>Útiles para pivoting, sin narrativa ni contexto</a:t>
            </a:r>
          </a:p>
        </p:txBody>
      </p:sp>
      <p:sp>
        <p:nvSpPr>
          <p:cNvPr id="20" name="Rectangle 19"/>
          <p:cNvSpPr/>
          <p:nvPr/>
        </p:nvSpPr>
        <p:spPr>
          <a:xfrm>
            <a:off x="548640" y="3081528"/>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131528"/>
            <a:ext cx="3413760" cy="438912"/>
          </a:xfrm>
          <a:prstGeom prst="rect">
            <a:avLst/>
          </a:prstGeom>
          <a:noFill/>
        </p:spPr>
        <p:txBody>
          <a:bodyPr wrap="square">
            <a:spAutoFit/>
          </a:bodyPr>
          <a:lstStyle/>
          <a:p>
            <a:pPr algn="l"/>
            <a:r>
              <a:rPr sz="1300" b="0">
                <a:solidFill>
                  <a:srgbClr val="B8C0CC"/>
                </a:solidFill>
                <a:latin typeface="Calibri"/>
              </a:rPr>
              <a:t>C</a:t>
            </a:r>
          </a:p>
        </p:txBody>
      </p:sp>
      <p:sp>
        <p:nvSpPr>
          <p:cNvPr id="22" name="TextBox 21"/>
          <p:cNvSpPr txBox="1"/>
          <p:nvPr/>
        </p:nvSpPr>
        <p:spPr>
          <a:xfrm>
            <a:off x="4099560" y="3131528"/>
            <a:ext cx="3413760" cy="438912"/>
          </a:xfrm>
          <a:prstGeom prst="rect">
            <a:avLst/>
          </a:prstGeom>
          <a:noFill/>
        </p:spPr>
        <p:txBody>
          <a:bodyPr wrap="square">
            <a:spAutoFit/>
          </a:bodyPr>
          <a:lstStyle/>
          <a:p>
            <a:pPr algn="l"/>
            <a:r>
              <a:rPr sz="1300" b="0">
                <a:solidFill>
                  <a:srgbClr val="B8C0CC"/>
                </a:solidFill>
                <a:latin typeface="Calibri"/>
              </a:rPr>
              <a:t>Source code / configs</a:t>
            </a:r>
          </a:p>
        </p:txBody>
      </p:sp>
      <p:sp>
        <p:nvSpPr>
          <p:cNvPr id="23" name="TextBox 22"/>
          <p:cNvSpPr txBox="1"/>
          <p:nvPr/>
        </p:nvSpPr>
        <p:spPr>
          <a:xfrm>
            <a:off x="7604760" y="3131528"/>
            <a:ext cx="3413760" cy="438912"/>
          </a:xfrm>
          <a:prstGeom prst="rect">
            <a:avLst/>
          </a:prstGeom>
          <a:noFill/>
        </p:spPr>
        <p:txBody>
          <a:bodyPr wrap="square">
            <a:spAutoFit/>
          </a:bodyPr>
          <a:lstStyle/>
          <a:p>
            <a:pPr algn="l"/>
            <a:r>
              <a:rPr sz="1300" b="0">
                <a:solidFill>
                  <a:srgbClr val="B8C0CC"/>
                </a:solidFill>
                <a:latin typeface="Calibri"/>
              </a:rPr>
              <a:t>Muy específicos, requieren expertise técnico profundo</a:t>
            </a:r>
          </a:p>
        </p:txBody>
      </p:sp>
      <p:sp>
        <p:nvSpPr>
          <p:cNvPr id="24" name="TextBox 23"/>
          <p:cNvSpPr txBox="1"/>
          <p:nvPr/>
        </p:nvSpPr>
        <p:spPr>
          <a:xfrm>
            <a:off x="548640" y="6263640"/>
            <a:ext cx="10972800" cy="365760"/>
          </a:xfrm>
          <a:prstGeom prst="rect">
            <a:avLst/>
          </a:prstGeom>
          <a:noFill/>
        </p:spPr>
        <p:txBody>
          <a:bodyPr wrap="square">
            <a:spAutoFit/>
          </a:bodyPr>
          <a:lstStyle/>
          <a:p>
            <a:pPr algn="l"/>
            <a:r>
              <a:rPr sz="1200" b="0">
                <a:solidFill>
                  <a:srgbClr val="606878"/>
                </a:solidFill>
                <a:latin typeface="Calibri"/>
              </a:rPr>
              <a:t>ℹ  No todos los leaks son iguales. Un post con info de acceso a infraestructura crítica vale más que 10K posts de relleno.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2</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Formatos y su realidad técnica</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Los datos rara vez llegan limpios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Formatos habituales — lo que nos encontramos realmente</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vBulletin SQL: formato dominante en foros underground 2000-2020, encoding cp1251 (cirílico)</a:t>
            </a:r>
          </a:p>
          <a:p>
            <a:pPr algn="l" marL="0" indent="-228600"/>
            <a:r>
              <a:rPr sz="2000" b="0">
                <a:solidFill>
                  <a:srgbClr val="B8C0CC"/>
                </a:solidFill>
                <a:latin typeface="Calibri"/>
              </a:rPr>
              <a:t>▸  IPS (Invision Power Suite): prefijos de tabla variables, varias versiones mayores con schema distinto</a:t>
            </a:r>
          </a:p>
          <a:p>
            <a:pPr algn="l" marL="0" indent="-228600"/>
            <a:r>
              <a:rPr sz="2000" b="0">
                <a:solidFill>
                  <a:srgbClr val="B8C0CC"/>
                </a:solidFill>
                <a:latin typeface="Calibri"/>
              </a:rPr>
              <a:t>▸  MyBB: open source, más predecible, pero con variantes de prefijo por instalación</a:t>
            </a:r>
          </a:p>
          <a:p>
            <a:pPr algn="l" marL="0" indent="-228600"/>
            <a:r>
              <a:rPr sz="2000" b="0">
                <a:solidFill>
                  <a:srgbClr val="B8C0CC"/>
                </a:solidFill>
                <a:latin typeface="Calibri"/>
              </a:rPr>
              <a:t>▸  JSON estructurado: chat logs modernos (Telegram, Slack/Rocket.Chat) — más limpio pero campo-inconsistente</a:t>
            </a:r>
          </a:p>
          <a:p>
            <a:pPr algn="l" marL="0" indent="-228600"/>
            <a:r>
              <a:rPr sz="2000" b="0">
                <a:solidFill>
                  <a:srgbClr val="B8C0CC"/>
                </a:solidFill>
                <a:latin typeface="Calibri"/>
              </a:rPr>
              <a:t>▸  Flat files: sin schema, delimitadores arbitrarios, calidad de dato muy variable</a:t>
            </a:r>
          </a:p>
          <a:p>
            <a:pPr algn="l" marL="0" indent="-228600"/>
            <a:r>
              <a:rPr sz="2000" b="0">
                <a:solidFill>
                  <a:srgbClr val="B8C0CC"/>
                </a:solidFill>
                <a:latin typeface="Calibri"/>
              </a:rPr>
              <a:t>▸  En la práctica: encodings mixtos, tablas renombradas, backups incompletos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Tier list — facilidad técnica de procesamiento</a:t>
            </a:r>
          </a:p>
        </p:txBody>
      </p:sp>
      <p:sp>
        <p:nvSpPr>
          <p:cNvPr id="4" name="Rectangle 3"/>
          <p:cNvSpPr/>
          <p:nvPr/>
        </p:nvSpPr>
        <p:spPr>
          <a:xfrm>
            <a:off x="548640" y="1325880"/>
            <a:ext cx="10515600" cy="43891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385880"/>
            <a:ext cx="3413760" cy="438912"/>
          </a:xfrm>
          <a:prstGeom prst="rect">
            <a:avLst/>
          </a:prstGeom>
          <a:noFill/>
        </p:spPr>
        <p:txBody>
          <a:bodyPr wrap="square">
            <a:spAutoFit/>
          </a:bodyPr>
          <a:lstStyle/>
          <a:p>
            <a:pPr algn="l"/>
            <a:r>
              <a:rPr sz="1400" b="1">
                <a:solidFill>
                  <a:srgbClr val="FFFFFF"/>
                </a:solidFill>
                <a:latin typeface="Calibri"/>
              </a:rPr>
              <a:t>Tier</a:t>
            </a:r>
          </a:p>
        </p:txBody>
      </p:sp>
      <p:sp>
        <p:nvSpPr>
          <p:cNvPr id="6" name="TextBox 5"/>
          <p:cNvSpPr txBox="1"/>
          <p:nvPr/>
        </p:nvSpPr>
        <p:spPr>
          <a:xfrm>
            <a:off x="4099560" y="1385880"/>
            <a:ext cx="3413760" cy="438912"/>
          </a:xfrm>
          <a:prstGeom prst="rect">
            <a:avLst/>
          </a:prstGeom>
          <a:noFill/>
        </p:spPr>
        <p:txBody>
          <a:bodyPr wrap="square">
            <a:spAutoFit/>
          </a:bodyPr>
          <a:lstStyle/>
          <a:p>
            <a:pPr algn="l"/>
            <a:r>
              <a:rPr sz="1400" b="1">
                <a:solidFill>
                  <a:srgbClr val="FFFFFF"/>
                </a:solidFill>
                <a:latin typeface="Calibri"/>
              </a:rPr>
              <a:t>Formato</a:t>
            </a:r>
          </a:p>
        </p:txBody>
      </p:sp>
      <p:sp>
        <p:nvSpPr>
          <p:cNvPr id="7" name="TextBox 6"/>
          <p:cNvSpPr txBox="1"/>
          <p:nvPr/>
        </p:nvSpPr>
        <p:spPr>
          <a:xfrm>
            <a:off x="7604760" y="1385880"/>
            <a:ext cx="3413760" cy="438912"/>
          </a:xfrm>
          <a:prstGeom prst="rect">
            <a:avLst/>
          </a:prstGeom>
          <a:noFill/>
        </p:spPr>
        <p:txBody>
          <a:bodyPr wrap="square">
            <a:spAutoFit/>
          </a:bodyPr>
          <a:lstStyle/>
          <a:p>
            <a:pPr algn="l"/>
            <a:r>
              <a:rPr sz="1400" b="1">
                <a:solidFill>
                  <a:srgbClr val="FFFFFF"/>
                </a:solidFill>
                <a:latin typeface="Calibri"/>
              </a:rPr>
              <a:t>Por qué</a:t>
            </a:r>
          </a:p>
        </p:txBody>
      </p:sp>
      <p:sp>
        <p:nvSpPr>
          <p:cNvPr id="8" name="Rectangle 7"/>
          <p:cNvSpPr/>
          <p:nvPr/>
        </p:nvSpPr>
        <p:spPr>
          <a:xfrm>
            <a:off x="548640" y="1764792"/>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814792"/>
            <a:ext cx="3413760" cy="438912"/>
          </a:xfrm>
          <a:prstGeom prst="rect">
            <a:avLst/>
          </a:prstGeom>
          <a:noFill/>
        </p:spPr>
        <p:txBody>
          <a:bodyPr wrap="square">
            <a:spAutoFit/>
          </a:bodyPr>
          <a:lstStyle/>
          <a:p>
            <a:pPr algn="l"/>
            <a:r>
              <a:rPr sz="1300" b="0">
                <a:solidFill>
                  <a:srgbClr val="B8C0CC"/>
                </a:solidFill>
                <a:latin typeface="Calibri"/>
              </a:rPr>
              <a:t>S</a:t>
            </a:r>
          </a:p>
        </p:txBody>
      </p:sp>
      <p:sp>
        <p:nvSpPr>
          <p:cNvPr id="10" name="TextBox 9"/>
          <p:cNvSpPr txBox="1"/>
          <p:nvPr/>
        </p:nvSpPr>
        <p:spPr>
          <a:xfrm>
            <a:off x="4099560" y="1814792"/>
            <a:ext cx="3413760" cy="438912"/>
          </a:xfrm>
          <a:prstGeom prst="rect">
            <a:avLst/>
          </a:prstGeom>
          <a:noFill/>
        </p:spPr>
        <p:txBody>
          <a:bodyPr wrap="square">
            <a:spAutoFit/>
          </a:bodyPr>
          <a:lstStyle/>
          <a:p>
            <a:pPr algn="l"/>
            <a:r>
              <a:rPr sz="1300" b="0">
                <a:solidFill>
                  <a:srgbClr val="B8C0CC"/>
                </a:solidFill>
                <a:latin typeface="Calibri"/>
              </a:rPr>
              <a:t>JSON estructurado (Telegram, chat logs)</a:t>
            </a:r>
          </a:p>
        </p:txBody>
      </p:sp>
      <p:sp>
        <p:nvSpPr>
          <p:cNvPr id="11" name="TextBox 10"/>
          <p:cNvSpPr txBox="1"/>
          <p:nvPr/>
        </p:nvSpPr>
        <p:spPr>
          <a:xfrm>
            <a:off x="7604760" y="1814792"/>
            <a:ext cx="3413760" cy="438912"/>
          </a:xfrm>
          <a:prstGeom prst="rect">
            <a:avLst/>
          </a:prstGeom>
          <a:noFill/>
        </p:spPr>
        <p:txBody>
          <a:bodyPr wrap="square">
            <a:spAutoFit/>
          </a:bodyPr>
          <a:lstStyle/>
          <a:p>
            <a:pPr algn="l"/>
            <a:r>
              <a:rPr sz="1300" b="0">
                <a:solidFill>
                  <a:srgbClr val="B8C0CC"/>
                </a:solidFill>
                <a:latin typeface="Calibri"/>
              </a:rPr>
              <a:t>Schema conocido, parseable directamente, encoding limpio</a:t>
            </a:r>
          </a:p>
        </p:txBody>
      </p:sp>
      <p:sp>
        <p:nvSpPr>
          <p:cNvPr id="12" name="Rectangle 11"/>
          <p:cNvSpPr/>
          <p:nvPr/>
        </p:nvSpPr>
        <p:spPr>
          <a:xfrm>
            <a:off x="548640" y="2203704"/>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53704"/>
            <a:ext cx="3413760" cy="438912"/>
          </a:xfrm>
          <a:prstGeom prst="rect">
            <a:avLst/>
          </a:prstGeom>
          <a:noFill/>
        </p:spPr>
        <p:txBody>
          <a:bodyPr wrap="square">
            <a:spAutoFit/>
          </a:bodyPr>
          <a:lstStyle/>
          <a:p>
            <a:pPr algn="l"/>
            <a:r>
              <a:rPr sz="1300" b="0">
                <a:solidFill>
                  <a:srgbClr val="B8C0CC"/>
                </a:solidFill>
                <a:latin typeface="Calibri"/>
              </a:rPr>
              <a:t>A</a:t>
            </a:r>
          </a:p>
        </p:txBody>
      </p:sp>
      <p:sp>
        <p:nvSpPr>
          <p:cNvPr id="14" name="TextBox 13"/>
          <p:cNvSpPr txBox="1"/>
          <p:nvPr/>
        </p:nvSpPr>
        <p:spPr>
          <a:xfrm>
            <a:off x="4099560" y="2253704"/>
            <a:ext cx="3413760" cy="438912"/>
          </a:xfrm>
          <a:prstGeom prst="rect">
            <a:avLst/>
          </a:prstGeom>
          <a:noFill/>
        </p:spPr>
        <p:txBody>
          <a:bodyPr wrap="square">
            <a:spAutoFit/>
          </a:bodyPr>
          <a:lstStyle/>
          <a:p>
            <a:pPr algn="l"/>
            <a:r>
              <a:rPr sz="1300" b="0">
                <a:solidFill>
                  <a:srgbClr val="B8C0CC"/>
                </a:solidFill>
                <a:latin typeface="Calibri"/>
              </a:rPr>
              <a:t>vBulletin / IPS estándar</a:t>
            </a:r>
          </a:p>
        </p:txBody>
      </p:sp>
      <p:sp>
        <p:nvSpPr>
          <p:cNvPr id="15" name="TextBox 14"/>
          <p:cNvSpPr txBox="1"/>
          <p:nvPr/>
        </p:nvSpPr>
        <p:spPr>
          <a:xfrm>
            <a:off x="7604760" y="2253704"/>
            <a:ext cx="3413760" cy="438912"/>
          </a:xfrm>
          <a:prstGeom prst="rect">
            <a:avLst/>
          </a:prstGeom>
          <a:noFill/>
        </p:spPr>
        <p:txBody>
          <a:bodyPr wrap="square">
            <a:spAutoFit/>
          </a:bodyPr>
          <a:lstStyle/>
          <a:p>
            <a:pPr algn="l"/>
            <a:r>
              <a:rPr sz="1300" b="0">
                <a:solidFill>
                  <a:srgbClr val="B8C0CC"/>
                </a:solidFill>
                <a:latin typeface="Calibri"/>
              </a:rPr>
              <a:t>Schema documentado, hay parsers, columnas predecibles</a:t>
            </a:r>
          </a:p>
        </p:txBody>
      </p:sp>
      <p:sp>
        <p:nvSpPr>
          <p:cNvPr id="16" name="Rectangle 15"/>
          <p:cNvSpPr/>
          <p:nvPr/>
        </p:nvSpPr>
        <p:spPr>
          <a:xfrm>
            <a:off x="548640" y="2642616"/>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692616"/>
            <a:ext cx="3413760" cy="438912"/>
          </a:xfrm>
          <a:prstGeom prst="rect">
            <a:avLst/>
          </a:prstGeom>
          <a:noFill/>
        </p:spPr>
        <p:txBody>
          <a:bodyPr wrap="square">
            <a:spAutoFit/>
          </a:bodyPr>
          <a:lstStyle/>
          <a:p>
            <a:pPr algn="l"/>
            <a:r>
              <a:rPr sz="1300" b="0">
                <a:solidFill>
                  <a:srgbClr val="B8C0CC"/>
                </a:solidFill>
                <a:latin typeface="Calibri"/>
              </a:rPr>
              <a:t>B</a:t>
            </a:r>
          </a:p>
        </p:txBody>
      </p:sp>
      <p:sp>
        <p:nvSpPr>
          <p:cNvPr id="18" name="TextBox 17"/>
          <p:cNvSpPr txBox="1"/>
          <p:nvPr/>
        </p:nvSpPr>
        <p:spPr>
          <a:xfrm>
            <a:off x="4099560" y="2692616"/>
            <a:ext cx="3413760" cy="438912"/>
          </a:xfrm>
          <a:prstGeom prst="rect">
            <a:avLst/>
          </a:prstGeom>
          <a:noFill/>
        </p:spPr>
        <p:txBody>
          <a:bodyPr wrap="square">
            <a:spAutoFit/>
          </a:bodyPr>
          <a:lstStyle/>
          <a:p>
            <a:pPr algn="l"/>
            <a:r>
              <a:rPr sz="1300" b="0">
                <a:solidFill>
                  <a:srgbClr val="B8C0CC"/>
                </a:solidFill>
                <a:latin typeface="Calibri"/>
              </a:rPr>
              <a:t>vBulletin / IPS con variantes</a:t>
            </a:r>
          </a:p>
        </p:txBody>
      </p:sp>
      <p:sp>
        <p:nvSpPr>
          <p:cNvPr id="19" name="TextBox 18"/>
          <p:cNvSpPr txBox="1"/>
          <p:nvPr/>
        </p:nvSpPr>
        <p:spPr>
          <a:xfrm>
            <a:off x="7604760" y="2692616"/>
            <a:ext cx="3413760" cy="438912"/>
          </a:xfrm>
          <a:prstGeom prst="rect">
            <a:avLst/>
          </a:prstGeom>
          <a:noFill/>
        </p:spPr>
        <p:txBody>
          <a:bodyPr wrap="square">
            <a:spAutoFit/>
          </a:bodyPr>
          <a:lstStyle/>
          <a:p>
            <a:pPr algn="l"/>
            <a:r>
              <a:rPr sz="1300" b="0">
                <a:solidFill>
                  <a:srgbClr val="B8C0CC"/>
                </a:solidFill>
                <a:latin typeface="Calibri"/>
              </a:rPr>
              <a:t>Requiere detección automática de versión y prefijo</a:t>
            </a:r>
          </a:p>
        </p:txBody>
      </p:sp>
      <p:sp>
        <p:nvSpPr>
          <p:cNvPr id="20" name="Rectangle 19"/>
          <p:cNvSpPr/>
          <p:nvPr/>
        </p:nvSpPr>
        <p:spPr>
          <a:xfrm>
            <a:off x="548640" y="3081528"/>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131528"/>
            <a:ext cx="3413760" cy="438912"/>
          </a:xfrm>
          <a:prstGeom prst="rect">
            <a:avLst/>
          </a:prstGeom>
          <a:noFill/>
        </p:spPr>
        <p:txBody>
          <a:bodyPr wrap="square">
            <a:spAutoFit/>
          </a:bodyPr>
          <a:lstStyle/>
          <a:p>
            <a:pPr algn="l"/>
            <a:r>
              <a:rPr sz="1300" b="0">
                <a:solidFill>
                  <a:srgbClr val="B8C0CC"/>
                </a:solidFill>
                <a:latin typeface="Calibri"/>
              </a:rPr>
              <a:t>C</a:t>
            </a:r>
          </a:p>
        </p:txBody>
      </p:sp>
      <p:sp>
        <p:nvSpPr>
          <p:cNvPr id="22" name="TextBox 21"/>
          <p:cNvSpPr txBox="1"/>
          <p:nvPr/>
        </p:nvSpPr>
        <p:spPr>
          <a:xfrm>
            <a:off x="4099560" y="3131528"/>
            <a:ext cx="3413760" cy="438912"/>
          </a:xfrm>
          <a:prstGeom prst="rect">
            <a:avLst/>
          </a:prstGeom>
          <a:noFill/>
        </p:spPr>
        <p:txBody>
          <a:bodyPr wrap="square">
            <a:spAutoFit/>
          </a:bodyPr>
          <a:lstStyle/>
          <a:p>
            <a:pPr algn="l"/>
            <a:r>
              <a:rPr sz="1300" b="0">
                <a:solidFill>
                  <a:srgbClr val="B8C0CC"/>
                </a:solidFill>
                <a:latin typeface="Calibri"/>
              </a:rPr>
              <a:t>Flat files delimitados</a:t>
            </a:r>
          </a:p>
        </p:txBody>
      </p:sp>
      <p:sp>
        <p:nvSpPr>
          <p:cNvPr id="23" name="TextBox 22"/>
          <p:cNvSpPr txBox="1"/>
          <p:nvPr/>
        </p:nvSpPr>
        <p:spPr>
          <a:xfrm>
            <a:off x="7604760" y="3131528"/>
            <a:ext cx="3413760" cy="438912"/>
          </a:xfrm>
          <a:prstGeom prst="rect">
            <a:avLst/>
          </a:prstGeom>
          <a:noFill/>
        </p:spPr>
        <p:txBody>
          <a:bodyPr wrap="square">
            <a:spAutoFit/>
          </a:bodyPr>
          <a:lstStyle/>
          <a:p>
            <a:pPr algn="l"/>
            <a:r>
              <a:rPr sz="1300" b="0">
                <a:solidFill>
                  <a:srgbClr val="B8C0CC"/>
                </a:solidFill>
                <a:latin typeface="Calibri"/>
              </a:rPr>
              <a:t>Hay que inferir el schema caso a caso — cada dump es diferente</a:t>
            </a:r>
          </a:p>
        </p:txBody>
      </p:sp>
      <p:sp>
        <p:nvSpPr>
          <p:cNvPr id="24" name="Rectangle 23"/>
          <p:cNvSpPr/>
          <p:nvPr/>
        </p:nvSpPr>
        <p:spPr>
          <a:xfrm>
            <a:off x="548640" y="3520440"/>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3570440"/>
            <a:ext cx="3413760" cy="438912"/>
          </a:xfrm>
          <a:prstGeom prst="rect">
            <a:avLst/>
          </a:prstGeom>
          <a:noFill/>
        </p:spPr>
        <p:txBody>
          <a:bodyPr wrap="square">
            <a:spAutoFit/>
          </a:bodyPr>
          <a:lstStyle/>
          <a:p>
            <a:pPr algn="l"/>
            <a:r>
              <a:rPr sz="1300" b="0">
                <a:solidFill>
                  <a:srgbClr val="B8C0CC"/>
                </a:solidFill>
                <a:latin typeface="Calibri"/>
              </a:rPr>
              <a:t>D</a:t>
            </a:r>
          </a:p>
        </p:txBody>
      </p:sp>
      <p:sp>
        <p:nvSpPr>
          <p:cNvPr id="26" name="TextBox 25"/>
          <p:cNvSpPr txBox="1"/>
          <p:nvPr/>
        </p:nvSpPr>
        <p:spPr>
          <a:xfrm>
            <a:off x="4099560" y="3570440"/>
            <a:ext cx="3413760" cy="438912"/>
          </a:xfrm>
          <a:prstGeom prst="rect">
            <a:avLst/>
          </a:prstGeom>
          <a:noFill/>
        </p:spPr>
        <p:txBody>
          <a:bodyPr wrap="square">
            <a:spAutoFit/>
          </a:bodyPr>
          <a:lstStyle/>
          <a:p>
            <a:pPr algn="l"/>
            <a:r>
              <a:rPr sz="1300" b="0">
                <a:solidFill>
                  <a:srgbClr val="B8C0CC"/>
                </a:solidFill>
                <a:latin typeface="Calibri"/>
              </a:rPr>
              <a:t>Dumps custom / propietarios</a:t>
            </a:r>
          </a:p>
        </p:txBody>
      </p:sp>
      <p:sp>
        <p:nvSpPr>
          <p:cNvPr id="27" name="TextBox 26"/>
          <p:cNvSpPr txBox="1"/>
          <p:nvPr/>
        </p:nvSpPr>
        <p:spPr>
          <a:xfrm>
            <a:off x="7604760" y="3570440"/>
            <a:ext cx="3413760" cy="438912"/>
          </a:xfrm>
          <a:prstGeom prst="rect">
            <a:avLst/>
          </a:prstGeom>
          <a:noFill/>
        </p:spPr>
        <p:txBody>
          <a:bodyPr wrap="square">
            <a:spAutoFit/>
          </a:bodyPr>
          <a:lstStyle/>
          <a:p>
            <a:pPr algn="l"/>
            <a:r>
              <a:rPr sz="1300" b="0">
                <a:solidFill>
                  <a:srgbClr val="B8C0CC"/>
                </a:solidFill>
                <a:latin typeface="Calibri"/>
              </a:rPr>
              <a:t>Sin documentación, requieren ingeniería inversa del schema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El parser como primera línea de análisis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Un parser mal calibrado puede dejar fuera millones de registros sin advertencia</a:t>
            </a:r>
          </a:p>
          <a:p>
            <a:pPr algn="l" marL="0" indent="-228600"/>
            <a:r>
              <a:rPr sz="2000" b="0">
                <a:solidFill>
                  <a:srgbClr val="B8C0CC"/>
                </a:solidFill>
                <a:latin typeface="Calibri"/>
              </a:rPr>
              <a:t>▸  Estrategia: auto-detección de versión + validación de recuento contra tablas de metadatos</a:t>
            </a:r>
          </a:p>
          <a:p>
            <a:pPr algn="l" marL="0" indent="-228600"/>
            <a:r>
              <a:rPr sz="2000" b="0">
                <a:solidFill>
                  <a:srgbClr val="B8C0CC"/>
                </a:solidFill>
                <a:latin typeface="Calibri"/>
              </a:rPr>
              <a:t>▸  El encoding importa: cp1251 mal interpretado como UTF-8 → datos corruptos sin error visible</a:t>
            </a:r>
          </a:p>
          <a:p>
            <a:pPr algn="l" marL="0" indent="-228600"/>
            <a:r>
              <a:rPr sz="2000" b="0">
                <a:solidFill>
                  <a:srgbClr val="B8C0CC"/>
                </a:solidFill>
                <a:latin typeface="Calibri"/>
              </a:rPr>
              <a:t>▸  Siempre verificar: ¿cuántos registros esperábamos? ¿cuántos cargamos? ¿la diferencia tiene explicación?</a:t>
            </a:r>
          </a:p>
          <a:p>
            <a:pPr algn="l" marL="0" indent="-228600"/>
            <a:r>
              <a:rPr sz="2000" b="0">
                <a:solidFill>
                  <a:srgbClr val="B8C0CC"/>
                </a:solidFill>
                <a:latin typeface="Calibri"/>
              </a:rPr>
              <a:t>▸  La ingeniería de datos en leaks no es limpieza de datos — es arqueología de schemas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3</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El ecosistema como red</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Plataformas que se monitorizan entre sí</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La paradoja del ecosistema de leaks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Los foros que distribuyen breaches son ellos mismos brecheados</a:t>
            </a:r>
          </a:p>
          <a:p>
            <a:pPr algn="l" marL="0" indent="-228600"/>
            <a:r>
              <a:rPr sz="2000" b="0">
                <a:solidFill>
                  <a:srgbClr val="B8C0CC"/>
                </a:solidFill>
                <a:latin typeface="Calibri"/>
              </a:rPr>
              <a:t>▸  RaidForums distribuía leaks → fue seized por Europol en 2022 → su propia BD fue publicada</a:t>
            </a:r>
          </a:p>
          <a:p>
            <a:pPr algn="l" marL="0" indent="-228600"/>
            <a:r>
              <a:rPr sz="2000" b="0">
                <a:solidFill>
                  <a:srgbClr val="B8C0CC"/>
                </a:solidFill>
                <a:latin typeface="Calibri"/>
              </a:rPr>
              <a:t>▸  BreachForums reemplazó a RaidForums → fue seized en 2023 y 2024</a:t>
            </a:r>
          </a:p>
          <a:p>
            <a:pPr algn="l" marL="0" indent="-228600"/>
            <a:r>
              <a:rPr sz="2000" b="0">
                <a:solidFill>
                  <a:srgbClr val="B8C0CC"/>
                </a:solidFill>
                <a:latin typeface="Calibri"/>
              </a:rPr>
              <a:t>▸  Los operadores migran de plataforma en plataforma — los handles persisten aunque la plataforma muera</a:t>
            </a:r>
          </a:p>
          <a:p>
            <a:pPr algn="l" marL="0" indent="-228600"/>
            <a:r>
              <a:rPr sz="2000" b="0">
                <a:solidFill>
                  <a:srgbClr val="B8C0CC"/>
                </a:solidFill>
                <a:latin typeface="Calibri"/>
              </a:rPr>
              <a:t>▸  Esto crea una cadena de datos: el mismo actor puede aparecer en 5 plataformas distintas</a:t>
            </a:r>
          </a:p>
          <a:p>
            <a:pPr algn="l" marL="0" indent="-228600"/>
            <a:r>
              <a:rPr sz="2000" b="0">
                <a:solidFill>
                  <a:srgbClr val="B8C0CC"/>
                </a:solidFill>
                <a:latin typeface="Calibri"/>
              </a:rPr>
              <a:t>▸  El ecosistema es autorreferencial: para investigarlo hay que estar dentro de él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Dos tipos de valor analítico</a:t>
            </a:r>
          </a:p>
        </p:txBody>
      </p:sp>
      <p:sp>
        <p:nvSpPr>
          <p:cNvPr id="4" name="TextBox 3"/>
          <p:cNvSpPr txBox="1"/>
          <p:nvPr/>
        </p:nvSpPr>
        <p:spPr>
          <a:xfrm>
            <a:off x="548640" y="1371600"/>
            <a:ext cx="5120640" cy="457200"/>
          </a:xfrm>
          <a:prstGeom prst="rect">
            <a:avLst/>
          </a:prstGeom>
          <a:noFill/>
        </p:spPr>
        <p:txBody>
          <a:bodyPr wrap="square">
            <a:spAutoFit/>
          </a:bodyPr>
          <a:lstStyle/>
          <a:p>
            <a:pPr algn="l"/>
            <a:r>
              <a:rPr sz="1800" b="1">
                <a:solidFill>
                  <a:srgbClr val="E94E4E"/>
                </a:solidFill>
                <a:latin typeface="Calibri"/>
              </a:rPr>
              <a:t>Valor inmediato</a:t>
            </a:r>
          </a:p>
        </p:txBody>
      </p:sp>
      <p:sp>
        <p:nvSpPr>
          <p:cNvPr id="5" name="TextBox 4"/>
          <p:cNvSpPr txBox="1"/>
          <p:nvPr/>
        </p:nvSpPr>
        <p:spPr>
          <a:xfrm>
            <a:off x="548640" y="1920240"/>
            <a:ext cx="5120640" cy="4572000"/>
          </a:xfrm>
          <a:prstGeom prst="rect">
            <a:avLst/>
          </a:prstGeom>
          <a:noFill/>
        </p:spPr>
        <p:txBody>
          <a:bodyPr wrap="square">
            <a:spAutoFit/>
          </a:bodyPr>
          <a:lstStyle/>
          <a:p>
            <a:r>
              <a:rPr sz="1800">
                <a:solidFill>
                  <a:srgbClr val="B8C0CC"/>
                </a:solidFill>
                <a:latin typeface="Calibri"/>
              </a:rPr>
              <a:t>▸  Credenciales activas para acceso</a:t>
            </a:r>
          </a:p>
          <a:p>
            <a:r>
              <a:rPr sz="1800">
                <a:solidFill>
                  <a:srgbClr val="B8C0CC"/>
                </a:solidFill>
                <a:latin typeface="Calibri"/>
              </a:rPr>
              <a:t>▸  IPs y dominios de infraestructura</a:t>
            </a:r>
          </a:p>
          <a:p>
            <a:r>
              <a:rPr sz="1800">
                <a:solidFill>
                  <a:srgbClr val="B8C0CC"/>
                </a:solidFill>
                <a:latin typeface="Calibri"/>
              </a:rPr>
              <a:t>▸  Datos personales para identificación</a:t>
            </a:r>
          </a:p>
          <a:p>
            <a:r>
              <a:rPr sz="1800">
                <a:solidFill>
                  <a:srgbClr val="B8C0CC"/>
                </a:solidFill>
                <a:latin typeface="Calibri"/>
              </a:rPr>
              <a:t>▸  TTPs documentados (cómo operan)</a:t>
            </a:r>
          </a:p>
        </p:txBody>
      </p:sp>
      <p:sp>
        <p:nvSpPr>
          <p:cNvPr id="6" name="TextBox 5"/>
          <p:cNvSpPr txBox="1"/>
          <p:nvPr/>
        </p:nvSpPr>
        <p:spPr>
          <a:xfrm>
            <a:off x="6492240" y="1371600"/>
            <a:ext cx="5120640" cy="457200"/>
          </a:xfrm>
          <a:prstGeom prst="rect">
            <a:avLst/>
          </a:prstGeom>
          <a:noFill/>
        </p:spPr>
        <p:txBody>
          <a:bodyPr wrap="square">
            <a:spAutoFit/>
          </a:bodyPr>
          <a:lstStyle/>
          <a:p>
            <a:pPr algn="l"/>
            <a:r>
              <a:rPr sz="1800" b="1">
                <a:solidFill>
                  <a:srgbClr val="E94E4E"/>
                </a:solidFill>
                <a:latin typeface="Calibri"/>
              </a:rPr>
              <a:t>Valor de inteligencia a largo plazo</a:t>
            </a:r>
          </a:p>
        </p:txBody>
      </p:sp>
      <p:sp>
        <p:nvSpPr>
          <p:cNvPr id="7" name="TextBox 6"/>
          <p:cNvSpPr txBox="1"/>
          <p:nvPr/>
        </p:nvSpPr>
        <p:spPr>
          <a:xfrm>
            <a:off x="6492240" y="1920240"/>
            <a:ext cx="5120640" cy="4572000"/>
          </a:xfrm>
          <a:prstGeom prst="rect">
            <a:avLst/>
          </a:prstGeom>
          <a:noFill/>
        </p:spPr>
        <p:txBody>
          <a:bodyPr wrap="square">
            <a:spAutoFit/>
          </a:bodyPr>
          <a:lstStyle/>
          <a:p>
            <a:r>
              <a:rPr sz="1800">
                <a:solidFill>
                  <a:srgbClr val="B8C0CC"/>
                </a:solidFill>
                <a:latin typeface="Calibri"/>
              </a:rPr>
              <a:t>▸  Patrones de comportamiento estables</a:t>
            </a:r>
          </a:p>
          <a:p>
            <a:r>
              <a:rPr sz="1800">
                <a:solidFill>
                  <a:srgbClr val="B8C0CC"/>
                </a:solidFill>
                <a:latin typeface="Calibri"/>
              </a:rPr>
              <a:t>▸  Redes de confianza entre actores</a:t>
            </a:r>
          </a:p>
          <a:p>
            <a:r>
              <a:rPr sz="1800">
                <a:solidFill>
                  <a:srgbClr val="B8C0CC"/>
                </a:solidFill>
                <a:latin typeface="Calibri"/>
              </a:rPr>
              <a:t>▸  Evolución de vocabulario y técnicas</a:t>
            </a:r>
          </a:p>
          <a:p>
            <a:r>
              <a:rPr sz="1800">
                <a:solidFill>
                  <a:srgbClr val="B8C0CC"/>
                </a:solidFill>
                <a:latin typeface="Calibri"/>
              </a:rPr>
              <a:t>▸  Identidades cruzadas entre plataformas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