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 bloque 0</a:t>
            </a:r>
          </a:p>
          <a:p>
            <a:r>
              <a:t>Antes de código: origen de los datos</a:t>
            </a:r>
          </a:p>
          <a:p>
            <a:r>
              <a:t>Sin esto → basura procesada, malinterpretación</a:t>
            </a:r>
          </a:p>
          <a:p>
            <a:r>
              <a:t>→ 3 partes: origen, formato, ecosistema-red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Origen del leak → pistas de fiabilidad</a:t>
            </a:r>
          </a:p>
          <a:p>
            <a:r>
              <a:t>No todos nacen igual</a:t>
            </a:r>
          </a:p>
          <a:p>
            <a:r>
              <a:t>3 vías principales</a:t>
            </a:r>
          </a:p>
          <a:p>
            <a:r>
              <a:t>→ qué hay dentro típicamente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vías, numeradas, cada una con distinta fiabilidad</a:t>
            </a:r>
          </a:p>
          <a:p>
            <a:r>
              <a:t>Insider: LockBit 2022, developer vs. liderazgo del grupo</a:t>
            </a:r>
          </a:p>
          <a:p>
            <a:r>
              <a:t>Redistribución = mercado de pago, no reparto altruista</a:t>
            </a:r>
          </a:p>
          <a:p>
            <a:r>
              <a:t>→ sigue: qué hay dentro de un leak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Gestionar expectativas: mayoría = dumps SQL, tedioso</a:t>
            </a:r>
          </a:p>
          <a:p>
            <a:r>
              <a:t>Chat logs internos = material más valioso</a:t>
            </a:r>
          </a:p>
          <a:p>
            <a:r>
              <a:t>Source code/configs: minoritario, potente</a:t>
            </a:r>
          </a:p>
          <a:p>
            <a:r>
              <a:t>→ pregunta flotando: ¿qué aporta valor?</a:t>
            </a:r>
          </a:p>
          <a:p>
            <a:r>
              <a:t>→ sigue: tabla de prioridades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Guía práctica, no dogma — hay excepciones</a:t>
            </a:r>
          </a:p>
          <a:p>
            <a:r>
              <a:t>S: revela comportamiento, rol, con quién habla, conflictos</a:t>
            </a:r>
          </a:p>
          <a:p>
            <a:r>
              <a:t>Idea clave charla: 1 post bien situado &gt; 10k líneas relleno</a:t>
            </a:r>
          </a:p>
          <a:p>
            <a:r>
              <a:t>→ calidad sobre volumen</a:t>
            </a:r>
          </a:p>
          <a:p>
            <a:r>
              <a:t>→ sigue: sección formatos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vimos origen y tipos</a:t>
            </a:r>
          </a:p>
          <a:p>
            <a:r>
              <a:t>Ahora: formato técnico real</a:t>
            </a:r>
          </a:p>
          <a:p>
            <a:r>
              <a:t>Parte menos glamurosa, más determinante</a:t>
            </a:r>
          </a:p>
          <a:p>
            <a:r>
              <a:t>→ casi nunca llega limpio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Encoding lo decide el admin, no el motor — cp1251 es cosa de NUESTROS casos (origen ruso), no regla de vBulletin</a:t>
            </a:r>
          </a:p>
          <a:p>
            <a:r>
              <a:t>IPS: prefijo variable, detectar versión antes de asumir schema</a:t>
            </a:r>
          </a:p>
          <a:p>
            <a:r>
              <a:t>MyBB: prefijo distinto por instalación</a:t>
            </a:r>
          </a:p>
          <a:p>
            <a:r>
              <a:t>Un parser por formato en src/parsers/ — auto-detectar antes de elegir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Ojo: esta tabla es coste técnico, no valor investigativo</a:t>
            </a:r>
          </a:p>
          <a:p>
            <a:r>
              <a:t>No confundir con tier list anterior (tier D aquí ≠ tier D allí)</a:t>
            </a:r>
          </a:p>
          <a:p>
            <a:r>
              <a:t>En los casos prácticos verán ambas dimensiones combinadas de formas distintas</a:t>
            </a:r>
          </a:p>
          <a:p>
            <a:r>
              <a:t>→ sigue: el parser como primera línea de análisis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Anécdota: parser mal calibrado descarta millones, sin warning</a:t>
            </a:r>
          </a:p>
          <a:p>
            <a:r>
              <a:t>Estrategia: auto-detección versión + validación cruzada metadatos</a:t>
            </a:r>
          </a:p>
          <a:p>
            <a:r>
              <a:t>cp1251 mal leído como UTF-8 → corrupción silenciosa</a:t>
            </a:r>
          </a:p>
          <a:p>
            <a:r>
              <a:t>Primero identificar estructura (tablas/campos), luego limpiar</a:t>
            </a:r>
          </a:p>
          <a:p>
            <a:r>
              <a:t>→ sigue: ecosistema como 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vimos origen y formato</a:t>
            </a:r>
          </a:p>
          <a:p>
            <a:r>
              <a:t>Cierre de bloque: zoom hacia afuera</a:t>
            </a:r>
          </a:p>
          <a:p>
            <a:r>
              <a:t>→ ecosistema como red</a:t>
            </a:r>
          </a:p>
          <a:p>
            <a:r>
              <a:t>→ distribuidores también víctimas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Dato que más sorprende a novatos</a:t>
            </a:r>
          </a:p>
          <a:p>
            <a:r>
              <a:t>RaidForums → seized Europol 2022 → su propia BD filtrada</a:t>
            </a:r>
          </a:p>
          <a:p>
            <a:r>
              <a:t>BreachForums: incorporó BD de RaidForums, preservó rangos de usuarios antiguos como gancho de migración</a:t>
            </a:r>
          </a:p>
          <a:p>
            <a:r>
              <a:t>Seized dos veces más (2023, 2024)</a:t>
            </a:r>
          </a:p>
          <a:p>
            <a:r>
              <a:t>→ monitorizar de forma pasiva, no hace falta operar dentro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mezclar dos tipos de valor</a:t>
            </a:r>
          </a:p>
          <a:p>
            <a:r>
              <a:t>Izquierda: táctico, caduca rápido, explotar ya</a:t>
            </a:r>
          </a:p>
          <a:p>
            <a:r>
              <a:t>Derecha: inteligencia largo plazo, dura meses/años</a:t>
            </a:r>
          </a:p>
          <a:p>
            <a:r>
              <a:t>Ojo: no siempre hay de todo — un dump viejo sin actividad reciente deja las IPs sin valor</a:t>
            </a:r>
          </a:p>
          <a:p>
            <a:r>
              <a:t>→ fin bloque 0, pasamos a práctica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t>El ecosistema de leaks</a:t>
            </a:r>
          </a:p>
          <a:p>
            <a:r>
              <a:rPr sz="1800">
                <a:solidFill>
                  <a:srgbClr val="D6DAE2"/>
                </a:solidFill>
                <a:latin typeface="Arial"/>
              </a:rPr>
              <a:t>De dónde vienen los datos y qué encontramos</a:t>
            </a:r>
          </a:p>
          <a:p>
            <a:r>
              <a:rPr sz="1200" b="1">
                <a:solidFill>
                  <a:srgbClr val="9AA3B5"/>
                </a:solidFill>
                <a:latin typeface="Arial"/>
              </a:rPr>
              <a:t>CSBC26 · Bloque 0 · 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1</a:t>
            </a:r>
          </a:p>
          <a:p>
            <a:pPr algn="ctr"/>
            <a:r>
              <a:t>De dónde vienen los datos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Tres vías principales de filtración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¿Cómo llega un leak al espacio público?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1. Hackeo directo: explotación de una vulnerabilidad en el servidor del foro</a:t>
            </a:r>
          </a:p>
          <a:p>
            <a:r>
              <a:t>2. Filtración interna: alguien con acceso privilegiado saca los datos — ej. el builder de LockBit 3.0 (2022), filtrado por un desarrollador descontento con el liderazgo del grupo</a:t>
            </a:r>
          </a:p>
          <a:p>
            <a:r>
              <a:t>3. Repositorios de redistribución: mercados de pago donde se compra y vende acceso a leaks ya en circulación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Una vez en circulación: Telegram especializado, foros underground, paste sites, dark web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El mismo ecosistema que genera los datos también los redistribuye — y a su vez es brecheado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¿Qué encontramos en un leak?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Dumps de bases de datos: el grueso del material — usuarios, posts, IPs, emails, fechas</a:t>
            </a:r>
          </a:p>
          <a:p>
            <a:r>
              <a:t>Logs de chat internos: comunicaciones sin filtro entre operadores (el material más valioso)</a:t>
            </a:r>
          </a:p>
          <a:p>
            <a:r>
              <a:t>Flat files de credenciales: útiles para pivoting, pobres en contexto</a:t>
            </a:r>
          </a:p>
          <a:p>
            <a:r>
              <a:t>Source code filtrado: paneles de administración, herramientas de ataque</a:t>
            </a:r>
          </a:p>
          <a:p>
            <a:r>
              <a:t>Configuraciones de infraestructura: IPs, dominios, credenciales de servicios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Tier list — utilidad para investigación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2286000"/>
          <a:ext cx="100584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4617720"/>
                <a:gridCol w="461772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Tier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Tipo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Por qué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 marL="45000" marR="45000" marT="25000" marB="25000" anchor="ctr">
                    <a:solidFill>
                      <a:srgbClr val="F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Chat logs internos</a:t>
                      </a:r>
                    </a:p>
                  </a:txBody>
                  <a:tcPr marL="45000" marR="45000" marT="25000" marB="25000" anchor="ctr">
                    <a:solidFill>
                      <a:srgbClr val="F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Sin filtro entre operadores: revela cómo se comporta cada usuario, qué rol cumple, con quién habla, qué conflictos hay</a:t>
                      </a:r>
                    </a:p>
                  </a:txBody>
                  <a:tcPr marL="45000" marR="45000" marT="25000" marB="25000" anchor="ctr">
                    <a:solidFill>
                      <a:srgbClr val="FF7F7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45000" marR="45000" marT="25000" marB="25000" anchor="ctr">
                    <a:solidFill>
                      <a:srgbClr val="FFB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Dumps SQL de foros</a:t>
                      </a:r>
                    </a:p>
                  </a:txBody>
                  <a:tcPr marL="45000" marR="45000" marT="25000" marB="25000" anchor="ctr">
                    <a:solidFill>
                      <a:srgbClr val="FFB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Usuarios, posts, IPs, fechas → red, atribución, correlación cross-foro</a:t>
                      </a:r>
                    </a:p>
                  </a:txBody>
                  <a:tcPr marL="45000" marR="45000" marT="25000" marB="25000" anchor="ctr">
                    <a:solidFill>
                      <a:srgbClr val="FFBF7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45000" marR="45000" marT="25000" marB="25000" anchor="ctr">
                    <a:solidFill>
                      <a:srgbClr val="FFD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Flat files de credenciales</a:t>
                      </a:r>
                    </a:p>
                  </a:txBody>
                  <a:tcPr marL="45000" marR="45000" marT="25000" marB="25000" anchor="ctr">
                    <a:solidFill>
                      <a:srgbClr val="FFD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Útiles para pivoting, sin narrativa ni contexto</a:t>
                      </a:r>
                    </a:p>
                  </a:txBody>
                  <a:tcPr marL="45000" marR="45000" marT="25000" marB="25000" anchor="ctr">
                    <a:solidFill>
                      <a:srgbClr val="FFDF7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45000" marR="45000" marT="25000" marB="25000" anchor="ctr">
                    <a:solidFill>
                      <a:srgbClr val="FFF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Source code / configs</a:t>
                      </a:r>
                    </a:p>
                  </a:txBody>
                  <a:tcPr marL="45000" marR="45000" marT="25000" marB="25000" anchor="ctr">
                    <a:solidFill>
                      <a:srgbClr val="FFF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Muy específicos, requieren expertise técnico profundo</a:t>
                      </a:r>
                    </a:p>
                  </a:txBody>
                  <a:tcPr marL="45000" marR="45000" marT="25000" marB="25000" anchor="ctr">
                    <a:solidFill>
                      <a:srgbClr val="FFFF7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No todos los leaks son iguales. Un post con info de acceso a infraestructura crítica vale más que 10K posts de relleno.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2</a:t>
            </a:r>
          </a:p>
          <a:p>
            <a:pPr algn="ctr"/>
            <a:r>
              <a:t>Formatos y su realidad técnica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Los datos rara vez llegan limpios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Formatos habituales en la práctica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vBulletin SQL: dominante 2000-2020 — el encoding lo elige quien administra el foro, no el software; cp1251 (cirílico) aparece porque nuestros casos son de origen ruso/euro-oriental</a:t>
            </a:r>
          </a:p>
          <a:p>
            <a:r>
              <a:t>IPS (Invision Power Suite): prefijos de tabla variables (ibf_, o ninguno), varias versiones mayores con schema distinto — hay que detectar la versión antes de asumir nombres de tabla</a:t>
            </a:r>
          </a:p>
          <a:p>
            <a:r>
              <a:t>MyBB: open source, más predecible, pero el prefijo también varía según cómo lo instaló cada administrador</a:t>
            </a:r>
          </a:p>
          <a:p>
            <a:r>
              <a:t>JSON estructurado: chat logs modernos (Telegram, Slack/Rocket.Chat) — se carga directo con pandas, pero los campos cambian entre plataformas</a:t>
            </a:r>
          </a:p>
          <a:p>
            <a:r>
              <a:t>Flat files: sin schema, delimitadores arbitrarios — hay que inferirlo a mano, dump a dump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Un parser por formato (src/parsers/: vbulletin.py, ips.py, mybb.py, flat.py) — auto-detectar versión antes de elegir uno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Tier list — facilidad técnica de procesamiento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2286000"/>
          <a:ext cx="1005840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4617720"/>
                <a:gridCol w="461772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Tier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Formato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Por qué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 marL="45000" marR="45000" marT="25000" marB="25000" anchor="ctr">
                    <a:solidFill>
                      <a:srgbClr val="F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JSON estructurado (Telegram, chat logs)</a:t>
                      </a:r>
                    </a:p>
                  </a:txBody>
                  <a:tcPr marL="45000" marR="45000" marT="25000" marB="25000" anchor="ctr">
                    <a:solidFill>
                      <a:srgbClr val="F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Schema conocido, parseable directamente, encoding limpio</a:t>
                      </a:r>
                    </a:p>
                  </a:txBody>
                  <a:tcPr marL="45000" marR="45000" marT="25000" marB="25000" anchor="ctr">
                    <a:solidFill>
                      <a:srgbClr val="FF7F7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45000" marR="45000" marT="25000" marB="25000" anchor="ctr">
                    <a:solidFill>
                      <a:srgbClr val="FFB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vBulletin / IPS estándar</a:t>
                      </a:r>
                    </a:p>
                  </a:txBody>
                  <a:tcPr marL="45000" marR="45000" marT="25000" marB="25000" anchor="ctr">
                    <a:solidFill>
                      <a:srgbClr val="FFB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Schema documentado, hay parsers, columnas predecibles</a:t>
                      </a:r>
                    </a:p>
                  </a:txBody>
                  <a:tcPr marL="45000" marR="45000" marT="25000" marB="25000" anchor="ctr">
                    <a:solidFill>
                      <a:srgbClr val="FFBF7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45000" marR="45000" marT="25000" marB="25000" anchor="ctr">
                    <a:solidFill>
                      <a:srgbClr val="FFD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vBulletin / IPS con variantes</a:t>
                      </a:r>
                    </a:p>
                  </a:txBody>
                  <a:tcPr marL="45000" marR="45000" marT="25000" marB="25000" anchor="ctr">
                    <a:solidFill>
                      <a:srgbClr val="FFD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Requiere detección automática de versión y prefijo</a:t>
                      </a:r>
                    </a:p>
                  </a:txBody>
                  <a:tcPr marL="45000" marR="45000" marT="25000" marB="25000" anchor="ctr">
                    <a:solidFill>
                      <a:srgbClr val="FFDF7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45000" marR="45000" marT="25000" marB="25000" anchor="ctr">
                    <a:solidFill>
                      <a:srgbClr val="FFF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Flat files delimitados</a:t>
                      </a:r>
                    </a:p>
                  </a:txBody>
                  <a:tcPr marL="45000" marR="45000" marT="25000" marB="25000" anchor="ctr">
                    <a:solidFill>
                      <a:srgbClr val="FFF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Hay que inferir el schema caso a caso — cada dump es diferente</a:t>
                      </a:r>
                    </a:p>
                  </a:txBody>
                  <a:tcPr marL="45000" marR="45000" marT="25000" marB="25000" anchor="ctr">
                    <a:solidFill>
                      <a:srgbClr val="FFFF7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45000" marR="45000" marT="25000" marB="25000" anchor="ctr">
                    <a:solidFill>
                      <a:srgbClr val="BFF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Dumps custom / propietarios</a:t>
                      </a:r>
                    </a:p>
                  </a:txBody>
                  <a:tcPr marL="45000" marR="45000" marT="25000" marB="25000" anchor="ctr">
                    <a:solidFill>
                      <a:srgbClr val="BFF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Sin documentación, requieren ingeniería inversa del schema</a:t>
                      </a:r>
                    </a:p>
                  </a:txBody>
                  <a:tcPr marL="45000" marR="45000" marT="25000" marB="25000" anchor="ctr">
                    <a:solidFill>
                      <a:srgbClr val="BFFF7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Esta tabla es coste técnico, no valor investigativo — no confundir con la tier list anterior.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El parser como primera línea de análisis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Un parser mal calibrado puede dejar fuera millones de registros sin advertencia</a:t>
            </a:r>
          </a:p>
          <a:p>
            <a:r>
              <a:t>Estrategia: auto-detección de versión + validación de recuento contra tablas de metadatos</a:t>
            </a:r>
          </a:p>
          <a:p>
            <a:r>
              <a:t>El encoding importa: cp1251 mal interpretado como UTF-8 → datos corruptos sin error visible (mojibake)</a:t>
            </a:r>
          </a:p>
          <a:p>
            <a:r>
              <a:t>Siempre verificar: ¿cuántos registros esperábamos? ¿cuántos cargamos? ¿la diferencia tiene explicación?</a:t>
            </a:r>
          </a:p>
          <a:p>
            <a:r>
              <a:t>Antes de deduplicar o limpiar vacíos, hay que identificar la estructura real del leak: qué tablas tiene, qué campos, cómo se relacionan entre sí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3</a:t>
            </a:r>
          </a:p>
          <a:p>
            <a:pPr algn="ctr"/>
            <a:r>
              <a:t>El ecosistema como red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Plataformas que se monitorizan entre sí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La paradoja del ecosistema de leaks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Los foros que distribuyen breaches son ellos mismos brecheados</a:t>
            </a:r>
          </a:p>
          <a:p>
            <a:r>
              <a:t>RaidForums distribuía leaks → fue seized por Europol en 2022 → su propia BD fue publicada</a:t>
            </a:r>
          </a:p>
          <a:p>
            <a:r>
              <a:t>BreachForums lo reemplazó incorporando las bases de datos oficiales de RaidForums y preservando rangos/roles de los usuarios antiguos como incentivo para migrar — luego fue seized en 2023 y de nuevo en 2024</a:t>
            </a:r>
          </a:p>
          <a:p>
            <a:r>
              <a:t>Los operadores migran de plataforma en plataforma — los handles persisten aunque la plataforma muera</a:t>
            </a:r>
          </a:p>
          <a:p>
            <a:r>
              <a:t>Esto crea una cadena de datos: el mismo actor puede aparecer en 5 plataformas distintas</a:t>
            </a:r>
          </a:p>
          <a:p>
            <a:r>
              <a:t>No hace falta operar dentro del ecosistema para estudiarlo: basta con monitorizar de forma pasiva los mismos canales que usan sus miembros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Dos tipos de valor analítico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23317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Valor inmediato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78892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Credenciales activas para acceso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IPs y dominios de infraestructura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Datos personales para identificación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TTPs documentados (cómo operan)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3317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Valor de inteligencia a largo plazo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78892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Patrones de comportamiento estables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Redes de confianza entre actores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Evolución de vocabulario y técnicas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Identidades cruzadas entre plataformas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07888"/>
                </a:solidFill>
                <a:latin typeface="Arial"/>
              </a:rPr>
              <a:t>ℹ  No siempre se dispone de todos estos datos — un dump de hace años sin actividad reciente hace que, por ejemplo, las IPs ya no aporten valor.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