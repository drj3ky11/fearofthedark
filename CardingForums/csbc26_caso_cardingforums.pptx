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Bienvenida al caso más grande del curso en volumen de usuarios: casi un millón de cuentas repartidas en diez dumps de foros de carding entre 2009 y 2021. La pregunta que vamos a responder no es solo 'qué hay en estos dumps', sino si podemos reconstruir quién era quién en ese mercado usando solo ingeniería de datos, análisis de redes y un LLM local, sin depender de ninguna API externa. Este caso también sirve como prueba de escala: todo lo que vimos en foros más chicos, acá tiene que sostenerse con casi un millón y medio de posts. Arrancamos por lo menos glamoroso pero más importante: los datasets y sus formatos.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tocar un solo post hay que entender qué tenemos entre manos: diez archivos que no son diez foros distintos, y no todos están en el mismo formato. Vamos a ver un dump duplicado bajo dos nombres y un archivo que no es SQL aunque el zip lo sugiera. Esta sección es la base de todo lo que viene después.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Fíjense en la columna de fechas: esto cubre doce años de actividad de carding, desde 2009 hasta 2021, y ya ahí hay una pista de que dos de estos foros van a dar problemas. Carder.pro merece mención aparte porque viene en cp1251, encoding cirílico, algo que ya vimos en otros casos del curso y que si no se detecta bien, el parser simplemente rompe o produce basura. Y ojo con las dos últimas filas, CardingMafia y Cardmafia.cc, ambas de 2021-03: parecen dos foros distintos pero en la próxima slide vamos a demostrar que no lo son. La pregunta que quiero que se hagan es: ¿cuántas veces confiamos en el nombre de un archivo sin verificar su contenido?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exactamente el tipo de cosa que un análisis apurado se pasa por alto: dos zips con nombre distinto, mismo tamaño en bytes hasta el último dígito, 175,674,160. Cuando el tamaño coincide así de exacto, la sospecha tiene que ser inmediata, y la verificación byte a byte lo confirmó: mismo INSERT INTO user, mismas 296,909 filas. Es el mismo leak subido dos veces, probablemente para inflar el catálogo de quien lo vendía o compartía. Un detalle importante para la siguiente sección: ninguno de los dos incluye tabla de posts, solo usuarios, así que ese leak no aporta texto para el análisis semántico más adelante. La lección de fondo es simple: el nombre del archivo no es una fuente de verdad, el contenido sí.</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típico error silencioso: load_forum() no tira excepción, simplemente devuelve cero filas y uno podría pensar que el foro está vacío o corrupto. La realidad es que el zip de Cardingmafia.ws no trae un dump SQL sino un único txt delimitado por dos puntos, un formato de exportación totalmente distinto. Por suerte el proyecto ya tenía un parser para ese formato exacto, solo faltaba que load_forum() lo detectara antes de asumir vBulletin por default. El resultado habla solo: casi 178 mil usuarios que se hubieran perdido si nos quedábamos con el cero filas inicial y seguíamos de largo. La moraleja para cualquier pipeline de este tipo: cero resultados no siempre significa dataset vacío, a veces significa parser equivocado.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 sabemos qué archivos tenemos y en qué formato vienen; ahora toca ponerle números al dataset completo y limpiarlo antes de confiar en él. Vamos a ver la escala real, casi un millón de usuarios, y los mismos problemas de siempre — timestamps corruptos, texto vacío, duplicados — pero a una escala que exige más cuidado, no menos.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Casi un millón de usuarios y un millón y medio de posts es una escala que obliga a repensar cómo validamos: no podemos revisar fila por fila, necesitamos reglas y filtros que se apliquen de forma sistemática. El rango temporal dice 2009 a 2016, pero remarco lo de 'con timestamps corruptos que hay que filtrar' porque ese matiz es clave, ya lo vamos a cuantificar en la próxima slide. Vale la pena notar que vBulletin domina el dataset, así que el trabajo de parseo ya hecho en foros anteriores del curso se reutiliza directamente acá. Y de nuevo aparece el tema del encoding con Carder.pro: cp1251 no se asume, se detecta, porque asumir mal el encoding rompe silenciosamente los datos de texto.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Casi el 19% de los usuarios tiene una fecha de alta inválida, ya sea epoch-0 o directamente nula, y eso no es un detalle menor, es casi uno de cada cinco registros. Esto conecta directo con lo que vimos en HackingForums: el mismo patrón de epoch-0 aparece de nuevo, lo cual sugiere que no es casualidad sino un bug o comportamiento típico de cómo estos foros exportan o migran datos. También hay que remarcar los 58,939 posts vacíos o casi vacíos, que probablemente son contenido borrado por moderación y no aporta nada al análisis semántico posterior. Al final del día, del millón y medio de posts original, descartamos un 4% antes de tocar embeddings o NER, y ese 4% descartado bien vale la pena porque evita que ruido contamine todo lo que viene después.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Vamos a la práctica: abrimos el notebook 00 y miramos primero la tabla de usuarios y posts por foro para que la escala que acabamos de mencionar se vea en números concretos, no solo en una slide. Después el timeline de registros, donde se nota a simple vista dónde aparecen los saltos raros que después vamos a atribuir a timestamps corruptos. En la sección 7 revisamos completitud de campos de contacto, que es un buen proxy de qué tan bien exportado está cada dump. Y cerramos con el notebook 01, sección 5, donde se ve el resumen de limpieza con los conteos antes y después que acabamos de repasar en la slide anterior.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los datos ya limpios podemos empezar a hacer preguntas más interesantes: quién interactúa con quién en estos foros, y si esas interacciones forman grupos identificables. Todo esto es estadística de grafos pura, nada de modelos generativos todavía, así que sirve como base sólida antes de meter LLM en la siguiente sección.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definición del grafo es simple pero la decisión de filtrar aristas de un solo thread compartido es la que realmente determina qué tan limpia queda la red: sin ese filtro, el ruido de coincidencias puntuales infla artificialmente la conectividad. Con el filtro aplicado, la componente gigante queda en 11,113 nodos, un tamaño manejable pero todavía grande para cálculos exactos. Por eso betweenness centrality se calcula por muestreo con k=500 en vez de exacto, porque el cálculo exacto en un grafo de este tamaño simplemente no termina en tiempo razonable. Vale aclarar esto en voz alta porque es una limitación técnica real, no una elección arbitraria: estamos aproximando, no midiendo con precisión perfecta.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Veintiuna comunidades es un número manejable para inspección manual, y ahí es donde aparece lo interesante: no todas las comunidades cuentan la misma historia. Una comunidad homogénea, concentrada en un solo foro, probablemente refleja un círculo cerrado propio de ese mercado específico. Pero una comunidad mixta, con usuarios de varios foros, es la que más me interesa señalar, porque sugiere que los mismos actores operan en múltiples plataformas, algo valioso para cualquier análisis de inteligencia. El TF-IDF por subforo ayuda a poner nombre a cada sección temática, y quiero remarcar que todo este análisis corre sin GPU y sin LLM: es estadística de grafos y frecuencias de términos, completamente reproducible en cualquier máquina.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Abrimos el notebook 02 y empezamos por el scatter de degree versus betweenness, que es una buena forma visual de distinguir a los nodos muy conectados de los que actúan como puentes entre grupos, no siempre son los mismos usuarios. En la sección 4 miramos la composición de comunidades por foro, que es donde se distingue a simple vista cuáles son homogéneas y cuáles mixtas. Cerramos con la visualización interactiva de los top-150 nodos, que ayuda a que la audiencia vea la estructura de la red en vivo en vez de solo en una tabla de números.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sí entra el LLM local en escena: vamos a convertir texto en vectores, extraer entidades de dominio y finalmente pedirle a un modelo que infiera roles de actor. Esta es la sección más ambiciosa del caso, y también la que trae más matices y limitaciones que hay que comunicar con honestidad.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primera decisión importante acá es el umbral de 10 posts mínimos para generar un embedding confiable: de casi un millón de usuarios, solo 9,550 pasan ese filtro, porque con menos texto el vector no representa nada útil, es puro ruido. También hay un límite práctico de 50 mil caracteres por usuario antes de concatenar los posts, pensado para que Ollama no se cuelgue con los pocos usuarios que escribieron miles de mensajes. Todo corre local con qwen3-embedding en 4096 dimensiones, ni un byte de texto sale hacia una API externa. Con esos vectores aplicamos UMAP y HDBSCAN para agrupar por estilo de escritura, y BERTopic en paralelo para ver qué temas dominan cada cluster — dos vistas complementarias sobre el mismo corpus.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Acá el modelo qwen2.5:14b entra a hacer un trabajo bastante más ambicioso que extraer entidades: recibe centralidad de red, cluster semántico, entidades de dominio y una muestra de posts, y con todo eso infiere un rol probable. Quiero que quede claro que esto es perfilado limitado a los 100 usuarios más activos según el propio contador del foro, una elección de alcance, no un análisis exhaustivo de todo el dataset. Las categorías de rol van desde vendedor de dumps hasta simple lurker, pasando por intermediarios de escrow, que es una figura clásica en estos mercados de fraude. Y el punto que quiero remarcar antes de pasar a los números: son 30 perfiles con una confianza asociada, es decir, inferencia razonada del modelo, no un dato verificado de campo.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Miren el número que salta: 20 de 30 perfiles, dos tercios, terminan clasificados como lurker con confianza alta, entre 0.85 y 0.95. Para gente supuestamente elegida por ser los 100 usuarios más activos del foro, encontrar que la mayoría queda etiquetada como lurker es, como mínimo, contraintuitivo. ¿No debería un usuario 'top' por definición ser todo menos un lurker? Esa contradicción es justamente el gancho para la próxima slide, donde vamos a explicar por qué pasa esto, y no es un error del LLM, es un problema de los datos que le dimos de entrada.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Acá está la respuesta a la pregunta que dejamos abierta: el campo posts de la tabla user de vBulletin es un contador que el propio foro mantiene, no un recuento verificado contra la tabla post real que nosotros limpiamos. El resultado es que varios de esos 'top 100 más activos' aparecen en nuestro corpus limpio con cero posts extraídos, probablemente porque sus mensajes originales se perdieron, fueron borrados por moderación o el contador simplemente quedó desactualizado. El LLM no tiene forma de saber eso, así que clasifica como lurker con alta confianza a alguien que en realidad puede haber sido muy activo en su momento, solo que nosotros no tenemos evidencia textual de eso. La lección de fondo, y esto aplica mucho más allá de este caso: cualquier contador de actividad que venga del sistema origen hay que tratarlo como sospechoso hasta que se verifique contra los datos reales, nunca como verdad absoluta.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Llegamos al cierre: repasamos todo el recorrido, del dump crudo al perfilado de actores, y sacamos las conclusiones que se pueden llevar a otros casos del curso o a trabajo futuro. La idea es dejar claro qué de esto es técnica reutilizable y qué es específico de este dataset.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 lado técnico, quiero que se lleven dos cosas: el dump duplicado y el flat file escondido son recordatorios de que la verificación de datos de entrada no es un paso opcional, es donde se evitan los errores más caros. Del lado metodológico, la idea central es que ninguna automatización reemplaza la validación: auto-detectar formato, validar rangos de fecha, deduplicar, todo eso tiene que pasar antes de calcular una sola métrica de red o mandar un post a un LLM. Y quiero remarcar el último punto de la derecha, porque es una decisión de diseño deliberada: todo este pipeline corre local, sin mandar un solo post a una API externa, algo relevante cuando estamos trabajando con datos de un mercado de fraude financiero.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la pregunta que planteo a la audiencia es: si tuvieran que elegir un solo caso del curso para mostrarle a alguien que dude de que esto escala, ¿no sería este? Casi un millón de usuarios, tres formatos distintos conviviendo en el mismo lote, y aun así el pipeline sostiene el análisis de punta a punta. Pero el mensaje más importante no es el volumen, es que la calidad de todo lo que viene después, red, embeddings, perfilado, depende enteramente de decisiones de ingeniería de datos que parecen aburridas: deduplicar, validar, detectar el formato correcto. Y el perfilado con LLM local es el ejemplo perfecto de esa tensión: funciona, genera valor, pero solo es tan bueno como los datos que le damos de entrada, ni más ni menos. Con esto cerramos el caso Carding Forums.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0"/>
            <a:ext cx="10972800" cy="1645920"/>
          </a:xfrm>
          <a:prstGeom prst="rect">
            <a:avLst/>
          </a:prstGeom>
          <a:noFill/>
        </p:spPr>
        <p:txBody>
          <a:bodyPr wrap="square">
            <a:spAutoFit/>
          </a:bodyPr>
          <a:lstStyle/>
          <a:p>
            <a:pPr algn="l"/>
            <a:r>
              <a:rPr sz="4400" b="1">
                <a:solidFill>
                  <a:srgbClr val="FFFFFF"/>
                </a:solidFill>
                <a:latin typeface="Calibri"/>
              </a:rPr>
              <a:t>Caso Carding Forums</a:t>
            </a:r>
          </a:p>
        </p:txBody>
      </p:sp>
      <p:sp>
        <p:nvSpPr>
          <p:cNvPr id="4" name="TextBox 3"/>
          <p:cNvSpPr txBox="1"/>
          <p:nvPr/>
        </p:nvSpPr>
        <p:spPr>
          <a:xfrm>
            <a:off x="548640" y="3566160"/>
            <a:ext cx="10972800" cy="914400"/>
          </a:xfrm>
          <a:prstGeom prst="rect">
            <a:avLst/>
          </a:prstGeom>
          <a:noFill/>
        </p:spPr>
        <p:txBody>
          <a:bodyPr wrap="square">
            <a:spAutoFit/>
          </a:bodyPr>
          <a:lstStyle/>
          <a:p>
            <a:pPr algn="l"/>
            <a:r>
              <a:rPr sz="2400" b="0">
                <a:solidFill>
                  <a:srgbClr val="B8C0CC"/>
                </a:solidFill>
                <a:latin typeface="Calibri"/>
              </a:rPr>
              <a:t>Del dump SQL al perfilado de actores en un mercado de fraude financiero (2009–2021)</a:t>
            </a:r>
          </a:p>
        </p:txBody>
      </p:sp>
      <p:sp>
        <p:nvSpPr>
          <p:cNvPr id="5" name="Rectangle 4"/>
          <p:cNvSpPr/>
          <p:nvPr/>
        </p:nvSpPr>
        <p:spPr>
          <a:xfrm>
            <a:off x="548640" y="4754880"/>
            <a:ext cx="3291840" cy="411480"/>
          </a:xfrm>
          <a:prstGeom prst="rect">
            <a:avLst/>
          </a:prstGeom>
          <a:solidFill>
            <a:srgbClr val="2A2A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73168"/>
            <a:ext cx="3200400" cy="365760"/>
          </a:xfrm>
          <a:prstGeom prst="rect">
            <a:avLst/>
          </a:prstGeom>
          <a:noFill/>
        </p:spPr>
        <p:txBody>
          <a:bodyPr wrap="square">
            <a:spAutoFit/>
          </a:bodyPr>
          <a:lstStyle/>
          <a:p>
            <a:pPr algn="l"/>
            <a:r>
              <a:rPr sz="1400" b="0">
                <a:solidFill>
                  <a:srgbClr val="606878"/>
                </a:solidFill>
                <a:latin typeface="Calibri"/>
              </a:rPr>
              <a:t>CSBC26 · Análisis de Leaks Underground</a:t>
            </a:r>
          </a:p>
        </p:txBody>
      </p:sp>
      <p:sp>
        <p:nvSpPr>
          <p:cNvPr id="7" name="Rectangle 6"/>
          <p:cNvSpPr/>
          <p:nvPr/>
        </p:nvSpPr>
        <p:spPr>
          <a:xfrm>
            <a:off x="548640" y="6309360"/>
            <a:ext cx="10515600" cy="4572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1</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Datasets y formatos</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Diez archivos, tres formatos, un duplicado escondido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Los foros evaluados</a:t>
            </a:r>
          </a:p>
        </p:txBody>
      </p:sp>
      <p:sp>
        <p:nvSpPr>
          <p:cNvPr id="4" name="Rectangle 3"/>
          <p:cNvSpPr/>
          <p:nvPr/>
        </p:nvSpPr>
        <p:spPr>
          <a:xfrm>
            <a:off x="548640" y="1325880"/>
            <a:ext cx="10515600" cy="43891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385880"/>
            <a:ext cx="2537460" cy="438912"/>
          </a:xfrm>
          <a:prstGeom prst="rect">
            <a:avLst/>
          </a:prstGeom>
          <a:noFill/>
        </p:spPr>
        <p:txBody>
          <a:bodyPr wrap="square">
            <a:spAutoFit/>
          </a:bodyPr>
          <a:lstStyle/>
          <a:p>
            <a:pPr algn="l"/>
            <a:r>
              <a:rPr sz="1400" b="1">
                <a:solidFill>
                  <a:srgbClr val="FFFFFF"/>
                </a:solidFill>
                <a:latin typeface="Calibri"/>
              </a:rPr>
              <a:t>Foro</a:t>
            </a:r>
          </a:p>
        </p:txBody>
      </p:sp>
      <p:sp>
        <p:nvSpPr>
          <p:cNvPr id="6" name="TextBox 5"/>
          <p:cNvSpPr txBox="1"/>
          <p:nvPr/>
        </p:nvSpPr>
        <p:spPr>
          <a:xfrm>
            <a:off x="3223260" y="1385880"/>
            <a:ext cx="2537460" cy="438912"/>
          </a:xfrm>
          <a:prstGeom prst="rect">
            <a:avLst/>
          </a:prstGeom>
          <a:noFill/>
        </p:spPr>
        <p:txBody>
          <a:bodyPr wrap="square">
            <a:spAutoFit/>
          </a:bodyPr>
          <a:lstStyle/>
          <a:p>
            <a:pPr algn="l"/>
            <a:r>
              <a:rPr sz="1400" b="1">
                <a:solidFill>
                  <a:srgbClr val="FFFFFF"/>
                </a:solidFill>
                <a:latin typeface="Calibri"/>
              </a:rPr>
              <a:t>Fecha del dump</a:t>
            </a:r>
          </a:p>
        </p:txBody>
      </p:sp>
      <p:sp>
        <p:nvSpPr>
          <p:cNvPr id="7" name="TextBox 6"/>
          <p:cNvSpPr txBox="1"/>
          <p:nvPr/>
        </p:nvSpPr>
        <p:spPr>
          <a:xfrm>
            <a:off x="5852160" y="1385880"/>
            <a:ext cx="2537460" cy="438912"/>
          </a:xfrm>
          <a:prstGeom prst="rect">
            <a:avLst/>
          </a:prstGeom>
          <a:noFill/>
        </p:spPr>
        <p:txBody>
          <a:bodyPr wrap="square">
            <a:spAutoFit/>
          </a:bodyPr>
          <a:lstStyle/>
          <a:p>
            <a:pPr algn="l"/>
            <a:r>
              <a:rPr sz="1400" b="1">
                <a:solidFill>
                  <a:srgbClr val="FFFFFF"/>
                </a:solidFill>
                <a:latin typeface="Calibri"/>
              </a:rPr>
              <a:t>Formato</a:t>
            </a:r>
          </a:p>
        </p:txBody>
      </p:sp>
      <p:sp>
        <p:nvSpPr>
          <p:cNvPr id="8" name="TextBox 7"/>
          <p:cNvSpPr txBox="1"/>
          <p:nvPr/>
        </p:nvSpPr>
        <p:spPr>
          <a:xfrm>
            <a:off x="8481060" y="1385880"/>
            <a:ext cx="2537460" cy="438912"/>
          </a:xfrm>
          <a:prstGeom prst="rect">
            <a:avLst/>
          </a:prstGeom>
          <a:noFill/>
        </p:spPr>
        <p:txBody>
          <a:bodyPr wrap="square">
            <a:spAutoFit/>
          </a:bodyPr>
          <a:lstStyle/>
          <a:p>
            <a:pPr algn="l"/>
            <a:r>
              <a:rPr sz="1400" b="1">
                <a:solidFill>
                  <a:srgbClr val="FFFFFF"/>
                </a:solidFill>
                <a:latin typeface="Calibri"/>
              </a:rPr>
              <a:t>Notas</a:t>
            </a:r>
          </a:p>
        </p:txBody>
      </p:sp>
      <p:sp>
        <p:nvSpPr>
          <p:cNvPr id="9" name="Rectangle 8"/>
          <p:cNvSpPr/>
          <p:nvPr/>
        </p:nvSpPr>
        <p:spPr>
          <a:xfrm>
            <a:off x="548640" y="1764792"/>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814792"/>
            <a:ext cx="2537460" cy="438912"/>
          </a:xfrm>
          <a:prstGeom prst="rect">
            <a:avLst/>
          </a:prstGeom>
          <a:noFill/>
        </p:spPr>
        <p:txBody>
          <a:bodyPr wrap="square">
            <a:spAutoFit/>
          </a:bodyPr>
          <a:lstStyle/>
          <a:p>
            <a:pPr algn="l"/>
            <a:r>
              <a:rPr sz="1300" b="0">
                <a:solidFill>
                  <a:srgbClr val="B8C0CC"/>
                </a:solidFill>
                <a:latin typeface="Calibri"/>
              </a:rPr>
              <a:t>Carder.su</a:t>
            </a:r>
          </a:p>
        </p:txBody>
      </p:sp>
      <p:sp>
        <p:nvSpPr>
          <p:cNvPr id="11" name="TextBox 10"/>
          <p:cNvSpPr txBox="1"/>
          <p:nvPr/>
        </p:nvSpPr>
        <p:spPr>
          <a:xfrm>
            <a:off x="3223260" y="1814792"/>
            <a:ext cx="2537460" cy="438912"/>
          </a:xfrm>
          <a:prstGeom prst="rect">
            <a:avLst/>
          </a:prstGeom>
          <a:noFill/>
        </p:spPr>
        <p:txBody>
          <a:bodyPr wrap="square">
            <a:spAutoFit/>
          </a:bodyPr>
          <a:lstStyle/>
          <a:p>
            <a:pPr algn="l"/>
            <a:r>
              <a:rPr sz="1300" b="0">
                <a:solidFill>
                  <a:srgbClr val="B8C0CC"/>
                </a:solidFill>
                <a:latin typeface="Calibri"/>
              </a:rPr>
              <a:t>2009-02</a:t>
            </a:r>
          </a:p>
        </p:txBody>
      </p:sp>
      <p:sp>
        <p:nvSpPr>
          <p:cNvPr id="12" name="TextBox 11"/>
          <p:cNvSpPr txBox="1"/>
          <p:nvPr/>
        </p:nvSpPr>
        <p:spPr>
          <a:xfrm>
            <a:off x="5852160" y="1814792"/>
            <a:ext cx="2537460" cy="438912"/>
          </a:xfrm>
          <a:prstGeom prst="rect">
            <a:avLst/>
          </a:prstGeom>
          <a:noFill/>
        </p:spPr>
        <p:txBody>
          <a:bodyPr wrap="square">
            <a:spAutoFit/>
          </a:bodyPr>
          <a:lstStyle/>
          <a:p>
            <a:pPr algn="l"/>
            <a:r>
              <a:rPr sz="1300" b="0">
                <a:solidFill>
                  <a:srgbClr val="B8C0CC"/>
                </a:solidFill>
                <a:latin typeface="Calibri"/>
              </a:rPr>
              <a:t>vBulletin SQL</a:t>
            </a:r>
          </a:p>
        </p:txBody>
      </p:sp>
      <p:sp>
        <p:nvSpPr>
          <p:cNvPr id="13" name="TextBox 12"/>
          <p:cNvSpPr txBox="1"/>
          <p:nvPr/>
        </p:nvSpPr>
        <p:spPr>
          <a:xfrm>
            <a:off x="8481060" y="1814792"/>
            <a:ext cx="2537460" cy="438912"/>
          </a:xfrm>
          <a:prstGeom prst="rect">
            <a:avLst/>
          </a:prstGeom>
          <a:noFill/>
        </p:spPr>
        <p:txBody>
          <a:bodyPr wrap="square">
            <a:spAutoFit/>
          </a:bodyPr>
          <a:lstStyle/>
          <a:p>
            <a:pPr algn="l"/>
            <a:r>
              <a:rPr sz="1300" b="0">
                <a:solidFill>
                  <a:srgbClr val="B8C0CC"/>
                </a:solidFill>
                <a:latin typeface="Calibri"/>
              </a:rPr>
              <a:t>Uno de los primeros foros importantes</a:t>
            </a:r>
          </a:p>
        </p:txBody>
      </p:sp>
      <p:sp>
        <p:nvSpPr>
          <p:cNvPr id="14" name="Rectangle 13"/>
          <p:cNvSpPr/>
          <p:nvPr/>
        </p:nvSpPr>
        <p:spPr>
          <a:xfrm>
            <a:off x="548640" y="2203704"/>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253704"/>
            <a:ext cx="2537460" cy="438912"/>
          </a:xfrm>
          <a:prstGeom prst="rect">
            <a:avLst/>
          </a:prstGeom>
          <a:noFill/>
        </p:spPr>
        <p:txBody>
          <a:bodyPr wrap="square">
            <a:spAutoFit/>
          </a:bodyPr>
          <a:lstStyle/>
          <a:p>
            <a:pPr algn="l"/>
            <a:r>
              <a:rPr sz="1300" b="0">
                <a:solidFill>
                  <a:srgbClr val="B8C0CC"/>
                </a:solidFill>
                <a:latin typeface="Calibri"/>
              </a:rPr>
              <a:t>Carding.biz</a:t>
            </a:r>
          </a:p>
        </p:txBody>
      </p:sp>
      <p:sp>
        <p:nvSpPr>
          <p:cNvPr id="16" name="TextBox 15"/>
          <p:cNvSpPr txBox="1"/>
          <p:nvPr/>
        </p:nvSpPr>
        <p:spPr>
          <a:xfrm>
            <a:off x="3223260" y="2253704"/>
            <a:ext cx="2537460" cy="438912"/>
          </a:xfrm>
          <a:prstGeom prst="rect">
            <a:avLst/>
          </a:prstGeom>
          <a:noFill/>
        </p:spPr>
        <p:txBody>
          <a:bodyPr wrap="square">
            <a:spAutoFit/>
          </a:bodyPr>
          <a:lstStyle/>
          <a:p>
            <a:pPr algn="l"/>
            <a:r>
              <a:rPr sz="1300" b="0">
                <a:solidFill>
                  <a:srgbClr val="B8C0CC"/>
                </a:solidFill>
                <a:latin typeface="Calibri"/>
              </a:rPr>
              <a:t>2009-11</a:t>
            </a:r>
          </a:p>
        </p:txBody>
      </p:sp>
      <p:sp>
        <p:nvSpPr>
          <p:cNvPr id="17" name="TextBox 16"/>
          <p:cNvSpPr txBox="1"/>
          <p:nvPr/>
        </p:nvSpPr>
        <p:spPr>
          <a:xfrm>
            <a:off x="5852160" y="2253704"/>
            <a:ext cx="2537460" cy="438912"/>
          </a:xfrm>
          <a:prstGeom prst="rect">
            <a:avLst/>
          </a:prstGeom>
          <a:noFill/>
        </p:spPr>
        <p:txBody>
          <a:bodyPr wrap="square">
            <a:spAutoFit/>
          </a:bodyPr>
          <a:lstStyle/>
          <a:p>
            <a:pPr algn="l"/>
            <a:r>
              <a:rPr sz="1300" b="0">
                <a:solidFill>
                  <a:srgbClr val="B8C0CC"/>
                </a:solidFill>
                <a:latin typeface="Calibri"/>
              </a:rPr>
              <a:t>vBulletin SQL</a:t>
            </a:r>
          </a:p>
        </p:txBody>
      </p:sp>
      <p:sp>
        <p:nvSpPr>
          <p:cNvPr id="18" name="TextBox 17"/>
          <p:cNvSpPr txBox="1"/>
          <p:nvPr/>
        </p:nvSpPr>
        <p:spPr>
          <a:xfrm>
            <a:off x="8481060" y="2253704"/>
            <a:ext cx="2537460" cy="438912"/>
          </a:xfrm>
          <a:prstGeom prst="rect">
            <a:avLst/>
          </a:prstGeom>
          <a:noFill/>
        </p:spPr>
        <p:txBody>
          <a:bodyPr wrap="square">
            <a:spAutoFit/>
          </a:bodyPr>
          <a:lstStyle/>
          <a:p>
            <a:pPr algn="l"/>
            <a:r>
              <a:rPr sz="1300" b="0">
                <a:solidFill>
                  <a:srgbClr val="B8C0CC"/>
                </a:solidFill>
                <a:latin typeface="Calibri"/>
              </a:rPr>
              <a:t/>
            </a:r>
          </a:p>
        </p:txBody>
      </p:sp>
      <p:sp>
        <p:nvSpPr>
          <p:cNvPr id="19" name="Rectangle 18"/>
          <p:cNvSpPr/>
          <p:nvPr/>
        </p:nvSpPr>
        <p:spPr>
          <a:xfrm>
            <a:off x="548640" y="2642616"/>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2692616"/>
            <a:ext cx="2537460" cy="438912"/>
          </a:xfrm>
          <a:prstGeom prst="rect">
            <a:avLst/>
          </a:prstGeom>
          <a:noFill/>
        </p:spPr>
        <p:txBody>
          <a:bodyPr wrap="square">
            <a:spAutoFit/>
          </a:bodyPr>
          <a:lstStyle/>
          <a:p>
            <a:pPr algn="l"/>
            <a:r>
              <a:rPr sz="1300" b="0">
                <a:solidFill>
                  <a:srgbClr val="B8C0CC"/>
                </a:solidFill>
                <a:latin typeface="Calibri"/>
              </a:rPr>
              <a:t>Cardersplanet.biz</a:t>
            </a:r>
          </a:p>
        </p:txBody>
      </p:sp>
      <p:sp>
        <p:nvSpPr>
          <p:cNvPr id="21" name="TextBox 20"/>
          <p:cNvSpPr txBox="1"/>
          <p:nvPr/>
        </p:nvSpPr>
        <p:spPr>
          <a:xfrm>
            <a:off x="3223260" y="2692616"/>
            <a:ext cx="2537460" cy="438912"/>
          </a:xfrm>
          <a:prstGeom prst="rect">
            <a:avLst/>
          </a:prstGeom>
          <a:noFill/>
        </p:spPr>
        <p:txBody>
          <a:bodyPr wrap="square">
            <a:spAutoFit/>
          </a:bodyPr>
          <a:lstStyle/>
          <a:p>
            <a:pPr algn="l"/>
            <a:r>
              <a:rPr sz="1300" b="0">
                <a:solidFill>
                  <a:srgbClr val="B8C0CC"/>
                </a:solidFill>
                <a:latin typeface="Calibri"/>
              </a:rPr>
              <a:t>2010-05</a:t>
            </a:r>
          </a:p>
        </p:txBody>
      </p:sp>
      <p:sp>
        <p:nvSpPr>
          <p:cNvPr id="22" name="TextBox 21"/>
          <p:cNvSpPr txBox="1"/>
          <p:nvPr/>
        </p:nvSpPr>
        <p:spPr>
          <a:xfrm>
            <a:off x="5852160" y="2692616"/>
            <a:ext cx="2537460" cy="438912"/>
          </a:xfrm>
          <a:prstGeom prst="rect">
            <a:avLst/>
          </a:prstGeom>
          <a:noFill/>
        </p:spPr>
        <p:txBody>
          <a:bodyPr wrap="square">
            <a:spAutoFit/>
          </a:bodyPr>
          <a:lstStyle/>
          <a:p>
            <a:pPr algn="l"/>
            <a:r>
              <a:rPr sz="1300" b="0">
                <a:solidFill>
                  <a:srgbClr val="B8C0CC"/>
                </a:solidFill>
                <a:latin typeface="Calibri"/>
              </a:rPr>
              <a:t>vBulletin SQL</a:t>
            </a:r>
          </a:p>
        </p:txBody>
      </p:sp>
      <p:sp>
        <p:nvSpPr>
          <p:cNvPr id="23" name="TextBox 22"/>
          <p:cNvSpPr txBox="1"/>
          <p:nvPr/>
        </p:nvSpPr>
        <p:spPr>
          <a:xfrm>
            <a:off x="8481060" y="2692616"/>
            <a:ext cx="2537460" cy="438912"/>
          </a:xfrm>
          <a:prstGeom prst="rect">
            <a:avLst/>
          </a:prstGeom>
          <a:noFill/>
        </p:spPr>
        <p:txBody>
          <a:bodyPr wrap="square">
            <a:spAutoFit/>
          </a:bodyPr>
          <a:lstStyle/>
          <a:p>
            <a:pPr algn="l"/>
            <a:r>
              <a:rPr sz="1300" b="0">
                <a:solidFill>
                  <a:srgbClr val="B8C0CC"/>
                </a:solidFill>
                <a:latin typeface="Calibri"/>
              </a:rPr>
              <a:t/>
            </a:r>
          </a:p>
        </p:txBody>
      </p:sp>
      <p:sp>
        <p:nvSpPr>
          <p:cNvPr id="24" name="Rectangle 23"/>
          <p:cNvSpPr/>
          <p:nvPr/>
        </p:nvSpPr>
        <p:spPr>
          <a:xfrm>
            <a:off x="548640" y="3081528"/>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3131528"/>
            <a:ext cx="2537460" cy="438912"/>
          </a:xfrm>
          <a:prstGeom prst="rect">
            <a:avLst/>
          </a:prstGeom>
          <a:noFill/>
        </p:spPr>
        <p:txBody>
          <a:bodyPr wrap="square">
            <a:spAutoFit/>
          </a:bodyPr>
          <a:lstStyle/>
          <a:p>
            <a:pPr algn="l"/>
            <a:r>
              <a:rPr sz="1300" b="0">
                <a:solidFill>
                  <a:srgbClr val="B8C0CC"/>
                </a:solidFill>
                <a:latin typeface="Calibri"/>
              </a:rPr>
              <a:t>Carders.cc</a:t>
            </a:r>
          </a:p>
        </p:txBody>
      </p:sp>
      <p:sp>
        <p:nvSpPr>
          <p:cNvPr id="26" name="TextBox 25"/>
          <p:cNvSpPr txBox="1"/>
          <p:nvPr/>
        </p:nvSpPr>
        <p:spPr>
          <a:xfrm>
            <a:off x="3223260" y="3131528"/>
            <a:ext cx="2537460" cy="438912"/>
          </a:xfrm>
          <a:prstGeom prst="rect">
            <a:avLst/>
          </a:prstGeom>
          <a:noFill/>
        </p:spPr>
        <p:txBody>
          <a:bodyPr wrap="square">
            <a:spAutoFit/>
          </a:bodyPr>
          <a:lstStyle/>
          <a:p>
            <a:pPr algn="l"/>
            <a:r>
              <a:rPr sz="1300" b="0">
                <a:solidFill>
                  <a:srgbClr val="B8C0CC"/>
                </a:solidFill>
                <a:latin typeface="Calibri"/>
              </a:rPr>
              <a:t>2010-12</a:t>
            </a:r>
          </a:p>
        </p:txBody>
      </p:sp>
      <p:sp>
        <p:nvSpPr>
          <p:cNvPr id="27" name="TextBox 26"/>
          <p:cNvSpPr txBox="1"/>
          <p:nvPr/>
        </p:nvSpPr>
        <p:spPr>
          <a:xfrm>
            <a:off x="5852160" y="3131528"/>
            <a:ext cx="2537460" cy="438912"/>
          </a:xfrm>
          <a:prstGeom prst="rect">
            <a:avLst/>
          </a:prstGeom>
          <a:noFill/>
        </p:spPr>
        <p:txBody>
          <a:bodyPr wrap="square">
            <a:spAutoFit/>
          </a:bodyPr>
          <a:lstStyle/>
          <a:p>
            <a:pPr algn="l"/>
            <a:r>
              <a:rPr sz="1300" b="0">
                <a:solidFill>
                  <a:srgbClr val="B8C0CC"/>
                </a:solidFill>
                <a:latin typeface="Calibri"/>
              </a:rPr>
              <a:t>vBulletin SQL</a:t>
            </a:r>
          </a:p>
        </p:txBody>
      </p:sp>
      <p:sp>
        <p:nvSpPr>
          <p:cNvPr id="28" name="TextBox 27"/>
          <p:cNvSpPr txBox="1"/>
          <p:nvPr/>
        </p:nvSpPr>
        <p:spPr>
          <a:xfrm>
            <a:off x="8481060" y="3131528"/>
            <a:ext cx="2537460" cy="438912"/>
          </a:xfrm>
          <a:prstGeom prst="rect">
            <a:avLst/>
          </a:prstGeom>
          <a:noFill/>
        </p:spPr>
        <p:txBody>
          <a:bodyPr wrap="square">
            <a:spAutoFit/>
          </a:bodyPr>
          <a:lstStyle/>
          <a:p>
            <a:pPr algn="l"/>
            <a:r>
              <a:rPr sz="1300" b="0">
                <a:solidFill>
                  <a:srgbClr val="B8C0CC"/>
                </a:solidFill>
                <a:latin typeface="Calibri"/>
              </a:rPr>
              <a:t/>
            </a:r>
          </a:p>
        </p:txBody>
      </p:sp>
      <p:sp>
        <p:nvSpPr>
          <p:cNvPr id="29" name="Rectangle 28"/>
          <p:cNvSpPr/>
          <p:nvPr/>
        </p:nvSpPr>
        <p:spPr>
          <a:xfrm>
            <a:off x="548640" y="3520440"/>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3570440"/>
            <a:ext cx="2537460" cy="438912"/>
          </a:xfrm>
          <a:prstGeom prst="rect">
            <a:avLst/>
          </a:prstGeom>
          <a:noFill/>
        </p:spPr>
        <p:txBody>
          <a:bodyPr wrap="square">
            <a:spAutoFit/>
          </a:bodyPr>
          <a:lstStyle/>
          <a:p>
            <a:pPr algn="l"/>
            <a:r>
              <a:rPr sz="1300" b="0">
                <a:solidFill>
                  <a:srgbClr val="B8C0CC"/>
                </a:solidFill>
                <a:latin typeface="Calibri"/>
              </a:rPr>
              <a:t>Carder.pro</a:t>
            </a:r>
          </a:p>
        </p:txBody>
      </p:sp>
      <p:sp>
        <p:nvSpPr>
          <p:cNvPr id="31" name="TextBox 30"/>
          <p:cNvSpPr txBox="1"/>
          <p:nvPr/>
        </p:nvSpPr>
        <p:spPr>
          <a:xfrm>
            <a:off x="3223260" y="3570440"/>
            <a:ext cx="2537460" cy="438912"/>
          </a:xfrm>
          <a:prstGeom prst="rect">
            <a:avLst/>
          </a:prstGeom>
          <a:noFill/>
        </p:spPr>
        <p:txBody>
          <a:bodyPr wrap="square">
            <a:spAutoFit/>
          </a:bodyPr>
          <a:lstStyle/>
          <a:p>
            <a:pPr algn="l"/>
            <a:r>
              <a:rPr sz="1300" b="0">
                <a:solidFill>
                  <a:srgbClr val="B8C0CC"/>
                </a:solidFill>
                <a:latin typeface="Calibri"/>
              </a:rPr>
              <a:t>2013-04</a:t>
            </a:r>
          </a:p>
        </p:txBody>
      </p:sp>
      <p:sp>
        <p:nvSpPr>
          <p:cNvPr id="32" name="TextBox 31"/>
          <p:cNvSpPr txBox="1"/>
          <p:nvPr/>
        </p:nvSpPr>
        <p:spPr>
          <a:xfrm>
            <a:off x="5852160" y="3570440"/>
            <a:ext cx="2537460" cy="438912"/>
          </a:xfrm>
          <a:prstGeom prst="rect">
            <a:avLst/>
          </a:prstGeom>
          <a:noFill/>
        </p:spPr>
        <p:txBody>
          <a:bodyPr wrap="square">
            <a:spAutoFit/>
          </a:bodyPr>
          <a:lstStyle/>
          <a:p>
            <a:pPr algn="l"/>
            <a:r>
              <a:rPr sz="1300" b="0">
                <a:solidFill>
                  <a:srgbClr val="B8C0CC"/>
                </a:solidFill>
                <a:latin typeface="Calibri"/>
              </a:rPr>
              <a:t>vBulletin SQL</a:t>
            </a:r>
          </a:p>
        </p:txBody>
      </p:sp>
      <p:sp>
        <p:nvSpPr>
          <p:cNvPr id="33" name="TextBox 32"/>
          <p:cNvSpPr txBox="1"/>
          <p:nvPr/>
        </p:nvSpPr>
        <p:spPr>
          <a:xfrm>
            <a:off x="8481060" y="3570440"/>
            <a:ext cx="2537460" cy="438912"/>
          </a:xfrm>
          <a:prstGeom prst="rect">
            <a:avLst/>
          </a:prstGeom>
          <a:noFill/>
        </p:spPr>
        <p:txBody>
          <a:bodyPr wrap="square">
            <a:spAutoFit/>
          </a:bodyPr>
          <a:lstStyle/>
          <a:p>
            <a:pPr algn="l"/>
            <a:r>
              <a:rPr sz="1300" b="0">
                <a:solidFill>
                  <a:srgbClr val="B8C0CC"/>
                </a:solidFill>
                <a:latin typeface="Calibri"/>
              </a:rPr>
              <a:t>Encoding cp1251 (cirílico)</a:t>
            </a:r>
          </a:p>
        </p:txBody>
      </p:sp>
      <p:sp>
        <p:nvSpPr>
          <p:cNvPr id="34" name="Rectangle 33"/>
          <p:cNvSpPr/>
          <p:nvPr/>
        </p:nvSpPr>
        <p:spPr>
          <a:xfrm>
            <a:off x="548640" y="3959352"/>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94360" y="4009352"/>
            <a:ext cx="2537460" cy="438912"/>
          </a:xfrm>
          <a:prstGeom prst="rect">
            <a:avLst/>
          </a:prstGeom>
          <a:noFill/>
        </p:spPr>
        <p:txBody>
          <a:bodyPr wrap="square">
            <a:spAutoFit/>
          </a:bodyPr>
          <a:lstStyle/>
          <a:p>
            <a:pPr algn="l"/>
            <a:r>
              <a:rPr sz="1300" b="0">
                <a:solidFill>
                  <a:srgbClr val="B8C0CC"/>
                </a:solidFill>
                <a:latin typeface="Calibri"/>
              </a:rPr>
              <a:t>Cardingmafia.ws</a:t>
            </a:r>
          </a:p>
        </p:txBody>
      </p:sp>
      <p:sp>
        <p:nvSpPr>
          <p:cNvPr id="36" name="TextBox 35"/>
          <p:cNvSpPr txBox="1"/>
          <p:nvPr/>
        </p:nvSpPr>
        <p:spPr>
          <a:xfrm>
            <a:off x="3223260" y="4009352"/>
            <a:ext cx="2537460" cy="438912"/>
          </a:xfrm>
          <a:prstGeom prst="rect">
            <a:avLst/>
          </a:prstGeom>
          <a:noFill/>
        </p:spPr>
        <p:txBody>
          <a:bodyPr wrap="square">
            <a:spAutoFit/>
          </a:bodyPr>
          <a:lstStyle/>
          <a:p>
            <a:pPr algn="l"/>
            <a:r>
              <a:rPr sz="1300" b="0">
                <a:solidFill>
                  <a:srgbClr val="B8C0CC"/>
                </a:solidFill>
                <a:latin typeface="Calibri"/>
              </a:rPr>
              <a:t>2016-02</a:t>
            </a:r>
          </a:p>
        </p:txBody>
      </p:sp>
      <p:sp>
        <p:nvSpPr>
          <p:cNvPr id="37" name="TextBox 36"/>
          <p:cNvSpPr txBox="1"/>
          <p:nvPr/>
        </p:nvSpPr>
        <p:spPr>
          <a:xfrm>
            <a:off x="5852160" y="4009352"/>
            <a:ext cx="2537460" cy="438912"/>
          </a:xfrm>
          <a:prstGeom prst="rect">
            <a:avLst/>
          </a:prstGeom>
          <a:noFill/>
        </p:spPr>
        <p:txBody>
          <a:bodyPr wrap="square">
            <a:spAutoFit/>
          </a:bodyPr>
          <a:lstStyle/>
          <a:p>
            <a:pPr algn="l"/>
            <a:r>
              <a:rPr sz="1300" b="0">
                <a:solidFill>
                  <a:srgbClr val="B8C0CC"/>
                </a:solidFill>
                <a:latin typeface="Calibri"/>
              </a:rPr>
              <a:t>Flat file</a:t>
            </a:r>
          </a:p>
        </p:txBody>
      </p:sp>
      <p:sp>
        <p:nvSpPr>
          <p:cNvPr id="38" name="TextBox 37"/>
          <p:cNvSpPr txBox="1"/>
          <p:nvPr/>
        </p:nvSpPr>
        <p:spPr>
          <a:xfrm>
            <a:off x="8481060" y="4009352"/>
            <a:ext cx="2537460" cy="438912"/>
          </a:xfrm>
          <a:prstGeom prst="rect">
            <a:avLst/>
          </a:prstGeom>
          <a:noFill/>
        </p:spPr>
        <p:txBody>
          <a:bodyPr wrap="square">
            <a:spAutoFit/>
          </a:bodyPr>
          <a:lstStyle/>
          <a:p>
            <a:pPr algn="l"/>
            <a:r>
              <a:rPr sz="1300" b="0">
                <a:solidFill>
                  <a:srgbClr val="B8C0CC"/>
                </a:solidFill>
                <a:latin typeface="Calibri"/>
              </a:rPr>
              <a:t>Colon-delimited, solo tabla user</a:t>
            </a:r>
          </a:p>
        </p:txBody>
      </p:sp>
      <p:sp>
        <p:nvSpPr>
          <p:cNvPr id="39" name="Rectangle 38"/>
          <p:cNvSpPr/>
          <p:nvPr/>
        </p:nvSpPr>
        <p:spPr>
          <a:xfrm>
            <a:off x="548640" y="4398264"/>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 y="4448264"/>
            <a:ext cx="2537460" cy="438912"/>
          </a:xfrm>
          <a:prstGeom prst="rect">
            <a:avLst/>
          </a:prstGeom>
          <a:noFill/>
        </p:spPr>
        <p:txBody>
          <a:bodyPr wrap="square">
            <a:spAutoFit/>
          </a:bodyPr>
          <a:lstStyle/>
          <a:p>
            <a:pPr algn="l"/>
            <a:r>
              <a:rPr sz="1300" b="0">
                <a:solidFill>
                  <a:srgbClr val="B8C0CC"/>
                </a:solidFill>
                <a:latin typeface="Calibri"/>
              </a:rPr>
              <a:t>Crdshop.su</a:t>
            </a:r>
          </a:p>
        </p:txBody>
      </p:sp>
      <p:sp>
        <p:nvSpPr>
          <p:cNvPr id="41" name="TextBox 40"/>
          <p:cNvSpPr txBox="1"/>
          <p:nvPr/>
        </p:nvSpPr>
        <p:spPr>
          <a:xfrm>
            <a:off x="3223260" y="4448264"/>
            <a:ext cx="2537460" cy="438912"/>
          </a:xfrm>
          <a:prstGeom prst="rect">
            <a:avLst/>
          </a:prstGeom>
          <a:noFill/>
        </p:spPr>
        <p:txBody>
          <a:bodyPr wrap="square">
            <a:spAutoFit/>
          </a:bodyPr>
          <a:lstStyle/>
          <a:p>
            <a:pPr algn="l"/>
            <a:r>
              <a:rPr sz="1300" b="0">
                <a:solidFill>
                  <a:srgbClr val="B8C0CC"/>
                </a:solidFill>
                <a:latin typeface="Calibri"/>
              </a:rPr>
              <a:t>2016-11</a:t>
            </a:r>
          </a:p>
        </p:txBody>
      </p:sp>
      <p:sp>
        <p:nvSpPr>
          <p:cNvPr id="42" name="TextBox 41"/>
          <p:cNvSpPr txBox="1"/>
          <p:nvPr/>
        </p:nvSpPr>
        <p:spPr>
          <a:xfrm>
            <a:off x="5852160" y="4448264"/>
            <a:ext cx="2537460" cy="438912"/>
          </a:xfrm>
          <a:prstGeom prst="rect">
            <a:avLst/>
          </a:prstGeom>
          <a:noFill/>
        </p:spPr>
        <p:txBody>
          <a:bodyPr wrap="square">
            <a:spAutoFit/>
          </a:bodyPr>
          <a:lstStyle/>
          <a:p>
            <a:pPr algn="l"/>
            <a:r>
              <a:rPr sz="1300" b="0">
                <a:solidFill>
                  <a:srgbClr val="B8C0CC"/>
                </a:solidFill>
                <a:latin typeface="Calibri"/>
              </a:rPr>
              <a:t>vBulletin SQL</a:t>
            </a:r>
          </a:p>
        </p:txBody>
      </p:sp>
      <p:sp>
        <p:nvSpPr>
          <p:cNvPr id="43" name="TextBox 42"/>
          <p:cNvSpPr txBox="1"/>
          <p:nvPr/>
        </p:nvSpPr>
        <p:spPr>
          <a:xfrm>
            <a:off x="8481060" y="4448264"/>
            <a:ext cx="2537460" cy="438912"/>
          </a:xfrm>
          <a:prstGeom prst="rect">
            <a:avLst/>
          </a:prstGeom>
          <a:noFill/>
        </p:spPr>
        <p:txBody>
          <a:bodyPr wrap="square">
            <a:spAutoFit/>
          </a:bodyPr>
          <a:lstStyle/>
          <a:p>
            <a:pPr algn="l"/>
            <a:r>
              <a:rPr sz="1300" b="0">
                <a:solidFill>
                  <a:srgbClr val="B8C0CC"/>
                </a:solidFill>
                <a:latin typeface="Calibri"/>
              </a:rPr>
              <a:t/>
            </a:r>
          </a:p>
        </p:txBody>
      </p:sp>
      <p:sp>
        <p:nvSpPr>
          <p:cNvPr id="44" name="Rectangle 43"/>
          <p:cNvSpPr/>
          <p:nvPr/>
        </p:nvSpPr>
        <p:spPr>
          <a:xfrm>
            <a:off x="548640" y="4837176"/>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4360" y="4887176"/>
            <a:ext cx="2537460" cy="438912"/>
          </a:xfrm>
          <a:prstGeom prst="rect">
            <a:avLst/>
          </a:prstGeom>
          <a:noFill/>
        </p:spPr>
        <p:txBody>
          <a:bodyPr wrap="square">
            <a:spAutoFit/>
          </a:bodyPr>
          <a:lstStyle/>
          <a:p>
            <a:pPr algn="l"/>
            <a:r>
              <a:rPr sz="1300" b="0">
                <a:solidFill>
                  <a:srgbClr val="B8C0CC"/>
                </a:solidFill>
                <a:latin typeface="Calibri"/>
              </a:rPr>
              <a:t>Elitecarders.name</a:t>
            </a:r>
          </a:p>
        </p:txBody>
      </p:sp>
      <p:sp>
        <p:nvSpPr>
          <p:cNvPr id="46" name="TextBox 45"/>
          <p:cNvSpPr txBox="1"/>
          <p:nvPr/>
        </p:nvSpPr>
        <p:spPr>
          <a:xfrm>
            <a:off x="3223260" y="4887176"/>
            <a:ext cx="2537460" cy="438912"/>
          </a:xfrm>
          <a:prstGeom prst="rect">
            <a:avLst/>
          </a:prstGeom>
          <a:noFill/>
        </p:spPr>
        <p:txBody>
          <a:bodyPr wrap="square">
            <a:spAutoFit/>
          </a:bodyPr>
          <a:lstStyle/>
          <a:p>
            <a:pPr algn="l"/>
            <a:r>
              <a:rPr sz="1300" b="0">
                <a:solidFill>
                  <a:srgbClr val="B8C0CC"/>
                </a:solidFill>
                <a:latin typeface="Calibri"/>
              </a:rPr>
              <a:t>2016-08</a:t>
            </a:r>
          </a:p>
        </p:txBody>
      </p:sp>
      <p:sp>
        <p:nvSpPr>
          <p:cNvPr id="47" name="TextBox 46"/>
          <p:cNvSpPr txBox="1"/>
          <p:nvPr/>
        </p:nvSpPr>
        <p:spPr>
          <a:xfrm>
            <a:off x="5852160" y="4887176"/>
            <a:ext cx="2537460" cy="438912"/>
          </a:xfrm>
          <a:prstGeom prst="rect">
            <a:avLst/>
          </a:prstGeom>
          <a:noFill/>
        </p:spPr>
        <p:txBody>
          <a:bodyPr wrap="square">
            <a:spAutoFit/>
          </a:bodyPr>
          <a:lstStyle/>
          <a:p>
            <a:pPr algn="l"/>
            <a:r>
              <a:rPr sz="1300" b="0">
                <a:solidFill>
                  <a:srgbClr val="B8C0CC"/>
                </a:solidFill>
                <a:latin typeface="Calibri"/>
              </a:rPr>
              <a:t>vBulletin SQL</a:t>
            </a:r>
          </a:p>
        </p:txBody>
      </p:sp>
      <p:sp>
        <p:nvSpPr>
          <p:cNvPr id="48" name="TextBox 47"/>
          <p:cNvSpPr txBox="1"/>
          <p:nvPr/>
        </p:nvSpPr>
        <p:spPr>
          <a:xfrm>
            <a:off x="8481060" y="4887176"/>
            <a:ext cx="2537460" cy="438912"/>
          </a:xfrm>
          <a:prstGeom prst="rect">
            <a:avLst/>
          </a:prstGeom>
          <a:noFill/>
        </p:spPr>
        <p:txBody>
          <a:bodyPr wrap="square">
            <a:spAutoFit/>
          </a:bodyPr>
          <a:lstStyle/>
          <a:p>
            <a:pPr algn="l"/>
            <a:r>
              <a:rPr sz="1300" b="0">
                <a:solidFill>
                  <a:srgbClr val="B8C0CC"/>
                </a:solidFill>
                <a:latin typeface="Calibri"/>
              </a:rPr>
              <a:t/>
            </a:r>
          </a:p>
        </p:txBody>
      </p:sp>
      <p:sp>
        <p:nvSpPr>
          <p:cNvPr id="49" name="Rectangle 48"/>
          <p:cNvSpPr/>
          <p:nvPr/>
        </p:nvSpPr>
        <p:spPr>
          <a:xfrm>
            <a:off x="548640" y="5276088"/>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94360" y="5326088"/>
            <a:ext cx="2537460" cy="438912"/>
          </a:xfrm>
          <a:prstGeom prst="rect">
            <a:avLst/>
          </a:prstGeom>
          <a:noFill/>
        </p:spPr>
        <p:txBody>
          <a:bodyPr wrap="square">
            <a:spAutoFit/>
          </a:bodyPr>
          <a:lstStyle/>
          <a:p>
            <a:pPr algn="l"/>
            <a:r>
              <a:rPr sz="1300" b="0">
                <a:solidFill>
                  <a:srgbClr val="B8C0CC"/>
                </a:solidFill>
                <a:latin typeface="Calibri"/>
              </a:rPr>
              <a:t>CardingMafia</a:t>
            </a:r>
          </a:p>
        </p:txBody>
      </p:sp>
      <p:sp>
        <p:nvSpPr>
          <p:cNvPr id="51" name="TextBox 50"/>
          <p:cNvSpPr txBox="1"/>
          <p:nvPr/>
        </p:nvSpPr>
        <p:spPr>
          <a:xfrm>
            <a:off x="3223260" y="5326088"/>
            <a:ext cx="2537460" cy="438912"/>
          </a:xfrm>
          <a:prstGeom prst="rect">
            <a:avLst/>
          </a:prstGeom>
          <a:noFill/>
        </p:spPr>
        <p:txBody>
          <a:bodyPr wrap="square">
            <a:spAutoFit/>
          </a:bodyPr>
          <a:lstStyle/>
          <a:p>
            <a:pPr algn="l"/>
            <a:r>
              <a:rPr sz="1300" b="0">
                <a:solidFill>
                  <a:srgbClr val="B8C0CC"/>
                </a:solidFill>
                <a:latin typeface="Calibri"/>
              </a:rPr>
              <a:t>2021-03</a:t>
            </a:r>
          </a:p>
        </p:txBody>
      </p:sp>
      <p:sp>
        <p:nvSpPr>
          <p:cNvPr id="52" name="TextBox 51"/>
          <p:cNvSpPr txBox="1"/>
          <p:nvPr/>
        </p:nvSpPr>
        <p:spPr>
          <a:xfrm>
            <a:off x="5852160" y="5326088"/>
            <a:ext cx="2537460" cy="438912"/>
          </a:xfrm>
          <a:prstGeom prst="rect">
            <a:avLst/>
          </a:prstGeom>
          <a:noFill/>
        </p:spPr>
        <p:txBody>
          <a:bodyPr wrap="square">
            <a:spAutoFit/>
          </a:bodyPr>
          <a:lstStyle/>
          <a:p>
            <a:pPr algn="l"/>
            <a:r>
              <a:rPr sz="1300" b="0">
                <a:solidFill>
                  <a:srgbClr val="B8C0CC"/>
                </a:solidFill>
                <a:latin typeface="Calibri"/>
              </a:rPr>
              <a:t>vBulletin SQL</a:t>
            </a:r>
          </a:p>
        </p:txBody>
      </p:sp>
      <p:sp>
        <p:nvSpPr>
          <p:cNvPr id="53" name="TextBox 52"/>
          <p:cNvSpPr txBox="1"/>
          <p:nvPr/>
        </p:nvSpPr>
        <p:spPr>
          <a:xfrm>
            <a:off x="8481060" y="5326088"/>
            <a:ext cx="2537460" cy="438912"/>
          </a:xfrm>
          <a:prstGeom prst="rect">
            <a:avLst/>
          </a:prstGeom>
          <a:noFill/>
        </p:spPr>
        <p:txBody>
          <a:bodyPr wrap="square">
            <a:spAutoFit/>
          </a:bodyPr>
          <a:lstStyle/>
          <a:p>
            <a:pPr algn="l"/>
            <a:r>
              <a:rPr sz="1300" b="0">
                <a:solidFill>
                  <a:srgbClr val="B8C0CC"/>
                </a:solidFill>
                <a:latin typeface="Calibri"/>
              </a:rPr>
              <a:t>Ver siguiente slide</a:t>
            </a:r>
          </a:p>
        </p:txBody>
      </p:sp>
      <p:sp>
        <p:nvSpPr>
          <p:cNvPr id="54" name="Rectangle 53"/>
          <p:cNvSpPr/>
          <p:nvPr/>
        </p:nvSpPr>
        <p:spPr>
          <a:xfrm>
            <a:off x="548640" y="5715000"/>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94360" y="5765000"/>
            <a:ext cx="2537460" cy="438912"/>
          </a:xfrm>
          <a:prstGeom prst="rect">
            <a:avLst/>
          </a:prstGeom>
          <a:noFill/>
        </p:spPr>
        <p:txBody>
          <a:bodyPr wrap="square">
            <a:spAutoFit/>
          </a:bodyPr>
          <a:lstStyle/>
          <a:p>
            <a:pPr algn="l"/>
            <a:r>
              <a:rPr sz="1300" b="0">
                <a:solidFill>
                  <a:srgbClr val="B8C0CC"/>
                </a:solidFill>
                <a:latin typeface="Calibri"/>
              </a:rPr>
              <a:t>Cardmafia.cc</a:t>
            </a:r>
          </a:p>
        </p:txBody>
      </p:sp>
      <p:sp>
        <p:nvSpPr>
          <p:cNvPr id="56" name="TextBox 55"/>
          <p:cNvSpPr txBox="1"/>
          <p:nvPr/>
        </p:nvSpPr>
        <p:spPr>
          <a:xfrm>
            <a:off x="3223260" y="5765000"/>
            <a:ext cx="2537460" cy="438912"/>
          </a:xfrm>
          <a:prstGeom prst="rect">
            <a:avLst/>
          </a:prstGeom>
          <a:noFill/>
        </p:spPr>
        <p:txBody>
          <a:bodyPr wrap="square">
            <a:spAutoFit/>
          </a:bodyPr>
          <a:lstStyle/>
          <a:p>
            <a:pPr algn="l"/>
            <a:r>
              <a:rPr sz="1300" b="0">
                <a:solidFill>
                  <a:srgbClr val="B8C0CC"/>
                </a:solidFill>
                <a:latin typeface="Calibri"/>
              </a:rPr>
              <a:t>2021-03</a:t>
            </a:r>
          </a:p>
        </p:txBody>
      </p:sp>
      <p:sp>
        <p:nvSpPr>
          <p:cNvPr id="57" name="TextBox 56"/>
          <p:cNvSpPr txBox="1"/>
          <p:nvPr/>
        </p:nvSpPr>
        <p:spPr>
          <a:xfrm>
            <a:off x="5852160" y="5765000"/>
            <a:ext cx="2537460" cy="438912"/>
          </a:xfrm>
          <a:prstGeom prst="rect">
            <a:avLst/>
          </a:prstGeom>
          <a:noFill/>
        </p:spPr>
        <p:txBody>
          <a:bodyPr wrap="square">
            <a:spAutoFit/>
          </a:bodyPr>
          <a:lstStyle/>
          <a:p>
            <a:pPr algn="l"/>
            <a:r>
              <a:rPr sz="1300" b="0">
                <a:solidFill>
                  <a:srgbClr val="B8C0CC"/>
                </a:solidFill>
                <a:latin typeface="Calibri"/>
              </a:rPr>
              <a:t>vBulletin SQL</a:t>
            </a:r>
          </a:p>
        </p:txBody>
      </p:sp>
      <p:sp>
        <p:nvSpPr>
          <p:cNvPr id="58" name="TextBox 57"/>
          <p:cNvSpPr txBox="1"/>
          <p:nvPr/>
        </p:nvSpPr>
        <p:spPr>
          <a:xfrm>
            <a:off x="8481060" y="5765000"/>
            <a:ext cx="2537460" cy="438912"/>
          </a:xfrm>
          <a:prstGeom prst="rect">
            <a:avLst/>
          </a:prstGeom>
          <a:noFill/>
        </p:spPr>
        <p:txBody>
          <a:bodyPr wrap="square">
            <a:spAutoFit/>
          </a:bodyPr>
          <a:lstStyle/>
          <a:p>
            <a:pPr algn="l"/>
            <a:r>
              <a:rPr sz="1300" b="0">
                <a:solidFill>
                  <a:srgbClr val="B8C0CC"/>
                </a:solidFill>
                <a:latin typeface="Calibri"/>
              </a:rPr>
              <a:t>Ver siguiente slide</a:t>
            </a:r>
          </a:p>
        </p:txBody>
      </p:sp>
      <p:sp>
        <p:nvSpPr>
          <p:cNvPr id="59" name="TextBox 58"/>
          <p:cNvSpPr txBox="1"/>
          <p:nvPr/>
        </p:nvSpPr>
        <p:spPr>
          <a:xfrm>
            <a:off x="548640" y="6263640"/>
            <a:ext cx="10972800" cy="365760"/>
          </a:xfrm>
          <a:prstGeom prst="rect">
            <a:avLst/>
          </a:prstGeom>
          <a:noFill/>
        </p:spPr>
        <p:txBody>
          <a:bodyPr wrap="square">
            <a:spAutoFit/>
          </a:bodyPr>
          <a:lstStyle/>
          <a:p>
            <a:pPr algn="l"/>
            <a:r>
              <a:rPr sz="1200" b="0">
                <a:solidFill>
                  <a:srgbClr val="606878"/>
                </a:solidFill>
                <a:latin typeface="Calibri"/>
              </a:rPr>
              <a:t>ℹ  9 foros distintos esperados según el reconocimiento inicial — la tabla real tiene 10 archivos.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El bug que no esperabas — un dump subido dos veces</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list_forums() devuelve 10 archivos .zip, pero el reconocimiento inicial documentaba 9 foros</a:t>
            </a:r>
          </a:p>
          <a:p>
            <a:pPr algn="l" marL="0" indent="-228600"/>
            <a:r>
              <a:rPr sz="2000" b="0">
                <a:solidFill>
                  <a:srgbClr val="B8C0CC"/>
                </a:solidFill>
                <a:latin typeface="Calibri"/>
              </a:rPr>
              <a:t>▸  Diagnóstico: CardingMafia_2021.03.zip y Cardmafia.cc_2021.03.zip pesan exactamente 175,674,160 bytes</a:t>
            </a:r>
          </a:p>
          <a:p>
            <a:pPr algn="l" marL="0" indent="-228600"/>
            <a:r>
              <a:rPr sz="2000" b="0">
                <a:solidFill>
                  <a:srgbClr val="B8C0CC"/>
                </a:solidFill>
                <a:latin typeface="Calibri"/>
              </a:rPr>
              <a:t>▸  Verificación byte a byte: mismo INSERT INTO user, mismas 296,909 filas, mismo contenido</a:t>
            </a:r>
          </a:p>
          <a:p>
            <a:pPr algn="l" marL="0" indent="-228600"/>
            <a:r>
              <a:rPr sz="2000" b="0">
                <a:solidFill>
                  <a:srgbClr val="B8C0CC"/>
                </a:solidFill>
                <a:latin typeface="Calibri"/>
              </a:rPr>
              <a:t>▸  Es el mismo leak subido dos veces bajo nombres distintos — no dos foros diferentes</a:t>
            </a:r>
          </a:p>
          <a:p>
            <a:pPr algn="l" marL="0" indent="-228600"/>
            <a:r>
              <a:rPr sz="2000" b="0">
                <a:solidFill>
                  <a:srgbClr val="B8C0CC"/>
                </a:solidFill>
                <a:latin typeface="Calibri"/>
              </a:rPr>
              <a:t>▸  Ninguno de los dos incluye tabla post: el leak solo contiene el registro de usuarios</a:t>
            </a:r>
          </a:p>
          <a:p>
            <a:pPr lvl="1" algn="l" marL="274320" indent="-228600"/>
            <a:r>
              <a:rPr sz="1700" b="0">
                <a:solidFill>
                  <a:srgbClr val="606878"/>
                </a:solidFill>
                <a:latin typeface="Calibri"/>
              </a:rPr>
              <a:t>·  Lección: nunca asumas que archivo distinto = fuente distinta — verificá tamaño y contenido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Un formato que no es SQL — Cardingmafia.ws</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load_forum() devolvía 0 filas para Cardingmafia.ws con el parser vBulletin</a:t>
            </a:r>
          </a:p>
          <a:p>
            <a:pPr algn="l" marL="0" indent="-228600"/>
            <a:r>
              <a:rPr sz="2000" b="0">
                <a:solidFill>
                  <a:srgbClr val="B8C0CC"/>
                </a:solidFill>
                <a:latin typeface="Calibri"/>
              </a:rPr>
              <a:t>▸  El zip contiene un único archivo Dump_cardingmafia.txt — no un dump SQL</a:t>
            </a:r>
          </a:p>
          <a:p>
            <a:pPr algn="l" marL="0" indent="-228600"/>
            <a:r>
              <a:rPr sz="2000" b="0">
                <a:solidFill>
                  <a:srgbClr val="B8C0CC"/>
                </a:solidFill>
                <a:latin typeface="Calibri"/>
              </a:rPr>
              <a:t>▸  Formato real: texto plano delimitado por ':' — userid:username:email:ipaddress:...</a:t>
            </a:r>
          </a:p>
          <a:p>
            <a:pPr algn="l" marL="0" indent="-228600"/>
            <a:r>
              <a:rPr sz="2000" b="0">
                <a:solidFill>
                  <a:srgbClr val="B8C0CC"/>
                </a:solidFill>
                <a:latin typeface="Calibri"/>
              </a:rPr>
              <a:t>▸  El proyecto ya tenía un parser para este formato exacto (src/parsers/flat.py)</a:t>
            </a:r>
          </a:p>
          <a:p>
            <a:pPr algn="l" marL="0" indent="-228600"/>
            <a:r>
              <a:rPr sz="2000" b="0">
                <a:solidFill>
                  <a:srgbClr val="B8C0CC"/>
                </a:solidFill>
                <a:latin typeface="Calibri"/>
              </a:rPr>
              <a:t>▸  Fix: load_forum() en src/utils.py auto-detecta flat/MyBB/IPS/vBulletin antes de elegir parser</a:t>
            </a:r>
          </a:p>
          <a:p>
            <a:pPr lvl="1" algn="l" marL="274320" indent="-228600"/>
            <a:r>
              <a:rPr sz="1700" b="0">
                <a:solidFill>
                  <a:srgbClr val="606878"/>
                </a:solidFill>
                <a:latin typeface="Calibri"/>
              </a:rPr>
              <a:t>·  177,938 usuarios recuperados de un archivo que el parser vBulletin ignoraba por completo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2</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Reconocimiento y limpieza</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Notebooks 00 y 01 — de dump crudo a datos confiables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El dataset en cifras</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949,816 usuarios y 1,470,866 posts across 10 dumps</a:t>
            </a:r>
          </a:p>
          <a:p>
            <a:pPr algn="l" marL="0" indent="-228600"/>
            <a:r>
              <a:rPr sz="2000" b="0">
                <a:solidFill>
                  <a:srgbClr val="B8C0CC"/>
                </a:solidFill>
                <a:latin typeface="Calibri"/>
              </a:rPr>
              <a:t>▸  209,406 threads y 876,935 mensajes privados</a:t>
            </a:r>
          </a:p>
          <a:p>
            <a:pPr algn="l" marL="0" indent="-228600"/>
            <a:r>
              <a:rPr sz="2000" b="0">
                <a:solidFill>
                  <a:srgbClr val="B8C0CC"/>
                </a:solidFill>
                <a:latin typeface="Calibri"/>
              </a:rPr>
              <a:t>▸  Rango temporal: 2009 a 2016 (con timestamps corruptos que hay que filtrar antes de confiar en esto)</a:t>
            </a:r>
          </a:p>
          <a:p>
            <a:pPr algn="l" marL="0" indent="-228600"/>
            <a:r>
              <a:rPr sz="2000" b="0">
                <a:solidFill>
                  <a:srgbClr val="B8C0CC"/>
                </a:solidFill>
                <a:latin typeface="Calibri"/>
              </a:rPr>
              <a:t>▸  vBulletin es el formato dominante — mismo problema de encoding que otros casos del curso</a:t>
            </a:r>
          </a:p>
          <a:p>
            <a:pPr algn="l" marL="0" indent="-228600"/>
            <a:r>
              <a:rPr sz="2000" b="0">
                <a:solidFill>
                  <a:srgbClr val="B8C0CC"/>
                </a:solidFill>
                <a:latin typeface="Calibri"/>
              </a:rPr>
              <a:t>▸  Carder.pro usa cp1251 (cirílico): el parser lo maneja, pero hay que detectarlo, no asumirlo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Limpieza — los mismos problemas de siempre, otra escala</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178,420 usuarios con joindate inválido (epoch-0 o nulo) — 18.8% del total</a:t>
            </a:r>
          </a:p>
          <a:p>
            <a:pPr algn="l" marL="0" indent="-228600"/>
            <a:r>
              <a:rPr sz="2000" b="0">
                <a:solidFill>
                  <a:srgbClr val="B8C0CC"/>
                </a:solidFill>
                <a:latin typeface="Calibri"/>
              </a:rPr>
              <a:t>▸  16,206 posts con timestamp fuera de rango (antes de 2000 o después de 2025)</a:t>
            </a:r>
          </a:p>
          <a:p>
            <a:pPr algn="l" marL="0" indent="-228600"/>
            <a:r>
              <a:rPr sz="2000" b="0">
                <a:solidFill>
                  <a:srgbClr val="B8C0CC"/>
                </a:solidFill>
                <a:latin typeface="Calibri"/>
              </a:rPr>
              <a:t>▸  58,939 posts con texto vacío o menor a 5 caracteres — posts borrados por moderación</a:t>
            </a:r>
          </a:p>
          <a:p>
            <a:pPr algn="l" marL="0" indent="-228600"/>
            <a:r>
              <a:rPr sz="2000" b="0">
                <a:solidFill>
                  <a:srgbClr val="B8C0CC"/>
                </a:solidFill>
                <a:latin typeface="Calibri"/>
              </a:rPr>
              <a:t>▸  Deduplicación por (userid, forum): filas repetidas por errores de exportación del dump</a:t>
            </a:r>
          </a:p>
          <a:p>
            <a:pPr algn="l" marL="0" indent="-228600"/>
            <a:r>
              <a:rPr sz="2000" b="0">
                <a:solidFill>
                  <a:srgbClr val="B8C0CC"/>
                </a:solidFill>
                <a:latin typeface="Calibri"/>
              </a:rPr>
              <a:t>▸  1,470,866 → 1,412,107 posts limpios — un 4% se descarta antes de cualquier análisis semántico</a:t>
            </a:r>
          </a:p>
        </p:txBody>
      </p:sp>
      <p:sp>
        <p:nvSpPr>
          <p:cNvPr id="5" name="TextBox 4"/>
          <p:cNvSpPr txBox="1"/>
          <p:nvPr/>
        </p:nvSpPr>
        <p:spPr>
          <a:xfrm>
            <a:off x="548640" y="6263640"/>
            <a:ext cx="10972800" cy="365760"/>
          </a:xfrm>
          <a:prstGeom prst="rect">
            <a:avLst/>
          </a:prstGeom>
          <a:noFill/>
        </p:spPr>
        <p:txBody>
          <a:bodyPr wrap="square">
            <a:spAutoFit/>
          </a:bodyPr>
          <a:lstStyle/>
          <a:p>
            <a:pPr algn="l"/>
            <a:r>
              <a:rPr sz="1200" b="0">
                <a:solidFill>
                  <a:srgbClr val="606878"/>
                </a:solidFill>
                <a:latin typeface="Calibri"/>
              </a:rPr>
              <a:t>ℹ  Mismo patrón epoch-0 que en HackingForums: nunca confíes en un timestamp sin validar su rango primero.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0"/>
            <a:ext cx="10972800" cy="640080"/>
          </a:xfrm>
          <a:prstGeom prst="rect">
            <a:avLst/>
          </a:prstGeom>
          <a:noFill/>
        </p:spPr>
        <p:txBody>
          <a:bodyPr wrap="square">
            <a:spAutoFit/>
          </a:bodyPr>
          <a:lstStyle/>
          <a:p>
            <a:pPr algn="l"/>
            <a:r>
              <a:rPr sz="1400" b="1">
                <a:solidFill>
                  <a:srgbClr val="E94E4E"/>
                </a:solidFill>
                <a:latin typeface="Calibri"/>
              </a:rPr>
              <a:t>DEMO EN VIVO</a:t>
            </a:r>
          </a:p>
        </p:txBody>
      </p:sp>
      <p:sp>
        <p:nvSpPr>
          <p:cNvPr id="4" name="TextBox 3"/>
          <p:cNvSpPr txBox="1"/>
          <p:nvPr/>
        </p:nvSpPr>
        <p:spPr>
          <a:xfrm>
            <a:off x="548640" y="1508760"/>
            <a:ext cx="10972800" cy="1097280"/>
          </a:xfrm>
          <a:prstGeom prst="rect">
            <a:avLst/>
          </a:prstGeom>
          <a:noFill/>
        </p:spPr>
        <p:txBody>
          <a:bodyPr wrap="square">
            <a:spAutoFit/>
          </a:bodyPr>
          <a:lstStyle/>
          <a:p>
            <a:pPr algn="l"/>
            <a:r>
              <a:rPr sz="3600" b="1">
                <a:solidFill>
                  <a:srgbClr val="FFFFFF"/>
                </a:solidFill>
                <a:latin typeface="Calibri"/>
              </a:rPr>
              <a:t>Demo — reconocimiento y limpieza</a:t>
            </a:r>
          </a:p>
        </p:txBody>
      </p:sp>
      <p:sp>
        <p:nvSpPr>
          <p:cNvPr id="5" name="TextBox 4"/>
          <p:cNvSpPr txBox="1"/>
          <p:nvPr/>
        </p:nvSpPr>
        <p:spPr>
          <a:xfrm>
            <a:off x="548640" y="2651760"/>
            <a:ext cx="7315200" cy="457200"/>
          </a:xfrm>
          <a:prstGeom prst="rect">
            <a:avLst/>
          </a:prstGeom>
          <a:noFill/>
        </p:spPr>
        <p:txBody>
          <a:bodyPr wrap="square">
            <a:spAutoFit/>
          </a:bodyPr>
          <a:lstStyle/>
          <a:p>
            <a:pPr algn="l"/>
            <a:r>
              <a:rPr sz="1600" b="0">
                <a:solidFill>
                  <a:srgbClr val="606878"/>
                </a:solidFill>
                <a:latin typeface="Calibri"/>
              </a:rPr>
              <a:t>CardingForums/00_reconocimiento.ipynb</a:t>
            </a:r>
          </a:p>
        </p:txBody>
      </p:sp>
      <p:sp>
        <p:nvSpPr>
          <p:cNvPr id="6" name="TextBox 5"/>
          <p:cNvSpPr txBox="1"/>
          <p:nvPr/>
        </p:nvSpPr>
        <p:spPr>
          <a:xfrm>
            <a:off x="548640" y="3291840"/>
            <a:ext cx="10972800" cy="2743200"/>
          </a:xfrm>
          <a:prstGeom prst="rect">
            <a:avLst/>
          </a:prstGeom>
          <a:noFill/>
        </p:spPr>
        <p:txBody>
          <a:bodyPr wrap="square">
            <a:spAutoFit/>
          </a:bodyPr>
          <a:lstStyle/>
          <a:p>
            <a:r>
              <a:rPr sz="1900">
                <a:solidFill>
                  <a:srgbClr val="B8C0CC"/>
                </a:solidFill>
                <a:latin typeface="Calibri"/>
              </a:rPr>
              <a:t>1.  Abrir notebook 00_reconocimiento</a:t>
            </a:r>
          </a:p>
          <a:p>
            <a:r>
              <a:rPr sz="1900">
                <a:solidFill>
                  <a:srgbClr val="B8C0CC"/>
                </a:solidFill>
                <a:latin typeface="Calibri"/>
              </a:rPr>
              <a:t>2.  Sección 6: tabla de usuarios y posts por foro, timeline de registros</a:t>
            </a:r>
          </a:p>
          <a:p>
            <a:r>
              <a:rPr sz="1900">
                <a:solidFill>
                  <a:srgbClr val="B8C0CC"/>
                </a:solidFill>
                <a:latin typeface="Calibri"/>
              </a:rPr>
              <a:t>3.  Sección 7: validación de calidad — completitud de campos de contacto</a:t>
            </a:r>
          </a:p>
          <a:p>
            <a:r>
              <a:rPr sz="1900">
                <a:solidFill>
                  <a:srgbClr val="B8C0CC"/>
                </a:solidFill>
                <a:latin typeface="Calibri"/>
              </a:rPr>
              <a:t>4.  Notebook 01, sección 5: resumen de limpieza con conteos antes/después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3</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Red de co-participación y comunidades</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Notebook 02 — quién habla con quién, sin IA generativa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Construcción del grafo</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Nodo = usuario. Arista = co-participación en el mismo thread, peso = threads compartidos</a:t>
            </a:r>
          </a:p>
          <a:p>
            <a:pPr algn="l" marL="0" indent="-228600"/>
            <a:r>
              <a:rPr sz="2000" b="0">
                <a:solidFill>
                  <a:srgbClr val="B8C0CC"/>
                </a:solidFill>
                <a:latin typeface="Calibri"/>
              </a:rPr>
              <a:t>▸  Filtro de aristas débiles: se descartan pares que solo comparten 1 thread (ruido)</a:t>
            </a:r>
          </a:p>
          <a:p>
            <a:pPr algn="l" marL="0" indent="-228600"/>
            <a:r>
              <a:rPr sz="2000" b="0">
                <a:solidFill>
                  <a:srgbClr val="B8C0CC"/>
                </a:solidFill>
                <a:latin typeface="Calibri"/>
              </a:rPr>
              <a:t>▸  Componente gigante resultante: 11,113 nodos tras el filtrado</a:t>
            </a:r>
          </a:p>
          <a:p>
            <a:pPr algn="l" marL="0" indent="-228600"/>
            <a:r>
              <a:rPr sz="2000" b="0">
                <a:solidFill>
                  <a:srgbClr val="B8C0CC"/>
                </a:solidFill>
                <a:latin typeface="Calibri"/>
              </a:rPr>
              <a:t>▸  Degree centrality (conexiones directas) y betweenness centrality (rol de puente) sobre esa componente</a:t>
            </a:r>
          </a:p>
          <a:p>
            <a:pPr algn="l" marL="0" indent="-228600"/>
            <a:r>
              <a:rPr sz="2000" b="0">
                <a:solidFill>
                  <a:srgbClr val="B8C0CC"/>
                </a:solidFill>
                <a:latin typeface="Calibri"/>
              </a:rPr>
              <a:t>▸  betweenness se calcula por muestreo (k=500) — exacto es inviable en grafos de este tamaño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Comunidades — Louvain sobre la red</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21 comunidades detectadas en la componente gigante</a:t>
            </a:r>
          </a:p>
          <a:p>
            <a:pPr algn="l" marL="0" indent="-228600"/>
            <a:r>
              <a:rPr sz="2000" b="0">
                <a:solidFill>
                  <a:srgbClr val="B8C0CC"/>
                </a:solidFill>
                <a:latin typeface="Calibri"/>
              </a:rPr>
              <a:t>▸  Una comunidad homogénea (un solo foro) sugiere un círculo cerrado propio de ese mercado</a:t>
            </a:r>
          </a:p>
          <a:p>
            <a:pPr algn="l" marL="0" indent="-228600"/>
            <a:r>
              <a:rPr sz="2000" b="0">
                <a:solidFill>
                  <a:srgbClr val="B8C0CC"/>
                </a:solidFill>
                <a:latin typeface="Calibri"/>
              </a:rPr>
              <a:t>▸  Una comunidad mixta (varios foros) es candidata a red cross-foro — mismos actores, distintas plataformas</a:t>
            </a:r>
          </a:p>
          <a:p>
            <a:pPr algn="l" marL="0" indent="-228600"/>
            <a:r>
              <a:rPr sz="2000" b="0">
                <a:solidFill>
                  <a:srgbClr val="B8C0CC"/>
                </a:solidFill>
                <a:latin typeface="Calibri"/>
              </a:rPr>
              <a:t>▸  TF-IDF por subforo identifica qué términos dominan cada sección temática (dumps, cashout, tutoriales...)</a:t>
            </a:r>
          </a:p>
          <a:p>
            <a:pPr algn="l" marL="0" indent="-228600"/>
            <a:r>
              <a:rPr sz="2000" b="0">
                <a:solidFill>
                  <a:srgbClr val="B8C0CC"/>
                </a:solidFill>
                <a:latin typeface="Calibri"/>
              </a:rPr>
              <a:t>▸  Todo esto es reproducible sin GPU ni LLM — estadística de grafos y frecuencias de términos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0"/>
            <a:ext cx="10972800" cy="640080"/>
          </a:xfrm>
          <a:prstGeom prst="rect">
            <a:avLst/>
          </a:prstGeom>
          <a:noFill/>
        </p:spPr>
        <p:txBody>
          <a:bodyPr wrap="square">
            <a:spAutoFit/>
          </a:bodyPr>
          <a:lstStyle/>
          <a:p>
            <a:pPr algn="l"/>
            <a:r>
              <a:rPr sz="1400" b="1">
                <a:solidFill>
                  <a:srgbClr val="E94E4E"/>
                </a:solidFill>
                <a:latin typeface="Calibri"/>
              </a:rPr>
              <a:t>DEMO EN VIVO</a:t>
            </a:r>
          </a:p>
        </p:txBody>
      </p:sp>
      <p:sp>
        <p:nvSpPr>
          <p:cNvPr id="4" name="TextBox 3"/>
          <p:cNvSpPr txBox="1"/>
          <p:nvPr/>
        </p:nvSpPr>
        <p:spPr>
          <a:xfrm>
            <a:off x="548640" y="1508760"/>
            <a:ext cx="10972800" cy="1097280"/>
          </a:xfrm>
          <a:prstGeom prst="rect">
            <a:avLst/>
          </a:prstGeom>
          <a:noFill/>
        </p:spPr>
        <p:txBody>
          <a:bodyPr wrap="square">
            <a:spAutoFit/>
          </a:bodyPr>
          <a:lstStyle/>
          <a:p>
            <a:pPr algn="l"/>
            <a:r>
              <a:rPr sz="3600" b="1">
                <a:solidFill>
                  <a:srgbClr val="FFFFFF"/>
                </a:solidFill>
                <a:latin typeface="Calibri"/>
              </a:rPr>
              <a:t>Demo — red y comunidades</a:t>
            </a:r>
          </a:p>
        </p:txBody>
      </p:sp>
      <p:sp>
        <p:nvSpPr>
          <p:cNvPr id="5" name="TextBox 4"/>
          <p:cNvSpPr txBox="1"/>
          <p:nvPr/>
        </p:nvSpPr>
        <p:spPr>
          <a:xfrm>
            <a:off x="548640" y="2651760"/>
            <a:ext cx="7315200" cy="457200"/>
          </a:xfrm>
          <a:prstGeom prst="rect">
            <a:avLst/>
          </a:prstGeom>
          <a:noFill/>
        </p:spPr>
        <p:txBody>
          <a:bodyPr wrap="square">
            <a:spAutoFit/>
          </a:bodyPr>
          <a:lstStyle/>
          <a:p>
            <a:pPr algn="l"/>
            <a:r>
              <a:rPr sz="1600" b="0">
                <a:solidFill>
                  <a:srgbClr val="606878"/>
                </a:solidFill>
                <a:latin typeface="Calibri"/>
              </a:rPr>
              <a:t>CardingForums/02_analisis_estructural.ipynb</a:t>
            </a:r>
          </a:p>
        </p:txBody>
      </p:sp>
      <p:sp>
        <p:nvSpPr>
          <p:cNvPr id="6" name="TextBox 5"/>
          <p:cNvSpPr txBox="1"/>
          <p:nvPr/>
        </p:nvSpPr>
        <p:spPr>
          <a:xfrm>
            <a:off x="548640" y="3291840"/>
            <a:ext cx="10972800" cy="2743200"/>
          </a:xfrm>
          <a:prstGeom prst="rect">
            <a:avLst/>
          </a:prstGeom>
          <a:noFill/>
        </p:spPr>
        <p:txBody>
          <a:bodyPr wrap="square">
            <a:spAutoFit/>
          </a:bodyPr>
          <a:lstStyle/>
          <a:p>
            <a:r>
              <a:rPr sz="1900">
                <a:solidFill>
                  <a:srgbClr val="B8C0CC"/>
                </a:solidFill>
                <a:latin typeface="Calibri"/>
              </a:rPr>
              <a:t>1.  Abrir notebook 02_analisis_estructural</a:t>
            </a:r>
          </a:p>
          <a:p>
            <a:r>
              <a:rPr sz="1900">
                <a:solidFill>
                  <a:srgbClr val="B8C0CC"/>
                </a:solidFill>
                <a:latin typeface="Calibri"/>
              </a:rPr>
              <a:t>2.  Sección 3: scatter de degree vs. betweenness centrality</a:t>
            </a:r>
          </a:p>
          <a:p>
            <a:r>
              <a:rPr sz="1900">
                <a:solidFill>
                  <a:srgbClr val="B8C0CC"/>
                </a:solidFill>
                <a:latin typeface="Calibri"/>
              </a:rPr>
              <a:t>3.  Sección 4: composición de comunidades por foro</a:t>
            </a:r>
          </a:p>
          <a:p>
            <a:r>
              <a:rPr sz="1900">
                <a:solidFill>
                  <a:srgbClr val="B8C0CC"/>
                </a:solidFill>
                <a:latin typeface="Calibri"/>
              </a:rPr>
              <a:t>4.  Sección 5: visualización interactiva de los top-150 nodos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4</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Semántica y perfilado de actores</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Notebook 03 — embeddings, NER y LLM local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Embeddings — un vector por usuario</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qwen3-embedding (4096D) vía Ollama, completamente local</a:t>
            </a:r>
          </a:p>
          <a:p>
            <a:pPr algn="l" marL="0" indent="-228600"/>
            <a:r>
              <a:rPr sz="2000" b="0">
                <a:solidFill>
                  <a:srgbClr val="B8C0CC"/>
                </a:solidFill>
                <a:latin typeface="Calibri"/>
              </a:rPr>
              <a:t>▸  9,550 usuarios con ≥10 posts obtienen embedding — el resto no tiene suficiente texto para ser confiable</a:t>
            </a:r>
          </a:p>
          <a:p>
            <a:pPr algn="l" marL="0" indent="-228600"/>
            <a:r>
              <a:rPr sz="2000" b="0">
                <a:solidFill>
                  <a:srgbClr val="B8C0CC"/>
                </a:solidFill>
                <a:latin typeface="Calibri"/>
              </a:rPr>
              <a:t>▸  Concatenación de posts por usuario, capada a 50K caracteres para no colgar Ollama con usuarios extremos</a:t>
            </a:r>
          </a:p>
          <a:p>
            <a:pPr algn="l" marL="0" indent="-228600"/>
            <a:r>
              <a:rPr sz="2000" b="0">
                <a:solidFill>
                  <a:srgbClr val="B8C0CC"/>
                </a:solidFill>
                <a:latin typeface="Calibri"/>
              </a:rPr>
              <a:t>▸  UMAP + HDBSCAN sobre esos vectores para clustering de comportamiento de escritura</a:t>
            </a:r>
          </a:p>
          <a:p>
            <a:pPr algn="l" marL="0" indent="-228600"/>
            <a:r>
              <a:rPr sz="2000" b="0">
                <a:solidFill>
                  <a:srgbClr val="B8C0CC"/>
                </a:solidFill>
                <a:latin typeface="Calibri"/>
              </a:rPr>
              <a:t>▸  BERTopic sobre el mismo corpus para topic modeling — qué temas dominan cada cluster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NER + perfilado — LLM local infiriendo roles</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qwen2.5:14b extrae entidades de dominio: TOOL, PRODUCT, PAYMENT, MARKET, CARD_TYPE, COUNTRY</a:t>
            </a:r>
          </a:p>
          <a:p>
            <a:pPr algn="l" marL="0" indent="-228600"/>
            <a:r>
              <a:rPr sz="2000" b="0">
                <a:solidFill>
                  <a:srgbClr val="B8C0CC"/>
                </a:solidFill>
                <a:latin typeface="Calibri"/>
              </a:rPr>
              <a:t>▸  Perfilado limitado a los 100 usuarios más activos (según el contador de posts del propio foro)</a:t>
            </a:r>
          </a:p>
          <a:p>
            <a:pPr algn="l" marL="0" indent="-228600"/>
            <a:r>
              <a:rPr sz="2000" b="0">
                <a:solidFill>
                  <a:srgbClr val="B8C0CC"/>
                </a:solidFill>
                <a:latin typeface="Calibri"/>
              </a:rPr>
              <a:t>▸  El LLM recibe centralidad, cluster semántico, entidades extraídas y muestra de posts — infiere un rol</a:t>
            </a:r>
          </a:p>
          <a:p>
            <a:pPr algn="l" marL="0" indent="-228600"/>
            <a:r>
              <a:rPr sz="2000" b="0">
                <a:solidFill>
                  <a:srgbClr val="B8C0CC"/>
                </a:solidFill>
                <a:latin typeface="Calibri"/>
              </a:rPr>
              <a:t>▸  Categorías de rol: vendedor_dumps, vendedor_cvv, comprador, checker, intermediario_escrow, lurker...</a:t>
            </a:r>
          </a:p>
          <a:p>
            <a:pPr algn="l" marL="0" indent="-228600"/>
            <a:r>
              <a:rPr sz="2000" b="0">
                <a:solidFill>
                  <a:srgbClr val="B8C0CC"/>
                </a:solidFill>
                <a:latin typeface="Calibri"/>
              </a:rPr>
              <a:t>▸  30 perfiles generados con confianza asociada — no es verdad de campo, es inferencia razonada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Distribución de roles inferidos (30 perfiles)</a:t>
            </a:r>
          </a:p>
        </p:txBody>
      </p:sp>
      <p:sp>
        <p:nvSpPr>
          <p:cNvPr id="4" name="Rectangle 3"/>
          <p:cNvSpPr/>
          <p:nvPr/>
        </p:nvSpPr>
        <p:spPr>
          <a:xfrm>
            <a:off x="548640" y="1325880"/>
            <a:ext cx="10515600" cy="43891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385880"/>
            <a:ext cx="3413760" cy="438912"/>
          </a:xfrm>
          <a:prstGeom prst="rect">
            <a:avLst/>
          </a:prstGeom>
          <a:noFill/>
        </p:spPr>
        <p:txBody>
          <a:bodyPr wrap="square">
            <a:spAutoFit/>
          </a:bodyPr>
          <a:lstStyle/>
          <a:p>
            <a:pPr algn="l"/>
            <a:r>
              <a:rPr sz="1400" b="1">
                <a:solidFill>
                  <a:srgbClr val="FFFFFF"/>
                </a:solidFill>
                <a:latin typeface="Calibri"/>
              </a:rPr>
              <a:t>Rol</a:t>
            </a:r>
          </a:p>
        </p:txBody>
      </p:sp>
      <p:sp>
        <p:nvSpPr>
          <p:cNvPr id="6" name="TextBox 5"/>
          <p:cNvSpPr txBox="1"/>
          <p:nvPr/>
        </p:nvSpPr>
        <p:spPr>
          <a:xfrm>
            <a:off x="4099560" y="1385880"/>
            <a:ext cx="3413760" cy="438912"/>
          </a:xfrm>
          <a:prstGeom prst="rect">
            <a:avLst/>
          </a:prstGeom>
          <a:noFill/>
        </p:spPr>
        <p:txBody>
          <a:bodyPr wrap="square">
            <a:spAutoFit/>
          </a:bodyPr>
          <a:lstStyle/>
          <a:p>
            <a:pPr algn="l"/>
            <a:r>
              <a:rPr sz="1400" b="1">
                <a:solidFill>
                  <a:srgbClr val="FFFFFF"/>
                </a:solidFill>
                <a:latin typeface="Calibri"/>
              </a:rPr>
              <a:t>Usuarios</a:t>
            </a:r>
          </a:p>
        </p:txBody>
      </p:sp>
      <p:sp>
        <p:nvSpPr>
          <p:cNvPr id="7" name="TextBox 6"/>
          <p:cNvSpPr txBox="1"/>
          <p:nvPr/>
        </p:nvSpPr>
        <p:spPr>
          <a:xfrm>
            <a:off x="7604760" y="1385880"/>
            <a:ext cx="3413760" cy="438912"/>
          </a:xfrm>
          <a:prstGeom prst="rect">
            <a:avLst/>
          </a:prstGeom>
          <a:noFill/>
        </p:spPr>
        <p:txBody>
          <a:bodyPr wrap="square">
            <a:spAutoFit/>
          </a:bodyPr>
          <a:lstStyle/>
          <a:p>
            <a:pPr algn="l"/>
            <a:r>
              <a:rPr sz="1400" b="1">
                <a:solidFill>
                  <a:srgbClr val="FFFFFF"/>
                </a:solidFill>
                <a:latin typeface="Calibri"/>
              </a:rPr>
              <a:t>Confianza típica</a:t>
            </a:r>
          </a:p>
        </p:txBody>
      </p:sp>
      <p:sp>
        <p:nvSpPr>
          <p:cNvPr id="8" name="Rectangle 7"/>
          <p:cNvSpPr/>
          <p:nvPr/>
        </p:nvSpPr>
        <p:spPr>
          <a:xfrm>
            <a:off x="548640" y="1764792"/>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814792"/>
            <a:ext cx="3413760" cy="438912"/>
          </a:xfrm>
          <a:prstGeom prst="rect">
            <a:avLst/>
          </a:prstGeom>
          <a:noFill/>
        </p:spPr>
        <p:txBody>
          <a:bodyPr wrap="square">
            <a:spAutoFit/>
          </a:bodyPr>
          <a:lstStyle/>
          <a:p>
            <a:pPr algn="l"/>
            <a:r>
              <a:rPr sz="1300" b="0">
                <a:solidFill>
                  <a:srgbClr val="B8C0CC"/>
                </a:solidFill>
                <a:latin typeface="Calibri"/>
              </a:rPr>
              <a:t>lurker</a:t>
            </a:r>
          </a:p>
        </p:txBody>
      </p:sp>
      <p:sp>
        <p:nvSpPr>
          <p:cNvPr id="10" name="TextBox 9"/>
          <p:cNvSpPr txBox="1"/>
          <p:nvPr/>
        </p:nvSpPr>
        <p:spPr>
          <a:xfrm>
            <a:off x="4099560" y="1814792"/>
            <a:ext cx="3413760" cy="438912"/>
          </a:xfrm>
          <a:prstGeom prst="rect">
            <a:avLst/>
          </a:prstGeom>
          <a:noFill/>
        </p:spPr>
        <p:txBody>
          <a:bodyPr wrap="square">
            <a:spAutoFit/>
          </a:bodyPr>
          <a:lstStyle/>
          <a:p>
            <a:pPr algn="l"/>
            <a:r>
              <a:rPr sz="1300" b="0">
                <a:solidFill>
                  <a:srgbClr val="B8C0CC"/>
                </a:solidFill>
                <a:latin typeface="Calibri"/>
              </a:rPr>
              <a:t>20</a:t>
            </a:r>
          </a:p>
        </p:txBody>
      </p:sp>
      <p:sp>
        <p:nvSpPr>
          <p:cNvPr id="11" name="TextBox 10"/>
          <p:cNvSpPr txBox="1"/>
          <p:nvPr/>
        </p:nvSpPr>
        <p:spPr>
          <a:xfrm>
            <a:off x="7604760" y="1814792"/>
            <a:ext cx="3413760" cy="438912"/>
          </a:xfrm>
          <a:prstGeom prst="rect">
            <a:avLst/>
          </a:prstGeom>
          <a:noFill/>
        </p:spPr>
        <p:txBody>
          <a:bodyPr wrap="square">
            <a:spAutoFit/>
          </a:bodyPr>
          <a:lstStyle/>
          <a:p>
            <a:pPr algn="l"/>
            <a:r>
              <a:rPr sz="1300" b="0">
                <a:solidFill>
                  <a:srgbClr val="B8C0CC"/>
                </a:solidFill>
                <a:latin typeface="Calibri"/>
              </a:rPr>
              <a:t>0.85–0.95</a:t>
            </a:r>
          </a:p>
        </p:txBody>
      </p:sp>
      <p:sp>
        <p:nvSpPr>
          <p:cNvPr id="12" name="Rectangle 11"/>
          <p:cNvSpPr/>
          <p:nvPr/>
        </p:nvSpPr>
        <p:spPr>
          <a:xfrm>
            <a:off x="548640" y="2203704"/>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53704"/>
            <a:ext cx="3413760" cy="438912"/>
          </a:xfrm>
          <a:prstGeom prst="rect">
            <a:avLst/>
          </a:prstGeom>
          <a:noFill/>
        </p:spPr>
        <p:txBody>
          <a:bodyPr wrap="square">
            <a:spAutoFit/>
          </a:bodyPr>
          <a:lstStyle/>
          <a:p>
            <a:pPr algn="l"/>
            <a:r>
              <a:rPr sz="1300" b="0">
                <a:solidFill>
                  <a:srgbClr val="B8C0CC"/>
                </a:solidFill>
                <a:latin typeface="Calibri"/>
              </a:rPr>
              <a:t>comprador</a:t>
            </a:r>
          </a:p>
        </p:txBody>
      </p:sp>
      <p:sp>
        <p:nvSpPr>
          <p:cNvPr id="14" name="TextBox 13"/>
          <p:cNvSpPr txBox="1"/>
          <p:nvPr/>
        </p:nvSpPr>
        <p:spPr>
          <a:xfrm>
            <a:off x="4099560" y="2253704"/>
            <a:ext cx="3413760" cy="438912"/>
          </a:xfrm>
          <a:prstGeom prst="rect">
            <a:avLst/>
          </a:prstGeom>
          <a:noFill/>
        </p:spPr>
        <p:txBody>
          <a:bodyPr wrap="square">
            <a:spAutoFit/>
          </a:bodyPr>
          <a:lstStyle/>
          <a:p>
            <a:pPr algn="l"/>
            <a:r>
              <a:rPr sz="1300" b="0">
                <a:solidFill>
                  <a:srgbClr val="B8C0CC"/>
                </a:solidFill>
                <a:latin typeface="Calibri"/>
              </a:rPr>
              <a:t>3</a:t>
            </a:r>
          </a:p>
        </p:txBody>
      </p:sp>
      <p:sp>
        <p:nvSpPr>
          <p:cNvPr id="15" name="TextBox 14"/>
          <p:cNvSpPr txBox="1"/>
          <p:nvPr/>
        </p:nvSpPr>
        <p:spPr>
          <a:xfrm>
            <a:off x="7604760" y="2253704"/>
            <a:ext cx="3413760" cy="438912"/>
          </a:xfrm>
          <a:prstGeom prst="rect">
            <a:avLst/>
          </a:prstGeom>
          <a:noFill/>
        </p:spPr>
        <p:txBody>
          <a:bodyPr wrap="square">
            <a:spAutoFit/>
          </a:bodyPr>
          <a:lstStyle/>
          <a:p>
            <a:pPr algn="l"/>
            <a:r>
              <a:rPr sz="1300" b="0">
                <a:solidFill>
                  <a:srgbClr val="B8C0CC"/>
                </a:solidFill>
                <a:latin typeface="Calibri"/>
              </a:rPr>
              <a:t>0.70–0.85</a:t>
            </a:r>
          </a:p>
        </p:txBody>
      </p:sp>
      <p:sp>
        <p:nvSpPr>
          <p:cNvPr id="16" name="Rectangle 15"/>
          <p:cNvSpPr/>
          <p:nvPr/>
        </p:nvSpPr>
        <p:spPr>
          <a:xfrm>
            <a:off x="548640" y="2642616"/>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692616"/>
            <a:ext cx="3413760" cy="438912"/>
          </a:xfrm>
          <a:prstGeom prst="rect">
            <a:avLst/>
          </a:prstGeom>
          <a:noFill/>
        </p:spPr>
        <p:txBody>
          <a:bodyPr wrap="square">
            <a:spAutoFit/>
          </a:bodyPr>
          <a:lstStyle/>
          <a:p>
            <a:pPr algn="l"/>
            <a:r>
              <a:rPr sz="1300" b="0">
                <a:solidFill>
                  <a:srgbClr val="B8C0CC"/>
                </a:solidFill>
                <a:latin typeface="Calibri"/>
              </a:rPr>
              <a:t>intermediario_escrow</a:t>
            </a:r>
          </a:p>
        </p:txBody>
      </p:sp>
      <p:sp>
        <p:nvSpPr>
          <p:cNvPr id="18" name="TextBox 17"/>
          <p:cNvSpPr txBox="1"/>
          <p:nvPr/>
        </p:nvSpPr>
        <p:spPr>
          <a:xfrm>
            <a:off x="4099560" y="2692616"/>
            <a:ext cx="3413760" cy="438912"/>
          </a:xfrm>
          <a:prstGeom prst="rect">
            <a:avLst/>
          </a:prstGeom>
          <a:noFill/>
        </p:spPr>
        <p:txBody>
          <a:bodyPr wrap="square">
            <a:spAutoFit/>
          </a:bodyPr>
          <a:lstStyle/>
          <a:p>
            <a:pPr algn="l"/>
            <a:r>
              <a:rPr sz="1300" b="0">
                <a:solidFill>
                  <a:srgbClr val="B8C0CC"/>
                </a:solidFill>
                <a:latin typeface="Calibri"/>
              </a:rPr>
              <a:t>3</a:t>
            </a:r>
          </a:p>
        </p:txBody>
      </p:sp>
      <p:sp>
        <p:nvSpPr>
          <p:cNvPr id="19" name="TextBox 18"/>
          <p:cNvSpPr txBox="1"/>
          <p:nvPr/>
        </p:nvSpPr>
        <p:spPr>
          <a:xfrm>
            <a:off x="7604760" y="2692616"/>
            <a:ext cx="3413760" cy="438912"/>
          </a:xfrm>
          <a:prstGeom prst="rect">
            <a:avLst/>
          </a:prstGeom>
          <a:noFill/>
        </p:spPr>
        <p:txBody>
          <a:bodyPr wrap="square">
            <a:spAutoFit/>
          </a:bodyPr>
          <a:lstStyle/>
          <a:p>
            <a:pPr algn="l"/>
            <a:r>
              <a:rPr sz="1300" b="0">
                <a:solidFill>
                  <a:srgbClr val="B8C0CC"/>
                </a:solidFill>
                <a:latin typeface="Calibri"/>
              </a:rPr>
              <a:t>0.70–0.85</a:t>
            </a:r>
          </a:p>
        </p:txBody>
      </p:sp>
      <p:sp>
        <p:nvSpPr>
          <p:cNvPr id="20" name="Rectangle 19"/>
          <p:cNvSpPr/>
          <p:nvPr/>
        </p:nvSpPr>
        <p:spPr>
          <a:xfrm>
            <a:off x="548640" y="3081528"/>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131528"/>
            <a:ext cx="3413760" cy="438912"/>
          </a:xfrm>
          <a:prstGeom prst="rect">
            <a:avLst/>
          </a:prstGeom>
          <a:noFill/>
        </p:spPr>
        <p:txBody>
          <a:bodyPr wrap="square">
            <a:spAutoFit/>
          </a:bodyPr>
          <a:lstStyle/>
          <a:p>
            <a:pPr algn="l"/>
            <a:r>
              <a:rPr sz="1300" b="0">
                <a:solidFill>
                  <a:srgbClr val="B8C0CC"/>
                </a:solidFill>
                <a:latin typeface="Calibri"/>
              </a:rPr>
              <a:t>indeterminado</a:t>
            </a:r>
          </a:p>
        </p:txBody>
      </p:sp>
      <p:sp>
        <p:nvSpPr>
          <p:cNvPr id="22" name="TextBox 21"/>
          <p:cNvSpPr txBox="1"/>
          <p:nvPr/>
        </p:nvSpPr>
        <p:spPr>
          <a:xfrm>
            <a:off x="4099560" y="3131528"/>
            <a:ext cx="3413760" cy="438912"/>
          </a:xfrm>
          <a:prstGeom prst="rect">
            <a:avLst/>
          </a:prstGeom>
          <a:noFill/>
        </p:spPr>
        <p:txBody>
          <a:bodyPr wrap="square">
            <a:spAutoFit/>
          </a:bodyPr>
          <a:lstStyle/>
          <a:p>
            <a:pPr algn="l"/>
            <a:r>
              <a:rPr sz="1300" b="0">
                <a:solidFill>
                  <a:srgbClr val="B8C0CC"/>
                </a:solidFill>
                <a:latin typeface="Calibri"/>
              </a:rPr>
              <a:t>2</a:t>
            </a:r>
          </a:p>
        </p:txBody>
      </p:sp>
      <p:sp>
        <p:nvSpPr>
          <p:cNvPr id="23" name="TextBox 22"/>
          <p:cNvSpPr txBox="1"/>
          <p:nvPr/>
        </p:nvSpPr>
        <p:spPr>
          <a:xfrm>
            <a:off x="7604760" y="3131528"/>
            <a:ext cx="3413760" cy="438912"/>
          </a:xfrm>
          <a:prstGeom prst="rect">
            <a:avLst/>
          </a:prstGeom>
          <a:noFill/>
        </p:spPr>
        <p:txBody>
          <a:bodyPr wrap="square">
            <a:spAutoFit/>
          </a:bodyPr>
          <a:lstStyle/>
          <a:p>
            <a:pPr algn="l"/>
            <a:r>
              <a:rPr sz="1300" b="0">
                <a:solidFill>
                  <a:srgbClr val="B8C0CC"/>
                </a:solidFill>
                <a:latin typeface="Calibri"/>
              </a:rPr>
              <a:t>0.50–0.65</a:t>
            </a:r>
          </a:p>
        </p:txBody>
      </p:sp>
      <p:sp>
        <p:nvSpPr>
          <p:cNvPr id="24" name="Rectangle 23"/>
          <p:cNvSpPr/>
          <p:nvPr/>
        </p:nvSpPr>
        <p:spPr>
          <a:xfrm>
            <a:off x="548640" y="3520440"/>
            <a:ext cx="10515600" cy="438912"/>
          </a:xfrm>
          <a:prstGeom prst="rect">
            <a:avLst/>
          </a:prstGeom>
          <a:solidFill>
            <a:srgbClr val="22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3570440"/>
            <a:ext cx="3413760" cy="438912"/>
          </a:xfrm>
          <a:prstGeom prst="rect">
            <a:avLst/>
          </a:prstGeom>
          <a:noFill/>
        </p:spPr>
        <p:txBody>
          <a:bodyPr wrap="square">
            <a:spAutoFit/>
          </a:bodyPr>
          <a:lstStyle/>
          <a:p>
            <a:pPr algn="l"/>
            <a:r>
              <a:rPr sz="1300" b="0">
                <a:solidFill>
                  <a:srgbClr val="B8C0CC"/>
                </a:solidFill>
                <a:latin typeface="Calibri"/>
              </a:rPr>
              <a:t>vendedor_dumps</a:t>
            </a:r>
          </a:p>
        </p:txBody>
      </p:sp>
      <p:sp>
        <p:nvSpPr>
          <p:cNvPr id="26" name="TextBox 25"/>
          <p:cNvSpPr txBox="1"/>
          <p:nvPr/>
        </p:nvSpPr>
        <p:spPr>
          <a:xfrm>
            <a:off x="4099560" y="3570440"/>
            <a:ext cx="3413760" cy="438912"/>
          </a:xfrm>
          <a:prstGeom prst="rect">
            <a:avLst/>
          </a:prstGeom>
          <a:noFill/>
        </p:spPr>
        <p:txBody>
          <a:bodyPr wrap="square">
            <a:spAutoFit/>
          </a:bodyPr>
          <a:lstStyle/>
          <a:p>
            <a:pPr algn="l"/>
            <a:r>
              <a:rPr sz="1300" b="0">
                <a:solidFill>
                  <a:srgbClr val="B8C0CC"/>
                </a:solidFill>
                <a:latin typeface="Calibri"/>
              </a:rPr>
              <a:t>1</a:t>
            </a:r>
          </a:p>
        </p:txBody>
      </p:sp>
      <p:sp>
        <p:nvSpPr>
          <p:cNvPr id="27" name="TextBox 26"/>
          <p:cNvSpPr txBox="1"/>
          <p:nvPr/>
        </p:nvSpPr>
        <p:spPr>
          <a:xfrm>
            <a:off x="7604760" y="3570440"/>
            <a:ext cx="3413760" cy="438912"/>
          </a:xfrm>
          <a:prstGeom prst="rect">
            <a:avLst/>
          </a:prstGeom>
          <a:noFill/>
        </p:spPr>
        <p:txBody>
          <a:bodyPr wrap="square">
            <a:spAutoFit/>
          </a:bodyPr>
          <a:lstStyle/>
          <a:p>
            <a:pPr algn="l"/>
            <a:r>
              <a:rPr sz="1300" b="0">
                <a:solidFill>
                  <a:srgbClr val="B8C0CC"/>
                </a:solidFill>
                <a:latin typeface="Calibri"/>
              </a:rPr>
              <a:t>0.80</a:t>
            </a:r>
          </a:p>
        </p:txBody>
      </p:sp>
      <p:sp>
        <p:nvSpPr>
          <p:cNvPr id="28" name="Rectangle 27"/>
          <p:cNvSpPr/>
          <p:nvPr/>
        </p:nvSpPr>
        <p:spPr>
          <a:xfrm>
            <a:off x="548640" y="3959352"/>
            <a:ext cx="10515600" cy="438912"/>
          </a:xfrm>
          <a:prstGeom prst="rect">
            <a:avLst/>
          </a:prstGeom>
          <a:solidFill>
            <a:srgbClr val="1E1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4009352"/>
            <a:ext cx="3413760" cy="438912"/>
          </a:xfrm>
          <a:prstGeom prst="rect">
            <a:avLst/>
          </a:prstGeom>
          <a:noFill/>
        </p:spPr>
        <p:txBody>
          <a:bodyPr wrap="square">
            <a:spAutoFit/>
          </a:bodyPr>
          <a:lstStyle/>
          <a:p>
            <a:pPr algn="l"/>
            <a:r>
              <a:rPr sz="1300" b="0">
                <a:solidFill>
                  <a:srgbClr val="B8C0CC"/>
                </a:solidFill>
                <a:latin typeface="Calibri"/>
              </a:rPr>
              <a:t>checker</a:t>
            </a:r>
          </a:p>
        </p:txBody>
      </p:sp>
      <p:sp>
        <p:nvSpPr>
          <p:cNvPr id="30" name="TextBox 29"/>
          <p:cNvSpPr txBox="1"/>
          <p:nvPr/>
        </p:nvSpPr>
        <p:spPr>
          <a:xfrm>
            <a:off x="4099560" y="4009352"/>
            <a:ext cx="3413760" cy="438912"/>
          </a:xfrm>
          <a:prstGeom prst="rect">
            <a:avLst/>
          </a:prstGeom>
          <a:noFill/>
        </p:spPr>
        <p:txBody>
          <a:bodyPr wrap="square">
            <a:spAutoFit/>
          </a:bodyPr>
          <a:lstStyle/>
          <a:p>
            <a:pPr algn="l"/>
            <a:r>
              <a:rPr sz="1300" b="0">
                <a:solidFill>
                  <a:srgbClr val="B8C0CC"/>
                </a:solidFill>
                <a:latin typeface="Calibri"/>
              </a:rPr>
              <a:t>1</a:t>
            </a:r>
          </a:p>
        </p:txBody>
      </p:sp>
      <p:sp>
        <p:nvSpPr>
          <p:cNvPr id="31" name="TextBox 30"/>
          <p:cNvSpPr txBox="1"/>
          <p:nvPr/>
        </p:nvSpPr>
        <p:spPr>
          <a:xfrm>
            <a:off x="7604760" y="4009352"/>
            <a:ext cx="3413760" cy="438912"/>
          </a:xfrm>
          <a:prstGeom prst="rect">
            <a:avLst/>
          </a:prstGeom>
          <a:noFill/>
        </p:spPr>
        <p:txBody>
          <a:bodyPr wrap="square">
            <a:spAutoFit/>
          </a:bodyPr>
          <a:lstStyle/>
          <a:p>
            <a:pPr algn="l"/>
            <a:r>
              <a:rPr sz="1300" b="0">
                <a:solidFill>
                  <a:srgbClr val="B8C0CC"/>
                </a:solidFill>
                <a:latin typeface="Calibri"/>
              </a:rPr>
              <a:t>0.75</a:t>
            </a:r>
          </a:p>
        </p:txBody>
      </p:sp>
      <p:sp>
        <p:nvSpPr>
          <p:cNvPr id="32" name="TextBox 31"/>
          <p:cNvSpPr txBox="1"/>
          <p:nvPr/>
        </p:nvSpPr>
        <p:spPr>
          <a:xfrm>
            <a:off x="548640" y="6263640"/>
            <a:ext cx="10972800" cy="365760"/>
          </a:xfrm>
          <a:prstGeom prst="rect">
            <a:avLst/>
          </a:prstGeom>
          <a:noFill/>
        </p:spPr>
        <p:txBody>
          <a:bodyPr wrap="square">
            <a:spAutoFit/>
          </a:bodyPr>
          <a:lstStyle/>
          <a:p>
            <a:pPr algn="l"/>
            <a:r>
              <a:rPr sz="1200" b="0">
                <a:solidFill>
                  <a:srgbClr val="606878"/>
                </a:solidFill>
                <a:latin typeface="Calibri"/>
              </a:rPr>
              <a:t>ℹ  La mayoría de los top-100 por contador de posts terminan clasificados como lurker — ver limitación en la siguiente slide.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Una limitación honesta — el contador de posts miente</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El perfilado selecciona a los usuarios por el campo posts de la tabla user del propio vBulletin</a:t>
            </a:r>
          </a:p>
          <a:p>
            <a:pPr algn="l" marL="0" indent="-228600"/>
            <a:r>
              <a:rPr sz="2000" b="0">
                <a:solidFill>
                  <a:srgbClr val="B8C0CC"/>
                </a:solidFill>
                <a:latin typeface="Calibri"/>
              </a:rPr>
              <a:t>▸  Ese contador es un valor almacenado por el foro, no un recuento verificado contra la tabla post real</a:t>
            </a:r>
          </a:p>
          <a:p>
            <a:pPr algn="l" marL="0" indent="-228600"/>
            <a:r>
              <a:rPr sz="2000" b="0">
                <a:solidFill>
                  <a:srgbClr val="B8C0CC"/>
                </a:solidFill>
                <a:latin typeface="Calibri"/>
              </a:rPr>
              <a:t>▸  Resultado: varios de los 'top 100 más activos' aparecen en el corpus con 0 posts extraídos</a:t>
            </a:r>
          </a:p>
          <a:p>
            <a:pPr algn="l" marL="0" indent="-228600"/>
            <a:r>
              <a:rPr sz="2000" b="0">
                <a:solidFill>
                  <a:srgbClr val="B8C0CC"/>
                </a:solidFill>
                <a:latin typeface="Calibri"/>
              </a:rPr>
              <a:t>▸  El LLM los clasifica como lurker con alta confianza — pero es lurker por falta de datos, no por comportamiento real</a:t>
            </a:r>
          </a:p>
          <a:p>
            <a:pPr algn="l" marL="0" indent="-228600"/>
            <a:r>
              <a:rPr sz="2000" b="0">
                <a:solidFill>
                  <a:srgbClr val="B8C0CC"/>
                </a:solidFill>
                <a:latin typeface="Calibri"/>
              </a:rPr>
              <a:t>▸  Lección: un contador de actividad propio del sistema origen puede estar desactualizado o ser directamente falso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0F20"/>
        </a:solidFill>
        <a:effectLst/>
      </p:bgPr>
    </p:bg>
    <p:spTree>
      <p:nvGrpSpPr>
        <p:cNvPr id="1" name=""/>
        <p:cNvGrpSpPr/>
        <p:nvPr/>
      </p:nvGrpSpPr>
      <p:grpSpPr/>
      <p:sp>
        <p:nvSpPr>
          <p:cNvPr id="2" name="Rectangle 1"/>
          <p:cNvSpPr/>
          <p:nvPr/>
        </p:nvSpPr>
        <p:spPr>
          <a:xfrm>
            <a:off x="0" y="0"/>
            <a:ext cx="12188952" cy="91440"/>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0" y="731520"/>
            <a:ext cx="3200400" cy="4572000"/>
          </a:xfrm>
          <a:prstGeom prst="rect">
            <a:avLst/>
          </a:prstGeom>
          <a:noFill/>
        </p:spPr>
        <p:txBody>
          <a:bodyPr wrap="square">
            <a:spAutoFit/>
          </a:bodyPr>
          <a:lstStyle/>
          <a:p>
            <a:pPr algn="r"/>
            <a:r>
              <a:rPr sz="20000" b="1">
                <a:solidFill>
                  <a:srgbClr val="252545"/>
                </a:solidFill>
                <a:latin typeface="Calibri"/>
              </a:rPr>
              <a:t>5</a:t>
            </a:r>
          </a:p>
        </p:txBody>
      </p:sp>
      <p:sp>
        <p:nvSpPr>
          <p:cNvPr id="4" name="TextBox 3"/>
          <p:cNvSpPr txBox="1"/>
          <p:nvPr/>
        </p:nvSpPr>
        <p:spPr>
          <a:xfrm>
            <a:off x="548640" y="2011680"/>
            <a:ext cx="5486400" cy="457200"/>
          </a:xfrm>
          <a:prstGeom prst="rect">
            <a:avLst/>
          </a:prstGeom>
          <a:noFill/>
        </p:spPr>
        <p:txBody>
          <a:bodyPr wrap="square">
            <a:spAutoFit/>
          </a:bodyPr>
          <a:lstStyle/>
          <a:p>
            <a:pPr algn="l"/>
            <a:r>
              <a:rPr sz="1300" b="1">
                <a:solidFill>
                  <a:srgbClr val="E94E4E"/>
                </a:solidFill>
                <a:latin typeface="Calibri"/>
              </a:rPr>
              <a:t>SECCIÓN</a:t>
            </a:r>
          </a:p>
        </p:txBody>
      </p:sp>
      <p:sp>
        <p:nvSpPr>
          <p:cNvPr id="5" name="TextBox 4"/>
          <p:cNvSpPr txBox="1"/>
          <p:nvPr/>
        </p:nvSpPr>
        <p:spPr>
          <a:xfrm>
            <a:off x="548640" y="2468880"/>
            <a:ext cx="8229600" cy="1645920"/>
          </a:xfrm>
          <a:prstGeom prst="rect">
            <a:avLst/>
          </a:prstGeom>
          <a:noFill/>
        </p:spPr>
        <p:txBody>
          <a:bodyPr wrap="square">
            <a:spAutoFit/>
          </a:bodyPr>
          <a:lstStyle/>
          <a:p>
            <a:pPr algn="l"/>
            <a:r>
              <a:rPr sz="4000" b="1">
                <a:solidFill>
                  <a:srgbClr val="FFFFFF"/>
                </a:solidFill>
                <a:latin typeface="Calibri"/>
              </a:rPr>
              <a:t>Conclusiones y aprendizajes</a:t>
            </a:r>
          </a:p>
        </p:txBody>
      </p:sp>
      <p:sp>
        <p:nvSpPr>
          <p:cNvPr id="6" name="TextBox 5"/>
          <p:cNvSpPr txBox="1"/>
          <p:nvPr/>
        </p:nvSpPr>
        <p:spPr>
          <a:xfrm>
            <a:off x="548640" y="4206240"/>
            <a:ext cx="8229600" cy="731520"/>
          </a:xfrm>
          <a:prstGeom prst="rect">
            <a:avLst/>
          </a:prstGeom>
          <a:noFill/>
        </p:spPr>
        <p:txBody>
          <a:bodyPr wrap="square">
            <a:spAutoFit/>
          </a:bodyPr>
          <a:lstStyle/>
          <a:p>
            <a:pPr algn="l"/>
            <a:r>
              <a:rPr sz="2000" b="0">
                <a:solidFill>
                  <a:srgbClr val="B8C0CC"/>
                </a:solidFill>
                <a:latin typeface="Calibri"/>
              </a:rPr>
              <a:t>Qué nos enseña el caso Carding Forums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Resumen ejecutivo</a:t>
            </a:r>
          </a:p>
        </p:txBody>
      </p:sp>
      <p:sp>
        <p:nvSpPr>
          <p:cNvPr id="4" name="TextBox 3"/>
          <p:cNvSpPr txBox="1"/>
          <p:nvPr/>
        </p:nvSpPr>
        <p:spPr>
          <a:xfrm>
            <a:off x="548640" y="1371600"/>
            <a:ext cx="5120640" cy="457200"/>
          </a:xfrm>
          <a:prstGeom prst="rect">
            <a:avLst/>
          </a:prstGeom>
          <a:noFill/>
        </p:spPr>
        <p:txBody>
          <a:bodyPr wrap="square">
            <a:spAutoFit/>
          </a:bodyPr>
          <a:lstStyle/>
          <a:p>
            <a:pPr algn="l"/>
            <a:r>
              <a:rPr sz="1800" b="1">
                <a:solidFill>
                  <a:srgbClr val="E94E4E"/>
                </a:solidFill>
                <a:latin typeface="Calibri"/>
              </a:rPr>
              <a:t>Hallazgos técnicos</a:t>
            </a:r>
          </a:p>
        </p:txBody>
      </p:sp>
      <p:sp>
        <p:nvSpPr>
          <p:cNvPr id="5" name="TextBox 4"/>
          <p:cNvSpPr txBox="1"/>
          <p:nvPr/>
        </p:nvSpPr>
        <p:spPr>
          <a:xfrm>
            <a:off x="548640" y="1920240"/>
            <a:ext cx="5120640" cy="4572000"/>
          </a:xfrm>
          <a:prstGeom prst="rect">
            <a:avLst/>
          </a:prstGeom>
          <a:noFill/>
        </p:spPr>
        <p:txBody>
          <a:bodyPr wrap="square">
            <a:spAutoFit/>
          </a:bodyPr>
          <a:lstStyle/>
          <a:p>
            <a:r>
              <a:rPr sz="1800">
                <a:solidFill>
                  <a:srgbClr val="B8C0CC"/>
                </a:solidFill>
                <a:latin typeface="Calibri"/>
              </a:rPr>
              <a:t>▸  Un dump duplicado bajo dos nombres distintos — verificar contenido, no solo el nombre del archivo</a:t>
            </a:r>
          </a:p>
          <a:p>
            <a:r>
              <a:rPr sz="1800">
                <a:solidFill>
                  <a:srgbClr val="B8C0CC"/>
                </a:solidFill>
                <a:latin typeface="Calibri"/>
              </a:rPr>
              <a:t>▸  Un formato flat file escondido entre dumps SQL — el auto-detect de parser es imprescindible</a:t>
            </a:r>
          </a:p>
          <a:p>
            <a:r>
              <a:rPr sz="1800">
                <a:solidFill>
                  <a:srgbClr val="B8C0CC"/>
                </a:solidFill>
                <a:latin typeface="Calibri"/>
              </a:rPr>
              <a:t>▸  178K registros con timestamp inválido — el patrón epoch-0 aparece en todos los casos del curso</a:t>
            </a:r>
          </a:p>
          <a:p>
            <a:r>
              <a:rPr sz="1800">
                <a:solidFill>
                  <a:srgbClr val="B8C0CC"/>
                </a:solidFill>
                <a:latin typeface="Calibri"/>
              </a:rPr>
              <a:t>▸  11,113 usuarios en la componente gigante de la red, 21 comunidades vía Louvain</a:t>
            </a:r>
          </a:p>
          <a:p>
            <a:r>
              <a:rPr sz="1800">
                <a:solidFill>
                  <a:srgbClr val="B8C0CC"/>
                </a:solidFill>
                <a:latin typeface="Calibri"/>
              </a:rPr>
              <a:t>▸  9,550 usuarios embebidos con qwen3-embedding para clustering semántico</a:t>
            </a:r>
          </a:p>
        </p:txBody>
      </p:sp>
      <p:sp>
        <p:nvSpPr>
          <p:cNvPr id="6" name="TextBox 5"/>
          <p:cNvSpPr txBox="1"/>
          <p:nvPr/>
        </p:nvSpPr>
        <p:spPr>
          <a:xfrm>
            <a:off x="6492240" y="1371600"/>
            <a:ext cx="5120640" cy="457200"/>
          </a:xfrm>
          <a:prstGeom prst="rect">
            <a:avLst/>
          </a:prstGeom>
          <a:noFill/>
        </p:spPr>
        <p:txBody>
          <a:bodyPr wrap="square">
            <a:spAutoFit/>
          </a:bodyPr>
          <a:lstStyle/>
          <a:p>
            <a:pPr algn="l"/>
            <a:r>
              <a:rPr sz="1800" b="1">
                <a:solidFill>
                  <a:srgbClr val="E94E4E"/>
                </a:solidFill>
                <a:latin typeface="Calibri"/>
              </a:rPr>
              <a:t>Aprendizajes metodológicos</a:t>
            </a:r>
          </a:p>
        </p:txBody>
      </p:sp>
      <p:sp>
        <p:nvSpPr>
          <p:cNvPr id="7" name="TextBox 6"/>
          <p:cNvSpPr txBox="1"/>
          <p:nvPr/>
        </p:nvSpPr>
        <p:spPr>
          <a:xfrm>
            <a:off x="6492240" y="1920240"/>
            <a:ext cx="5120640" cy="4572000"/>
          </a:xfrm>
          <a:prstGeom prst="rect">
            <a:avLst/>
          </a:prstGeom>
          <a:noFill/>
        </p:spPr>
        <p:txBody>
          <a:bodyPr wrap="square">
            <a:spAutoFit/>
          </a:bodyPr>
          <a:lstStyle/>
          <a:p>
            <a:r>
              <a:rPr sz="1800">
                <a:solidFill>
                  <a:srgbClr val="B8C0CC"/>
                </a:solidFill>
                <a:latin typeface="Calibri"/>
              </a:rPr>
              <a:t>▸  load_forum() con auto-detección de formato es la única forma segura de procesar un lote heterogéneo</a:t>
            </a:r>
          </a:p>
          <a:p>
            <a:r>
              <a:rPr sz="1800">
                <a:solidFill>
                  <a:srgbClr val="B8C0CC"/>
                </a:solidFill>
                <a:latin typeface="Calibri"/>
              </a:rPr>
              <a:t>▸  Validar rango de fechas y deduplicar antes de cualquier análisis temporal o de red</a:t>
            </a:r>
          </a:p>
          <a:p>
            <a:r>
              <a:rPr sz="1800">
                <a:solidFill>
                  <a:srgbClr val="B8C0CC"/>
                </a:solidFill>
                <a:latin typeface="Calibri"/>
              </a:rPr>
              <a:t>▸  Un contador de actividad del sistema origen no sustituye contar directamente sobre los datos limpios</a:t>
            </a:r>
          </a:p>
          <a:p>
            <a:r>
              <a:rPr sz="1800">
                <a:solidFill>
                  <a:srgbClr val="B8C0CC"/>
                </a:solidFill>
                <a:latin typeface="Calibri"/>
              </a:rPr>
              <a:t>▸  El LLM local puede perfilar roles, pero la confianza reportada depende de la calidad del input</a:t>
            </a:r>
          </a:p>
          <a:p>
            <a:r>
              <a:rPr sz="1800">
                <a:solidFill>
                  <a:srgbClr val="B8C0CC"/>
                </a:solidFill>
                <a:latin typeface="Calibri"/>
              </a:rPr>
              <a:t>▸  Todo el pipeline corre sin mandar un solo post a una API externa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548640" y="1097280"/>
            <a:ext cx="10515600" cy="27432"/>
          </a:xfrm>
          <a:prstGeom prst="rect">
            <a:avLst/>
          </a:prstGeom>
          <a:solidFill>
            <a:srgbClr val="E94E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064240" cy="822960"/>
          </a:xfrm>
          <a:prstGeom prst="rect">
            <a:avLst/>
          </a:prstGeom>
          <a:noFill/>
        </p:spPr>
        <p:txBody>
          <a:bodyPr wrap="square">
            <a:spAutoFit/>
          </a:bodyPr>
          <a:lstStyle/>
          <a:p>
            <a:pPr algn="l"/>
            <a:r>
              <a:rPr sz="3200" b="1">
                <a:solidFill>
                  <a:srgbClr val="FFFFFF"/>
                </a:solidFill>
                <a:latin typeface="Calibri"/>
              </a:rPr>
              <a:t>¿Por qué este caso importa?</a:t>
            </a:r>
          </a:p>
        </p:txBody>
      </p:sp>
      <p:sp>
        <p:nvSpPr>
          <p:cNvPr id="4" name="TextBox 3"/>
          <p:cNvSpPr txBox="1"/>
          <p:nvPr/>
        </p:nvSpPr>
        <p:spPr>
          <a:xfrm>
            <a:off x="548640" y="1371600"/>
            <a:ext cx="11064240" cy="5029200"/>
          </a:xfrm>
          <a:prstGeom prst="rect">
            <a:avLst/>
          </a:prstGeom>
          <a:noFill/>
        </p:spPr>
        <p:txBody>
          <a:bodyPr wrap="square">
            <a:spAutoFit/>
          </a:bodyPr>
          <a:lstStyle/>
          <a:p>
            <a:pPr algn="l" marL="0" indent="-228600"/>
            <a:r>
              <a:rPr sz="2000" b="0">
                <a:solidFill>
                  <a:srgbClr val="B8C0CC"/>
                </a:solidFill>
                <a:latin typeface="Calibri"/>
              </a:rPr>
              <a:t>▸  Es el caso más grande en volumen de usuarios del curso — pone a prueba el pipeline a escala</a:t>
            </a:r>
          </a:p>
          <a:p>
            <a:pPr algn="l" marL="0" indent="-228600"/>
            <a:r>
              <a:rPr sz="2000" b="0">
                <a:solidFill>
                  <a:srgbClr val="B8C0CC"/>
                </a:solidFill>
                <a:latin typeface="Calibri"/>
              </a:rPr>
              <a:t>▸  Combina los tres formatos vistos en el curso: vBulletin estándar, vBulletin con encoding no-UTF8, flat file</a:t>
            </a:r>
          </a:p>
          <a:p>
            <a:pPr algn="l" marL="0" indent="-228600"/>
            <a:r>
              <a:rPr sz="2000" b="0">
                <a:solidFill>
                  <a:srgbClr val="B8C0CC"/>
                </a:solidFill>
                <a:latin typeface="Calibri"/>
              </a:rPr>
              <a:t>▸  Demuestra que la ingeniería de datos (deduplicar, validar, auto-detectar formato) determina la calidad de todo lo que viene después</a:t>
            </a:r>
          </a:p>
          <a:p>
            <a:pPr algn="l" marL="0" indent="-228600"/>
            <a:r>
              <a:rPr sz="2000" b="0">
                <a:solidFill>
                  <a:srgbClr val="B8C0CC"/>
                </a:solidFill>
                <a:latin typeface="Calibri"/>
              </a:rPr>
              <a:t>▸  El perfilado de roles con LLM local muestra tanto el potencial como los límites de inferir comportamiento desde metadatos incompletos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