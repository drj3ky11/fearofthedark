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— bloque de setup</a:t>
            </a:r>
          </a:p>
          <a:p>
            <a:r>
              <a:t>45 min: no repasamos el ciclo de análisis, eso ya se vio</a:t>
            </a:r>
          </a:p>
          <a:p>
            <a:r>
              <a:t>Objetivo: instalar el entorno y entender qué es cada pieza</a:t>
            </a:r>
          </a:p>
          <a:p>
            <a:r>
              <a:t>→ uv, Ollama, modelos, stack de librerías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Primera pieza: uv</a:t>
            </a:r>
          </a:p>
          <a:p>
            <a:r>
              <a:t>Sin cajas negras</a:t>
            </a:r>
          </a:p>
          <a:p>
            <a:r>
              <a:t>→ nada de Docker ni configs ocultas</a:t>
            </a:r>
          </a:p>
          <a:p>
            <a:r>
              <a:t>Todo inspeccionable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pip+venv: frágil al mezclar entornos</a:t>
            </a:r>
          </a:p>
          <a:p>
            <a:r>
              <a:t>uv reemplaza 3 herramientas en 1, rápido (Rust)</a:t>
            </a:r>
          </a:p>
          <a:p>
            <a:r>
              <a:t>→ esta parte es corta a propósito, ya se explicó por qué usarlo</a:t>
            </a:r>
          </a:p>
          <a:p>
            <a:r>
              <a:t>Más tiempo a los comandos concretos, que es lo que van a teclear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Estos son los comandos que de verdad van a teclear</a:t>
            </a:r>
          </a:p>
          <a:p>
            <a:r>
              <a:t>uv sync y uv run cubren casi todo el curso</a:t>
            </a:r>
          </a:p>
          <a:p>
            <a:r>
              <a:t>uv add solo si quieren instalar algo propio</a:t>
            </a:r>
          </a:p>
          <a:p>
            <a:r>
              <a:t>→ tabla de referencia, no hace falta memorizarla ahora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comandos, literalmente los únicos</a:t>
            </a:r>
          </a:p>
          <a:p>
            <a:r>
              <a:t>Clonar → uv sync → Jupyter</a:t>
            </a:r>
          </a:p>
          <a:p>
            <a:r>
              <a:t>Sin git: ZIP desde GitHub, copiar data/ y results/ aparte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Segunda pieza: Ollama</a:t>
            </a:r>
          </a:p>
          <a:p>
            <a:r>
              <a:t>Qué es, para qué sirve, por qué es obligatorio con estos datos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Ollama = LLM en local, sin mandar datos afuera</a:t>
            </a:r>
          </a:p>
          <a:p>
            <a:r>
              <a:t>Servidor en localhost:11434, cliente Python normal</a:t>
            </a:r>
          </a:p>
          <a:p>
            <a:r>
              <a:t>→ es lo que hace viable trabajar con leaks sensibles</a:t>
            </a:r>
          </a:p>
          <a:p>
            <a:r>
              <a:t>No es un detalle técnico, es la premisa ética del curso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Ollama no sale de la nada: usa llama.cpp por debajo en gran parte</a:t>
            </a:r>
          </a:p>
          <a:p>
            <a:r>
              <a:t>llama.cpp es la alternativa "cruda": misma inferencia, sin la capa cómoda encima</a:t>
            </a:r>
          </a:p>
          <a:p>
            <a:r>
              <a:t>→ que cada uno sepa que existe la opción y por qué elegimos la otra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Tabla para que cada uno decida con su propio proyecto en mente</a:t>
            </a:r>
          </a:p>
          <a:p>
            <a:r>
              <a:t>llama.cpp gana un poco en rendimiento puro y control fino</a:t>
            </a:r>
          </a:p>
          <a:p>
            <a:r>
              <a:t>→ mi recomendación personal: Ollama. La comodidad vale la pena, la diferencia de eficiencia es mínima para lo que hacemos aquí</a:t>
            </a:r>
          </a:p>
          <a:p>
            <a:r>
              <a:t>En este curso usamos Ollama por eso, pero el conocimiento de llama.cpp no sobra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modelos, dos propósitos, no se solapan</a:t>
            </a:r>
          </a:p>
          <a:p>
            <a:r>
              <a:t>qwen3-embedding: vectores. qwen2.5:14b: texto→texto</a:t>
            </a:r>
          </a:p>
          <a:p>
            <a:r>
              <a:t>→ ~9GB entre los dos, descargar la noche antes</a:t>
            </a:r>
          </a:p>
          <a:p>
            <a:r>
              <a:t>ollama pull &lt;modelo&gt; — mostrar y cortar con Ctrl+C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Aclarar la confusión más común: Ollama en sí (servidor + CLI propia) no se instala con pip, se instala aparte (curl install.sh); el paquete 'ollama' de pip es solo el cliente Python que habla con ese servidor</a:t>
            </a:r>
          </a:p>
          <a:p>
            <a:r>
              <a:t>Dos formas de usarlo: código (librería ollama) o terminal (CLI llm, paquete distinto)</a:t>
            </a:r>
          </a:p>
          <a:p>
            <a:r>
              <a:t>src/embeddings.py y src/utils.py son los puntos de entrada en código</a:t>
            </a:r>
          </a:p>
          <a:p>
            <a:r>
              <a:t>→ llm CLI para tareas ad-hoc, ver ollama_llm_cli.md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Además de qué modelo usar, se puede ajustar CÓMO genera cada llamada</a:t>
            </a:r>
          </a:p>
          <a:p>
            <a:r>
              <a:t>options es un diccionario que va en la misma llamada a chat/generate</a:t>
            </a:r>
          </a:p>
          <a:p>
            <a:r>
              <a:t>No toca el modelo en disco, es por request</a:t>
            </a:r>
          </a:p>
          <a:p>
            <a:r>
              <a:t>→ el que más importa si van a encadenar mensajes largos o RAG: num_ctx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Tabla de referencia, la que más van a usar es num_ctx y temperature</a:t>
            </a:r>
          </a:p>
          <a:p>
            <a:r>
              <a:t>num_ctx: cuánto "recuerda" de la conversación o del documento que le pasás</a:t>
            </a:r>
          </a:p>
          <a:p>
            <a:r>
              <a:t>temperature: cuánto se la juega el modelo al elegir la siguiente palabra</a:t>
            </a:r>
          </a:p>
          <a:p>
            <a:r>
              <a:t>→ el resto se toca poco y casi siempre junto con estas 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default de qwen2.5:14b es 4096 tokens — se ve con 'ollama ps' mientras corre</a:t>
            </a:r>
          </a:p>
          <a:p>
            <a:r>
              <a:t>Si tu agente arrastra un historial largo o metés varios documentos de contexto (RAG), 4096 se queda corto y el modelo empieza a "olvidar" el principio de la conversación sin ningún error visible</a:t>
            </a:r>
          </a:p>
          <a:p>
            <a:r>
              <a:t>Subirlo a 8192 o más soluciona eso, pero pide más VRAM — se ve reflejado en 'ollama ps' (SIZE sube junto con CONTEXT)</a:t>
            </a:r>
          </a:p>
          <a:p>
            <a:r>
              <a:t>→ mi compañero que va a trabajar con LLM generativo (agentes, Bloque 4): este es el parámetro que más les va a importar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Tercera pieza, la más conceptual: qué es cada tipo de modelo</a:t>
            </a:r>
          </a:p>
          <a:p>
            <a:r>
              <a:t>Esto les sirve para elegir modelos por su cuenta, no solo usar los del curso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Embedding = huella numérica del significado, no el texto en sí</a:t>
            </a:r>
          </a:p>
          <a:p>
            <a:r>
              <a:t>No entienden todavía cómo se calcula, y no hace falta</a:t>
            </a:r>
          </a:p>
          <a:p>
            <a:r>
              <a:t>→ lo único importante: sirve para MEDIR parecido, no para escribir</a:t>
            </a:r>
          </a:p>
          <a:p>
            <a:r>
              <a:t>Siempre el mismo tamaño de vector (4096), un post de una línea o de un párrafo entero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Panel izquierdo: un ejemplo concreto, texto entra, vector sale</a:t>
            </a:r>
          </a:p>
          <a:p>
            <a:r>
              <a:t>Panel derecho: por eso sirve para clustering — lo parecido queda junto</a:t>
            </a:r>
          </a:p>
          <a:p>
            <a:r>
              <a:t>→ el post 'random' queda lejos de ambos grupos, ejemplo de outlier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Generativo = escribe. Embedding = mide. No son lo mismo ni intercambiables</a:t>
            </a:r>
          </a:p>
          <a:p>
            <a:r>
              <a:t>qwen2.5:14b es generativo, qwen3-embedding no lo es</a:t>
            </a:r>
          </a:p>
          <a:p>
            <a:r>
              <a:t>→ por eso el curso usa los dos, para tareas distintas</a:t>
            </a:r>
          </a:p>
          <a:p>
            <a:r>
              <a:t>Ojo con la idea de que genera 'de una', va palabra por palabra — siguiente slide lo muestra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 ES lo que la gente suele imaginar como 'los pasos' del modelo</a:t>
            </a:r>
          </a:p>
          <a:p>
            <a:r>
              <a:t>Pasada 1: 'El mar es' entra completo → sale 'vasto'</a:t>
            </a:r>
          </a:p>
          <a:p>
            <a:r>
              <a:t>Pasada 2: 'El mar es vasto' entra completo (con la palabra nueva ya puesta) → sale 'y'</a:t>
            </a:r>
          </a:p>
          <a:p>
            <a:r>
              <a:t>→ tantas pasadas completas como palabras genera, no una por parámetro</a:t>
            </a:r>
          </a:p>
          <a:p>
            <a:r>
              <a:t>Esto es autorregresivo: la salida de un paso es parte de la entrada del siguiente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Confusión MUY habitual, vale la pena pararse acá</a:t>
            </a:r>
          </a:p>
          <a:p>
            <a:r>
              <a:t>'14B parámetros' no significa '14 mil millones de pasos' — son 14 mil millones de números fijos, aprendidos una vez en el entrenamiento</a:t>
            </a:r>
          </a:p>
          <a:p>
            <a:r>
              <a:t>→ pensarlo como el tamaño del cerebro (cuánto sabe, cuánta capacidad), no como cuánto tarda o cuántas veces itera</a:t>
            </a:r>
          </a:p>
          <a:p>
            <a:r>
              <a:t>Lo iterativo de verdad es la diapositiva anterior: una pasada completa por TODO el modelo, por cada palabra generada</a:t>
            </a:r>
          </a:p>
          <a:p>
            <a:r>
              <a:t>Más parámetros = más capacidad para representar matices, pero no más 'pasos' por generación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Mismo modelo, tres precisiones distintas, mira el tamaño</a:t>
            </a:r>
          </a:p>
          <a:p>
            <a:r>
              <a:t>FP16: máxima precisión, 30GB. Q4: el que usamos, menos de 9GB</a:t>
            </a:r>
          </a:p>
          <a:p>
            <a:r>
              <a:t>→ la pérdida de calidad es pequeña para lo que hacemos aquí</a:t>
            </a:r>
          </a:p>
          <a:p>
            <a:r>
              <a:t>Por eso qwen2.5:14b Q4 cabe en un portátil normal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Ahora que ya vimos qué es un parámetro, cuantizar es más concreto: no se tocan CUÁNTOS parámetros hay, se toca CUÁNTA precisión tiene cada uno</a:t>
            </a:r>
          </a:p>
          <a:p>
            <a:r>
              <a:t>FP16 = 16 bits por parámetro, Q4 = ~4 bits por parámetro → por eso el tamaño baja a una fracción</a:t>
            </a:r>
          </a:p>
          <a:p>
            <a:r>
              <a:t>→ Q4_K_M: Q4 = 4 bits, K = agrupa en bloques y reparte bits de forma más inteligente, M = variante 'medium' del reparto (hay S y L también)</a:t>
            </a:r>
          </a:p>
          <a:p>
            <a:r>
              <a:t>Esto se ve en detalle con datos reales en el notebook, sección de cuantización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decisión no es "el modelo más grande posible"</a:t>
            </a:r>
          </a:p>
          <a:p>
            <a:r>
              <a:t>Es equilibrio: ¿tu hardware aguanta? ¿de verdad necesitas ese tamaño?</a:t>
            </a:r>
          </a:p>
          <a:p>
            <a:r>
              <a:t>→ en el curso ya elegimos ese equilibrio por ustedes (qwen2.5:14b Q4)</a:t>
            </a:r>
          </a:p>
          <a:p>
            <a:r>
              <a:t>Para sus propios proyectos, el criterio es el mismo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Hugging Face es el catálogo — miles de modelos, filtrar por formato GGUF</a:t>
            </a:r>
          </a:p>
          <a:p>
            <a:r>
              <a:t>ollama pull hf.co/usuario/modelo trae el modelo directo, sin descargarlo a mano</a:t>
            </a:r>
          </a:p>
          <a:p>
            <a:r>
              <a:t>→ AQUÍ puedo parar la presentación y navegar Hugging Face en vivo</a:t>
            </a:r>
          </a:p>
          <a:p>
            <a:r>
              <a:t>Buscar un modelo que pida el aula y traerlo con este mismo comando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hf.co/&lt;repo&gt; funciona igual que el nombre de un modelo de la librería oficial</a:t>
            </a:r>
          </a:p>
          <a:p>
            <a:r>
              <a:t>No hace falta descargar el .gguf a mano ni convertir nada</a:t>
            </a:r>
          </a:p>
          <a:p>
            <a:r>
              <a:t>→ momento para parar y navegar Hugging Face en vivo si el aula lo pide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Cuarta pieza: las librerías</a:t>
            </a:r>
          </a:p>
          <a:p>
            <a:r>
              <a:t>No todas — solo las que no son de uso general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pandas/matplotlib/sklearn ya los conocen, no están aquí</a:t>
            </a:r>
          </a:p>
          <a:p>
            <a:r>
              <a:t>→ cada una resuelve un problema puntual del pipeline</a:t>
            </a:r>
          </a:p>
          <a:p>
            <a:r>
              <a:t>umap-learn es la menos obvia, detenerse ahí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Tranquilizar: no hace falta gama alta</a:t>
            </a:r>
          </a:p>
          <a:p>
            <a:r>
              <a:t>8GB RAM + CPU moderna = suficiente para pandas/networkx</a:t>
            </a:r>
          </a:p>
          <a:p>
            <a:r>
              <a:t>Derecha: solo si embeddings + LLM local</a:t>
            </a:r>
          </a:p>
          <a:p>
            <a:r>
              <a:t>→ sin GPU funciona, más lento, sobre muestra es instantáneo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preguntas frecuentes, respuestas sin vender humo</a:t>
            </a:r>
          </a:p>
          <a:p>
            <a:r>
              <a:t>No API en la nube: datos de personas reales, decídelo tú mismo con lo que sabes del curso</a:t>
            </a:r>
          </a:p>
          <a:p>
            <a:r>
              <a:t>Sin GPU: sí, con muestras pequeñas</a:t>
            </a:r>
          </a:p>
          <a:p>
            <a:r>
              <a:t>Entorno listo → Bloque 4 (agentes) y Bloque 5 (casos prácticos)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image" Target="../media/image3.gif"/><Relationship Id="rId3" Type="http://schemas.openxmlformats.org/officeDocument/2006/relationships/image" Target="../media/image3.gif"/><Relationship Id="rId4" Type="http://schemas.openxmlformats.org/officeDocument/2006/relationships/image" Target="../media/image3.gif"/><Relationship Id="rId5" Type="http://schemas.openxmlformats.org/officeDocument/2006/relationships/slideLayout" Target="../slideLayouts/slideLayout13.xml"/><Relationship Id="rId6" Type="http://schemas.openxmlformats.org/officeDocument/2006/relationships/notesSlide" Target="../notesSlides/notesSlide3.xml"/>
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image" Target="../media/image3.gif"/><Relationship Id="rId3" Type="http://schemas.openxmlformats.org/officeDocument/2006/relationships/image" Target="../media/image3.gif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7.xml"/>
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Setup del entorno y herramientas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uv + Ollama + el stack de análisis — instalado y entendido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Bloque 3 · 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Gestión de dependencias con uv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Sin magia, simple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400" cy="52200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¿Por qué uv?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hasCustomPrompt="1"/>
          </p:nvPr>
        </p:nvSpPr>
        <p:spPr>
          <a:xfrm>
            <a:off x="1073520" y="1711800"/>
            <a:ext cx="10084320" cy="38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1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Reemplaza pip, venv y poetry en un solo comando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2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Reproducible en cualquier máquina con Python 3.12+, sin configuración extra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3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Objetivo: cualquier alumno replica el entorno en 10 minutos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4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Es lo que se está acogiendo como estándar en la comunidad de desarrollo IA.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Comandos básicos de uv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783080"/>
          <a:ext cx="1005840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Comando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Qué hace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uv sync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Instala/actualiza todas las dependencias del pyproject.toml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uv run &lt;comando&gt;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Ejecuta algo dentro del entorno gestionado, sin activar nada a mano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uv add &lt;paquete&gt;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Añade una dependencia nueva y actualiza el pyproject.toml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uv python pin 3.12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Fija la versión de Python del proyecto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uv pip list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Lista los paquetes instalados en el entorno actual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Estos 5 son el 95% de lo que se usa a lo largo del curso.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400" cy="52200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Instalación paso a paso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hasCustomPrompt="1"/>
          </p:nvPr>
        </p:nvSpPr>
        <p:spPr>
          <a:xfrm>
            <a:off x="1073520" y="1574640"/>
            <a:ext cx="10084320" cy="4009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buNone/>
              <a:tabLst>
                <a:tab pos="0" algn="l"/>
              </a:tabLst>
            </a:pPr>
            <a:endParaRPr lang="es-ES" sz="24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"/>
          <p:cNvSpPr/>
          <p:nvPr/>
        </p:nvSpPr>
        <p:spPr>
          <a:xfrm>
            <a:off x="1051560" y="1828800"/>
            <a:ext cx="1005768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Desde cero hasta el notebook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corriendo: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ectangle 4"/>
          <p:cNvSpPr/>
          <p:nvPr/>
        </p:nvSpPr>
        <p:spPr>
          <a:xfrm>
            <a:off x="1005840" y="2377440"/>
            <a:ext cx="10149120" cy="34282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s-E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5"/>
          <p:cNvSpPr/>
          <p:nvPr/>
        </p:nvSpPr>
        <p:spPr>
          <a:xfrm>
            <a:off x="1188720" y="2514600"/>
            <a:ext cx="6406560" cy="17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# 1. Clonar el repositorio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git clone &lt;repo-url&gt; &amp;&amp; cd </a:t>
            </a: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&lt;carpeta&gt;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# 2. Instalar dependencias </a:t>
            </a: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Python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uv sync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# 3. Arrancar Jupyter dentro </a:t>
            </a: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del entorno gestionado por uv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400" b="0" u="none" strike="noStrike">
                <a:solidFill>
                  <a:srgbClr val="A8FF78"/>
                </a:solidFill>
                <a:effectLst/>
                <a:uFillTx/>
                <a:latin typeface="Consolas"/>
              </a:rPr>
              <a:t>uv run jupyter notebook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6"/>
          <p:cNvSpPr/>
          <p:nvPr/>
        </p:nvSpPr>
        <p:spPr>
          <a:xfrm>
            <a:off x="1051560" y="5760720"/>
            <a:ext cx="10057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ℹ  Sin git (aulas con solo navegador): descargar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el repo como ZIP desde GitHub.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Ollama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El LLM que corre en tu máquina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400" cy="52200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¿Qué es Ollama?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hasCustomPrompt="1"/>
          </p:nvPr>
        </p:nvSpPr>
        <p:spPr>
          <a:xfrm>
            <a:off x="1073520" y="1711800"/>
            <a:ext cx="10084320" cy="38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1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Runtime que corre LLMs directamente en tu máquina, sin API externa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2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Expone un servidor local en http://localhost:11434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3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Razón de ser del curso: un leak sensible no debe pasar por infraestructura de terceros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Ollama no es la única opción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llama.cpp: el motor de inferencia sobre el que se apoya buena parte del ecosistema</a:t>
            </a:r>
          </a:p>
          <a:p>
            <a:r>
              <a:t>Más control de bajo nivel, pero también más configuración manual</a:t>
            </a:r>
          </a:p>
          <a:p>
            <a:r>
              <a:t>Vale la pena conocerlo — cada uno elige según lo que necesite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Ollama vs. llama.cpp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783080"/>
          <a:ext cx="1005840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Aspecto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Ollama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llama.cpp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Instalación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Un instalador, listo en un comando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Compilar desde fuente o binarios sueltos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Gestión de modelos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Automática (ollama pull)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Manual: tú descargas y colocas los .gguf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Interfaz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Servidor REST + CLI simple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CLI de bajo nivel, más flags a mano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Rendimiento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Muy cercano al máximo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Ligeramente superior, afinado a mano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Curva de aprendizaje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Baja — apto para todo el aula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Alta — requiere más experiencia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Uso desde Python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Librería oficial ollama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Bindings menos maduros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Recomendación del instructor: Ollama — la comodidad casi no cuesta eficiencia.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Nuestros dos modelos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828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qwen3-embedding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Texto → vector numérico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Clustering y estilometría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Correlación cross-foro (Bloque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82880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qwen2.5:14b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286000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LLM generativo, no embeddings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NER y clasificación de posts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Perfilado de roles (Bloque 2)</a:t>
            </a:r>
          </a:p>
        </p:txBody>
      </p:sp>
      <p:pic>
        <p:nvPicPr>
          <p:cNvPr id="8" name="Picture 7" descr="two_models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429000"/>
            <a:ext cx="9601200" cy="250466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Cómo se usa desde Python y desde terminal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Ollama NO es un paquete de Python — es una aplicación aparte (servidor + su propia CLI: ollama pull, ollama run...)</a:t>
            </a:r>
          </a:p>
          <a:p>
            <a:r>
              <a:t>Librería ollama: SÍ es un paquete (pip/uv), el cliente que habla con ese servidor desde código — ollama.chat(...), ollama.embed(...)</a:t>
            </a:r>
          </a:p>
          <a:p>
            <a:r>
              <a:t>Usado en src/embeddings.py y src/utils.py a lo largo de todo el curso</a:t>
            </a:r>
          </a:p>
          <a:p>
            <a:r>
              <a:t>Para limpieza puntual sin código: CLI llm (paquete aparte) + su plugin de Ollama</a:t>
            </a:r>
          </a:p>
        </p:txBody>
      </p:sp>
      <p:pic>
        <p:nvPicPr>
          <p:cNvPr id="4" name="Picture 3" descr="ollama_access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3400"/>
            <a:ext cx="10515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Ajustar el modelo: el diccionario options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ollama.chat(...) y ollama.generate(...) aceptan options={...} — hiperparámetros de inferencia</a:t>
            </a:r>
          </a:p>
          <a:p>
            <a:r>
              <a:t>Se aplican por llamada: no cambian el modelo descargado, no hay que rebajarlo ni recargarlo</a:t>
            </a:r>
          </a:p>
          <a:p>
            <a:r>
              <a:t>El más importante para quien va a montar agentes o RAG (Bloque 4): num_ctx, el contexto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Parámetros más usados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783080"/>
          <a:ext cx="1005840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Parámetro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Qué controla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Por defecto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Cuándo tocarlo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num_ctx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Ventana de contexto: tokens que el modelo "ve" a la vez (prompt + historial + salida)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4096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Conversaciones largas, RAG con varios documentos, agentes con historial extenso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temperature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Aleatoriedad de la generación (0 = determinista, 1+ = creativo)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Bajar para extracción/clasificación consistente; subir para texto creativo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top_p / top_k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Recortan el conjunto de tokens candidatos antes de muestrear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0.9 / 40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Ajuste fino junto con temperature, casi nunca solos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num_predict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Máximo de tokens a generar en la respuesta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-1 (sin límite)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Acotar respuestas largas o limitar tiempo de cómputo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repeat_penalty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Penaliza repetir las mismas palabras o frases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Si el modelo entra en bucle repitiendo texto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seed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Fija la semilla aleatoria de muestreo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aleatoria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Reproducibilidad en tests o demos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Referencia — no hace falta memorizarla, se busca cuando hace falta.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num_ctx en la práctica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8288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65461"/>
                </a:solidFill>
                <a:latin typeface="Arial"/>
              </a:rPr>
              <a:t>Si el historial (o los documentos en RAG) supera la ventana de contexto, Ollama descarta lo más viejo sin avisar: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377440"/>
            <a:ext cx="10149840" cy="3429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514600"/>
            <a:ext cx="9784080" cy="3154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8FF78"/>
                </a:solidFill>
                <a:latin typeface="Consolas"/>
              </a:rPr>
              <a:t>respuesta = ollama.chat(
    model="qwen2.5:14b",
    messages=historial_largo,
    options={"num_ctx": 8192},   # default: 4096
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7888"/>
                </a:solidFill>
                <a:latin typeface="Arial"/>
              </a:rPr>
              <a:t>ℹ  Subir num_ctx consume más RAM/VRAM — el modelo se recarga con la ventana nueva.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Entendiendo los modelos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Embeddings, generativos y cuantización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es un embedding?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1711816"/>
            <a:ext cx="10084904" cy="3873058"/>
          </a:xfrm>
        </p:spPr>
        <p:txBody>
          <a:bodyPr wrap="square"/>
          <a:lstStyle/>
          <a:p>
            <a:r>
              <a:t>Convierte un texto en un vector de números que captura su significado</a:t>
            </a:r>
          </a:p>
          <a:p>
            <a:r>
              <a:t>Textos parecidos → vectores cercanos en el espacio</a:t>
            </a:r>
          </a:p>
          <a:p>
            <a:r>
              <a:t>No genera texto: solo lo representa para poder compararlo</a:t>
            </a:r>
          </a:p>
          <a:p>
            <a:r>
              <a:t>qwen3-embedding: cada texto → un vector de 4096 números, sin importar su longitud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De texto a vector, y vectores que se agrupan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pic>
        <p:nvPicPr>
          <p:cNvPr id="4" name="Picture 3" descr="embedding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741" y="2240280"/>
            <a:ext cx="9464037" cy="32918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56235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65461"/>
                </a:solidFill>
                <a:latin typeface="Arial"/>
              </a:rPr>
              <a:t>Izquierda: un texto se convierte en vector. Derecha: textos similares quedan cerca entre sí.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es un modelo generativo?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Predice el siguiente fragmento de texto, uno detrás de otro</a:t>
            </a:r>
          </a:p>
          <a:p>
            <a:r>
              <a:t>Genera texto nuevo — no solo lo representa como el embedding</a:t>
            </a:r>
          </a:p>
          <a:p>
            <a:r>
              <a:t>Cada palabra nueva es una pasada COMPLETA por el modelo, no un paso parcial</a:t>
            </a:r>
          </a:p>
          <a:p>
            <a:r>
              <a:t>Es lo que usamos para NER, clasificación y resúmenes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Cómo genera texto un modelo, paso a paso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pic>
        <p:nvPicPr>
          <p:cNvPr id="4" name="Picture 3" descr="generation_loo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870" y="2240280"/>
            <a:ext cx="5735780" cy="32918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56235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65461"/>
                </a:solidFill>
                <a:latin typeface="Arial"/>
              </a:rPr>
              <a:t>Cada palabra nueva sale de una pasada completa por las 48 capas del modelo — la palabra se agrega al texto y se vuelve a pasar todo por el modelo para la siguiente.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son los "parámetros" de un modelo?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Los parámetros son los pesos numéricos que el modelo aprendió entrenando — NO son pasos ni iteraciones</a:t>
            </a:r>
          </a:p>
          <a:p>
            <a:r>
              <a:t>qwen2.5:14b: 14.770.033.664 parámetros, repartidos en 48 capas fijas</a:t>
            </a:r>
          </a:p>
          <a:p>
            <a:r>
              <a:t>En cada pasada (diapositiva anterior), TODOS los parámetros participan a la vez — en paralelo, no uno por uno</a:t>
            </a:r>
          </a:p>
          <a:p>
            <a:r>
              <a:t>Lo que sí avanza paso a paso es la generación: una pasada por las 48 capas, por cada palabra nueva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Cuantización: el mismo modelo, más ligero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pic>
        <p:nvPicPr>
          <p:cNvPr id="4" name="Picture 3" descr="quantiz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847" y="2240280"/>
            <a:ext cx="7445826" cy="32918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56235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65461"/>
                </a:solidFill>
                <a:latin typeface="Arial"/>
              </a:rPr>
              <a:t>Cuantizar reduce el tamaño en disco y RAM necesaria, con una pérdida de precisión pequeña.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Cuantización: qué le pasa a cada parámetro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Cada uno de esos 14.770 millones de parámetros normalmente se guarda en FP16: 16 bits (2 bytes) por número</a:t>
            </a:r>
          </a:p>
          <a:p>
            <a:r>
              <a:t>Cuantizar a Q4 = guardar cada parámetro con ~4 bits en vez de 16 — una versión "redondeada" del mismo número</a:t>
            </a:r>
          </a:p>
          <a:p>
            <a:r>
              <a:t>Menos precisión por número × mismos 14.770 millones de números = mismo modelo, mucho menos peso</a:t>
            </a:r>
          </a:p>
          <a:p>
            <a:r>
              <a:t>El nombre "Q4_K_M" que vimos en el notebook describe exactamente ESTA técnica de redondeo por bloques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Qué elegir: potencia vs. cómputo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214736"/>
            <a:ext cx="10084904" cy="3370138"/>
          </a:xfrm>
        </p:spPr>
        <p:txBody>
          <a:bodyPr wrap="square"/>
          <a:lstStyle/>
          <a:p>
            <a:r>
              <a:t>Modelo más grande = más capacidad, pero más RAM/VRAM y más lento</a:t>
            </a:r>
          </a:p>
          <a:p>
            <a:r>
              <a:t>Cuantizar reduce tamaño y velocidad de carga, con pérdida de precisión asumible</a:t>
            </a:r>
          </a:p>
          <a:p>
            <a:r>
              <a:t>Para tus propios proyectos: empieza pequeño, sube solo si de verdad lo necesitas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De Hugging Face a Ollama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pic>
        <p:nvPicPr>
          <p:cNvPr id="4" name="Picture 3" descr="hf_olla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2192" y="1737360"/>
            <a:ext cx="8757136" cy="37947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56235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65461"/>
                </a:solidFill>
                <a:latin typeface="Arial"/>
              </a:rPr>
              <a:t>Buscar un modelo GGUF en Hugging Face y correrlo en Ollama sin pasos intermedios.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Modelos de Hugging Face en Ollama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3317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65461"/>
                </a:solidFill>
                <a:latin typeface="Arial"/>
              </a:rPr>
              <a:t>Cualquier modelo GGUF de Hugging Face, listo con dos comandos: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80360"/>
            <a:ext cx="10149840" cy="2926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017520"/>
            <a:ext cx="978408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8FF78"/>
                </a:solidFill>
                <a:latin typeface="Consolas"/>
              </a:rPr>
              <a:t># Buscar en huggingface.co, filtro: GGUF
# Copiar el identificador, p.ej. usuario/modelo-GGUF
ollama pull hf.co/usuario/modelo-GGUF
ollama run hf.co/usuario/modelo-GGUF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7888"/>
                </a:solidFill>
                <a:latin typeface="Arial"/>
              </a:rPr>
              <a:t>ℹ  Instructor: pausar aquí y buscar en vivo un modelo que pida el aula.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700" b="1">
                <a:solidFill>
                  <a:srgbClr val="CD2D37"/>
                </a:solidFill>
                <a:latin typeface="Arial"/>
              </a:rPr>
              <a:t>SECCIÓN 4</a:t>
            </a:r>
          </a:p>
          <a:p>
            <a:pPr algn="ctr"/>
            <a:r>
              <a:t>El stack de análisis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Qué instala uv sync y para qué sirve cada pieza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Librerías clave del proyecto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286000"/>
          <a:ext cx="1005840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Librería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Para qué sirve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ollama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Cliente Python del servidor Ollama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umap-learn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Reduce embeddings de alta dimensión a 2D para visualizar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hdbscan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Clustering por densidad, sin fijar K de antemano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bertopic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Topic modeling sobre embeddings, alternativa a LDA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langdetect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Detección de idioma: original vs. traducción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crewai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Orquestación de agentes de IA sobre Ollama (Bloque 4)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18 dependencias en total — esto es solo el grupo específico del curso.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Requisitos de hardware — no hace falta potencia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Mínimo (pandas/networkx)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8GB RAM, cualquier CPU moderna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10GB disco libre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EDA, grafos, text mining: fluidos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331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Recomendado (embeddings + LLM)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7889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16GB RAM para qwen2.5:14b Q4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GPU opcional (acelera embeddings ×10)</a:t>
            </a:r>
          </a:p>
          <a:p>
            <a:r>
              <a:rPr sz="1600">
                <a:solidFill>
                  <a:srgbClr val="CD2D37"/>
                </a:solidFill>
                <a:latin typeface="Arial"/>
              </a:rPr>
              <a:t>▸  </a:t>
            </a:r>
            <a:r>
              <a:rPr sz="1600">
                <a:solidFill>
                  <a:srgbClr val="465461"/>
                </a:solidFill>
                <a:latin typeface="Arial"/>
              </a:rPr>
              <a:t>Sin GPU: lento en corpus completo, instantáneo en muestra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Preguntas frecuentes y respuestas honestas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2286000"/>
          <a:ext cx="1005840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Pregunta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Respuesta</a:t>
                      </a:r>
                    </a:p>
                  </a:txBody>
                  <a:tcPr marL="45000" marR="45000" marT="25000" marB="25000" anchor="ctr"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¿API de embeddings en la nube?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Datos de personas reales… tú mismo</a:t>
                      </a:r>
                    </a:p>
                  </a:txBody>
                  <a:tcPr marL="45000" marR="45000" marT="25000" marB="25000" anchor="ctr">
                    <a:solidFill>
                      <a:srgbClr val="F1F2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¿Sin GPU?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65461"/>
                          </a:solidFill>
                          <a:latin typeface="Arial"/>
                        </a:rPr>
                        <a:t>CPU funciona para EDA y muestras pequeñas</a:t>
                      </a:r>
                    </a:p>
                  </a:txBody>
                  <a:tcPr marL="45000" marR="45000" marT="25000" marB="25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Entorno listo → Bloque 4 (agentes) y Bloque 5 (casos prácticos)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