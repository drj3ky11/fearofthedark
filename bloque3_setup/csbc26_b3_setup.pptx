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Bienvenidos al bloque de setup. En los próximos 45 minutos vamos a montar el entorno completo de análisis forense delante de vuestros ojos, sin atajos ni pasos ocultos. La pregunta que quiero que os hagáis es: ¿cuánto tardaríais vosotros solos en replicar este laboratorio desde cero? Con uv, Ollama y Jupyter, la respuesta es diez minutos, y os lo voy a demostrar en vivo. Empecemos por el entorno.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Primera sección: vamos a ver las piezas del entorno una por una, sin cajas negras. Nada de contenedores ni configuraciones ocultas — todo lo que uséis vosotros lo podéis inspeccionar y entender.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Muchos venís de pip y venv, y sabéis lo frágil que puede ser mezclar entornos. uv resuelve eso reemplazando tres herramientas por una sola, y lo hace rápido de verdad — no es marketing, es Rust por debajo. Quedaos con la idea de uv sync: un comando, todas las dependencias resueltas del pyproject.toml, sin activar nada a mano. Esto es lo que nos permite que cualquiera de vosotros tenga el mismo entorno que yo en su portátil.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Estos son los cuatro comandos, literalmente los únicos que necesitáis. Clonar, uv sync, descargar los modelos de Ollama y arrancar Jupyter. El paso que más tiempo consume no es la instalación de Python, es la descarga de los modelos — casi 9GB entre los dos. Por eso insisto: si vais a replicar esto en casa, descargad los modelos la noche anterior, no el día de la demo con la wifi del evento.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quiero tranquilizar a los que pensáis que necesitáis una máquina de gama alta para hacer forense de leaks. Con 8GB de RAM y cualquier CPU moderna ya podéis hacer todo el análisis con pandas y networkx. La columna de la derecha es solo si queréis meter embeddings y el LLM local — ahí sí conviene más RAM, pero incluso sin GPU funciona, solo que más lento. La demo de hoy la vamos a hacer con una muestra pequeña precisamente para que se vea fluida en cualquier portátil de esta sala.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Voy a ser honesto con vosotros sobre cómo funciona esta demo: los embeddings del dataset completo ya están calculados, porque generarlos en vivo llevaría horas y esto no es un vídeo de YouTube donde se corta la espera con magia de edición. Lo que sí vais a ver ejecutarse en vivo, delante vuestro, es el mismo código sobre una muestra de 100 usuarios. La idea no es impresionar con velocidad, es que veáis que el pipeline es real y que lo podéis reproducir vosotros mismos después.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Segunda parte: ya tenemos el entorno montado, ahora vamos a recorrer el pipeline entero, desde el dump SQL en crudo hasta la visualización final, celda por celda, sin saltarnos nada.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Estas cinco fases son el esqueleto de cualquier análisis forense que hagáis en este curso, no solo de la demo de hoy. Cargar con detección automática de versión y encoding, normalizar fechas y usuarios, analizar estadística y red de interacciones, generar embeddings, y por último visualizar. Fijaos que todo pasa en el mismo notebook — no saltamos entre herramientas ni exportamos a otro entorno. Ese es el punto: un solo lugar donde se ve todo el razonamiento.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 qué elegimos este dataset y no el más grande del curso para la demo? Porque aquí el objetivo es que veáis el pipeline funcionar de principio a fin sin esperar precomputo, y para eso necesitamos algo pequeño, con schema limpio y sin las variantes problemáticas que sí vais a encontrar en casos reales. La estructura, eso sí, es idéntica a cualquier otro caso del curso — lo que aprendáis aquí se aplica igual al dataset grande.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Ahora sí, manos a la obra. Vamos a abrir el notebook 00_reconocimiento y recorrer las cinco secciones en directo: carga con auto-detección, distribución de usuarios y posts donde vais a ver la power-law que es casi una firma de estos foros, el grafo de co-participación para detectar brokers, los embeddings sobre la muestra de 100 usuarios ejecutándose de verdad ante vosotros, y por último UMAP con clustering interactivo en Plotly. Si algo falla en vivo, lo comentamos y seguimos — esto es un laboratorio, no un vídeo editado.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Cerramos con las preguntas que seguro os están rondando la cabeza, y las respondo sin vender humo. No usamos APIs de embeddings en la nube porque estamos tratando datos de personas reales, y eso no es negociable, por comodidad que dé. Sin GPU podéis trabajar, pero con muestras pequeñas como la de hoy. Y sí, técnicamente podríais correr esto en Colab, pero no con los datos reales del curso — esos se comparten por un canal separado, nunca van en el repositorio.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E94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10972800" cy="1645920"/>
          </a:xfrm>
          <a:prstGeom prst="rect">
            <a:avLst/>
          </a:prstGeom>
          <a:noFill/>
        </p:spPr>
        <p:txBody>
          <a:bodyPr wrap="square">
            <a:spAutoFit/>
          </a:bodyPr>
          <a:lstStyle/>
          <a:p>
            <a:pPr algn="l"/>
            <a:r>
              <a:rPr sz="4400" b="1">
                <a:solidFill>
                  <a:srgbClr val="FFFFFF"/>
                </a:solidFill>
                <a:latin typeface="Calibri"/>
              </a:rPr>
              <a:t>Setup y demo en vivo</a:t>
            </a:r>
          </a:p>
        </p:txBody>
      </p:sp>
      <p:sp>
        <p:nvSpPr>
          <p:cNvPr id="4" name="TextBox 3"/>
          <p:cNvSpPr txBox="1"/>
          <p:nvPr/>
        </p:nvSpPr>
        <p:spPr>
          <a:xfrm>
            <a:off x="548640" y="3566160"/>
            <a:ext cx="10972800" cy="914400"/>
          </a:xfrm>
          <a:prstGeom prst="rect">
            <a:avLst/>
          </a:prstGeom>
          <a:noFill/>
        </p:spPr>
        <p:txBody>
          <a:bodyPr wrap="square">
            <a:spAutoFit/>
          </a:bodyPr>
          <a:lstStyle/>
          <a:p>
            <a:pPr algn="l"/>
            <a:r>
              <a:rPr sz="2400" b="0">
                <a:solidFill>
                  <a:srgbClr val="B8C0CC"/>
                </a:solidFill>
                <a:latin typeface="Calibri"/>
              </a:rPr>
              <a:t>El entorno completo en 10 minutos — uv + Ollama + Jupyter</a:t>
            </a:r>
          </a:p>
        </p:txBody>
      </p:sp>
      <p:sp>
        <p:nvSpPr>
          <p:cNvPr id="5" name="Rectangle 4"/>
          <p:cNvSpPr/>
          <p:nvPr/>
        </p:nvSpPr>
        <p:spPr>
          <a:xfrm>
            <a:off x="548640" y="4754880"/>
            <a:ext cx="3291840" cy="411480"/>
          </a:xfrm>
          <a:prstGeom prst="rect">
            <a:avLst/>
          </a:prstGeom>
          <a:solidFill>
            <a:srgbClr val="2A2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4773168"/>
            <a:ext cx="3200400" cy="365760"/>
          </a:xfrm>
          <a:prstGeom prst="rect">
            <a:avLst/>
          </a:prstGeom>
          <a:noFill/>
        </p:spPr>
        <p:txBody>
          <a:bodyPr wrap="square">
            <a:spAutoFit/>
          </a:bodyPr>
          <a:lstStyle/>
          <a:p>
            <a:pPr algn="l"/>
            <a:r>
              <a:rPr sz="1400" b="0">
                <a:solidFill>
                  <a:srgbClr val="606878"/>
                </a:solidFill>
                <a:latin typeface="Calibri"/>
              </a:rPr>
              <a:t>CSBC26 · Bloque 3 · 45 min</a:t>
            </a:r>
          </a:p>
        </p:txBody>
      </p:sp>
      <p:sp>
        <p:nvSpPr>
          <p:cNvPr id="7" name="Rectangle 6"/>
          <p:cNvSpPr/>
          <p:nvPr/>
        </p:nvSpPr>
        <p:spPr>
          <a:xfrm>
            <a:off x="548640" y="6309360"/>
            <a:ext cx="10515600" cy="45720"/>
          </a:xfrm>
          <a:prstGeom prst="rect">
            <a:avLst/>
          </a:prstGeom>
          <a:solidFill>
            <a:srgbClr val="E94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20"/>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E94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0" y="731520"/>
            <a:ext cx="3200400" cy="4572000"/>
          </a:xfrm>
          <a:prstGeom prst="rect">
            <a:avLst/>
          </a:prstGeom>
          <a:noFill/>
        </p:spPr>
        <p:txBody>
          <a:bodyPr wrap="square">
            <a:spAutoFit/>
          </a:bodyPr>
          <a:lstStyle/>
          <a:p>
            <a:pPr algn="r"/>
            <a:r>
              <a:rPr sz="20000" b="1">
                <a:solidFill>
                  <a:srgbClr val="252545"/>
                </a:solidFill>
                <a:latin typeface="Calibri"/>
              </a:rPr>
              <a:t>1</a:t>
            </a:r>
          </a:p>
        </p:txBody>
      </p:sp>
      <p:sp>
        <p:nvSpPr>
          <p:cNvPr id="4" name="TextBox 3"/>
          <p:cNvSpPr txBox="1"/>
          <p:nvPr/>
        </p:nvSpPr>
        <p:spPr>
          <a:xfrm>
            <a:off x="548640" y="2011680"/>
            <a:ext cx="5486400" cy="457200"/>
          </a:xfrm>
          <a:prstGeom prst="rect">
            <a:avLst/>
          </a:prstGeom>
          <a:noFill/>
        </p:spPr>
        <p:txBody>
          <a:bodyPr wrap="square">
            <a:spAutoFit/>
          </a:bodyPr>
          <a:lstStyle/>
          <a:p>
            <a:pPr algn="l"/>
            <a:r>
              <a:rPr sz="1300" b="1">
                <a:solidFill>
                  <a:srgbClr val="E94E4E"/>
                </a:solidFill>
                <a:latin typeface="Calibri"/>
              </a:rPr>
              <a:t>SECCIÓN</a:t>
            </a:r>
          </a:p>
        </p:txBody>
      </p:sp>
      <p:sp>
        <p:nvSpPr>
          <p:cNvPr id="5" name="TextBox 4"/>
          <p:cNvSpPr txBox="1"/>
          <p:nvPr/>
        </p:nvSpPr>
        <p:spPr>
          <a:xfrm>
            <a:off x="548640" y="2468880"/>
            <a:ext cx="8229600" cy="1645920"/>
          </a:xfrm>
          <a:prstGeom prst="rect">
            <a:avLst/>
          </a:prstGeom>
          <a:noFill/>
        </p:spPr>
        <p:txBody>
          <a:bodyPr wrap="square">
            <a:spAutoFit/>
          </a:bodyPr>
          <a:lstStyle/>
          <a:p>
            <a:pPr algn="l"/>
            <a:r>
              <a:rPr sz="4000" b="1">
                <a:solidFill>
                  <a:srgbClr val="FFFFFF"/>
                </a:solidFill>
                <a:latin typeface="Calibri"/>
              </a:rPr>
              <a:t>El entorno</a:t>
            </a:r>
          </a:p>
        </p:txBody>
      </p:sp>
      <p:sp>
        <p:nvSpPr>
          <p:cNvPr id="6" name="TextBox 5"/>
          <p:cNvSpPr txBox="1"/>
          <p:nvPr/>
        </p:nvSpPr>
        <p:spPr>
          <a:xfrm>
            <a:off x="548640" y="4206240"/>
            <a:ext cx="8229600" cy="731520"/>
          </a:xfrm>
          <a:prstGeom prst="rect">
            <a:avLst/>
          </a:prstGeom>
          <a:noFill/>
        </p:spPr>
        <p:txBody>
          <a:bodyPr wrap="square">
            <a:spAutoFit/>
          </a:bodyPr>
          <a:lstStyle/>
          <a:p>
            <a:pPr algn="l"/>
            <a:r>
              <a:rPr sz="2000" b="0">
                <a:solidFill>
                  <a:srgbClr val="B8C0CC"/>
                </a:solidFill>
                <a:latin typeface="Calibri"/>
              </a:rPr>
              <a:t>uv + Ollama + Jupyter — sin magia, sin Docker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548640" y="1097280"/>
            <a:ext cx="10515600" cy="27432"/>
          </a:xfrm>
          <a:prstGeom prst="rect">
            <a:avLst/>
          </a:prstGeom>
          <a:solidFill>
            <a:srgbClr val="E94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822960"/>
          </a:xfrm>
          <a:prstGeom prst="rect">
            <a:avLst/>
          </a:prstGeom>
          <a:noFill/>
        </p:spPr>
        <p:txBody>
          <a:bodyPr wrap="square">
            <a:spAutoFit/>
          </a:bodyPr>
          <a:lstStyle/>
          <a:p>
            <a:pPr algn="l"/>
            <a:r>
              <a:rPr sz="3200" b="1">
                <a:solidFill>
                  <a:srgbClr val="FFFFFF"/>
                </a:solidFill>
                <a:latin typeface="Calibri"/>
              </a:rPr>
              <a:t>¿Por qué uv?</a:t>
            </a:r>
          </a:p>
        </p:txBody>
      </p:sp>
      <p:sp>
        <p:nvSpPr>
          <p:cNvPr id="4" name="TextBox 3"/>
          <p:cNvSpPr txBox="1"/>
          <p:nvPr/>
        </p:nvSpPr>
        <p:spPr>
          <a:xfrm>
            <a:off x="548640" y="1371600"/>
            <a:ext cx="11064240" cy="5029200"/>
          </a:xfrm>
          <a:prstGeom prst="rect">
            <a:avLst/>
          </a:prstGeom>
          <a:noFill/>
        </p:spPr>
        <p:txBody>
          <a:bodyPr wrap="square">
            <a:spAutoFit/>
          </a:bodyPr>
          <a:lstStyle/>
          <a:p>
            <a:pPr algn="l" marL="0" indent="-228600"/>
            <a:r>
              <a:rPr sz="2000" b="0">
                <a:solidFill>
                  <a:srgbClr val="B8C0CC"/>
                </a:solidFill>
                <a:latin typeface="Calibri"/>
              </a:rPr>
              <a:t>▸  Reemplaza pip, venv y poetry en un solo comando</a:t>
            </a:r>
          </a:p>
          <a:p>
            <a:pPr algn="l" marL="0" indent="-228600"/>
            <a:r>
              <a:rPr sz="2000" b="0">
                <a:solidFill>
                  <a:srgbClr val="B8C0CC"/>
                </a:solidFill>
                <a:latin typeface="Calibri"/>
              </a:rPr>
              <a:t>▸  uv sync instala todas las dependencias del pyproject.toml</a:t>
            </a:r>
          </a:p>
          <a:p>
            <a:pPr algn="l" marL="0" indent="-228600"/>
            <a:r>
              <a:rPr sz="2000" b="0">
                <a:solidFill>
                  <a:srgbClr val="B8C0CC"/>
                </a:solidFill>
                <a:latin typeface="Calibri"/>
              </a:rPr>
              <a:t>▸  uv run jupyter notebook arranca Jupyter sin activar manualmente el entorno</a:t>
            </a:r>
          </a:p>
          <a:p>
            <a:pPr algn="l" marL="0" indent="-228600"/>
            <a:r>
              <a:rPr sz="2000" b="0">
                <a:solidFill>
                  <a:srgbClr val="B8C0CC"/>
                </a:solidFill>
                <a:latin typeface="Calibri"/>
              </a:rPr>
              <a:t>▸  Reproducible en cualquier máquina con Python 3.10+ sin configuración extra</a:t>
            </a:r>
          </a:p>
          <a:p>
            <a:pPr algn="l" marL="0" indent="-228600"/>
            <a:r>
              <a:rPr sz="2000" b="0">
                <a:solidFill>
                  <a:srgbClr val="B8C0CC"/>
                </a:solidFill>
                <a:latin typeface="Calibri"/>
              </a:rPr>
              <a:t>▸  Sin Conda, sin Docker, sin variables de entorno globales que conflicten</a:t>
            </a:r>
          </a:p>
          <a:p>
            <a:pPr algn="l" marL="0" indent="-228600"/>
            <a:r>
              <a:rPr sz="2000" b="0">
                <a:solidFill>
                  <a:srgbClr val="B8C0CC"/>
                </a:solidFill>
                <a:latin typeface="Calibri"/>
              </a:rPr>
              <a:t>▸  Objetivo: cualquier asistente puede replicar el entorno en 10 minutos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548640" y="1097280"/>
            <a:ext cx="10515600" cy="27432"/>
          </a:xfrm>
          <a:prstGeom prst="rect">
            <a:avLst/>
          </a:prstGeom>
          <a:solidFill>
            <a:srgbClr val="E94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822960"/>
          </a:xfrm>
          <a:prstGeom prst="rect">
            <a:avLst/>
          </a:prstGeom>
          <a:noFill/>
        </p:spPr>
        <p:txBody>
          <a:bodyPr wrap="square">
            <a:spAutoFit/>
          </a:bodyPr>
          <a:lstStyle/>
          <a:p>
            <a:pPr algn="l"/>
            <a:r>
              <a:rPr sz="3200" b="1">
                <a:solidFill>
                  <a:srgbClr val="FFFFFF"/>
                </a:solidFill>
                <a:latin typeface="Calibri"/>
              </a:rPr>
              <a:t>Setup completo — 4 comandos</a:t>
            </a:r>
          </a:p>
        </p:txBody>
      </p:sp>
      <p:sp>
        <p:nvSpPr>
          <p:cNvPr id="4" name="TextBox 3"/>
          <p:cNvSpPr txBox="1"/>
          <p:nvPr/>
        </p:nvSpPr>
        <p:spPr>
          <a:xfrm>
            <a:off x="548640" y="1234440"/>
            <a:ext cx="11064240" cy="548640"/>
          </a:xfrm>
          <a:prstGeom prst="rect">
            <a:avLst/>
          </a:prstGeom>
          <a:noFill/>
        </p:spPr>
        <p:txBody>
          <a:bodyPr wrap="square">
            <a:spAutoFit/>
          </a:bodyPr>
          <a:lstStyle/>
          <a:p>
            <a:pPr algn="l"/>
            <a:r>
              <a:rPr sz="1800" b="0">
                <a:solidFill>
                  <a:srgbClr val="B8C0CC"/>
                </a:solidFill>
                <a:latin typeface="Calibri"/>
              </a:rPr>
              <a:t>Desde cero hasta el notebook corriendo:</a:t>
            </a:r>
          </a:p>
        </p:txBody>
      </p:sp>
      <p:sp>
        <p:nvSpPr>
          <p:cNvPr id="5" name="Rectangle 4"/>
          <p:cNvSpPr/>
          <p:nvPr/>
        </p:nvSpPr>
        <p:spPr>
          <a:xfrm>
            <a:off x="457200" y="2377440"/>
            <a:ext cx="11247120" cy="37490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514600"/>
            <a:ext cx="10972800" cy="3474720"/>
          </a:xfrm>
          <a:prstGeom prst="rect">
            <a:avLst/>
          </a:prstGeom>
          <a:noFill/>
        </p:spPr>
        <p:txBody>
          <a:bodyPr wrap="none">
            <a:spAutoFit/>
          </a:bodyPr>
          <a:lstStyle/>
          <a:p>
            <a:r>
              <a:rPr sz="1400">
                <a:solidFill>
                  <a:srgbClr val="A8FF78"/>
                </a:solidFill>
                <a:latin typeface="Consolas"/>
              </a:rPr>
              <a:t># 1. Clonar el repositorio
git clone &lt;repo-url&gt; &amp;&amp; cd csbc26
# 2. Instalar dependencias Python
uv sync
# 3. Descargar modelos Ollama (hacerlo antes de la clase)
ollama pull qwen3-embedding
ollama pull qwen2.5:14b
# 4. Arrancar Jupyter
uv run jupyter notebook</a:t>
            </a:r>
          </a:p>
        </p:txBody>
      </p:sp>
      <p:sp>
        <p:nvSpPr>
          <p:cNvPr id="7" name="TextBox 6"/>
          <p:cNvSpPr txBox="1"/>
          <p:nvPr/>
        </p:nvSpPr>
        <p:spPr>
          <a:xfrm>
            <a:off x="548640" y="6263640"/>
            <a:ext cx="10972800" cy="365760"/>
          </a:xfrm>
          <a:prstGeom prst="rect">
            <a:avLst/>
          </a:prstGeom>
          <a:noFill/>
        </p:spPr>
        <p:txBody>
          <a:bodyPr wrap="square">
            <a:spAutoFit/>
          </a:bodyPr>
          <a:lstStyle/>
          <a:p>
            <a:pPr algn="l"/>
            <a:r>
              <a:rPr sz="1200" b="0">
                <a:solidFill>
                  <a:srgbClr val="606878"/>
                </a:solidFill>
                <a:latin typeface="Calibri"/>
              </a:rPr>
              <a:t>ℹ  Los modelos pesan ~9GB en total. Descargarlos la noche antes, no en vivo.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548640" y="1097280"/>
            <a:ext cx="10515600" cy="27432"/>
          </a:xfrm>
          <a:prstGeom prst="rect">
            <a:avLst/>
          </a:prstGeom>
          <a:solidFill>
            <a:srgbClr val="E94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822960"/>
          </a:xfrm>
          <a:prstGeom prst="rect">
            <a:avLst/>
          </a:prstGeom>
          <a:noFill/>
        </p:spPr>
        <p:txBody>
          <a:bodyPr wrap="square">
            <a:spAutoFit/>
          </a:bodyPr>
          <a:lstStyle/>
          <a:p>
            <a:pPr algn="l"/>
            <a:r>
              <a:rPr sz="3200" b="1">
                <a:solidFill>
                  <a:srgbClr val="FFFFFF"/>
                </a:solidFill>
                <a:latin typeface="Calibri"/>
              </a:rPr>
              <a:t>Requisitos de hardware — no hace falta potencia</a:t>
            </a:r>
          </a:p>
        </p:txBody>
      </p:sp>
      <p:sp>
        <p:nvSpPr>
          <p:cNvPr id="4" name="TextBox 3"/>
          <p:cNvSpPr txBox="1"/>
          <p:nvPr/>
        </p:nvSpPr>
        <p:spPr>
          <a:xfrm>
            <a:off x="548640" y="1371600"/>
            <a:ext cx="5120640" cy="457200"/>
          </a:xfrm>
          <a:prstGeom prst="rect">
            <a:avLst/>
          </a:prstGeom>
          <a:noFill/>
        </p:spPr>
        <p:txBody>
          <a:bodyPr wrap="square">
            <a:spAutoFit/>
          </a:bodyPr>
          <a:lstStyle/>
          <a:p>
            <a:pPr algn="l"/>
            <a:r>
              <a:rPr sz="1800" b="1">
                <a:solidFill>
                  <a:srgbClr val="E94E4E"/>
                </a:solidFill>
                <a:latin typeface="Calibri"/>
              </a:rPr>
              <a:t>Mínimo (análisis pandas/networkx)</a:t>
            </a:r>
          </a:p>
        </p:txBody>
      </p:sp>
      <p:sp>
        <p:nvSpPr>
          <p:cNvPr id="5" name="TextBox 4"/>
          <p:cNvSpPr txBox="1"/>
          <p:nvPr/>
        </p:nvSpPr>
        <p:spPr>
          <a:xfrm>
            <a:off x="548640" y="1920240"/>
            <a:ext cx="5120640" cy="4572000"/>
          </a:xfrm>
          <a:prstGeom prst="rect">
            <a:avLst/>
          </a:prstGeom>
          <a:noFill/>
        </p:spPr>
        <p:txBody>
          <a:bodyPr wrap="square">
            <a:spAutoFit/>
          </a:bodyPr>
          <a:lstStyle/>
          <a:p>
            <a:r>
              <a:rPr sz="1800">
                <a:solidFill>
                  <a:srgbClr val="B8C0CC"/>
                </a:solidFill>
                <a:latin typeface="Calibri"/>
              </a:rPr>
              <a:t>▸  8GB RAM</a:t>
            </a:r>
          </a:p>
          <a:p>
            <a:r>
              <a:rPr sz="1800">
                <a:solidFill>
                  <a:srgbClr val="B8C0CC"/>
                </a:solidFill>
                <a:latin typeface="Calibri"/>
              </a:rPr>
              <a:t>▸  Cualquier CPU moderna</a:t>
            </a:r>
          </a:p>
          <a:p>
            <a:r>
              <a:rPr sz="1800">
                <a:solidFill>
                  <a:srgbClr val="B8C0CC"/>
                </a:solidFill>
                <a:latin typeface="Calibri"/>
              </a:rPr>
              <a:t>▸  10GB disco libre para datos y modelos</a:t>
            </a:r>
          </a:p>
          <a:p>
            <a:r>
              <a:rPr sz="1800">
                <a:solidFill>
                  <a:srgbClr val="B8C0CC"/>
                </a:solidFill>
                <a:latin typeface="Calibri"/>
              </a:rPr>
              <a:t>▸  Python 3.10+</a:t>
            </a:r>
          </a:p>
          <a:p>
            <a:r>
              <a:rPr sz="1800">
                <a:solidFill>
                  <a:srgbClr val="B8C0CC"/>
                </a:solidFill>
                <a:latin typeface="Calibri"/>
              </a:rPr>
              <a:t>▸  EDA, grafos, text mining: fluidos</a:t>
            </a:r>
          </a:p>
        </p:txBody>
      </p:sp>
      <p:sp>
        <p:nvSpPr>
          <p:cNvPr id="6" name="TextBox 5"/>
          <p:cNvSpPr txBox="1"/>
          <p:nvPr/>
        </p:nvSpPr>
        <p:spPr>
          <a:xfrm>
            <a:off x="6492240" y="1371600"/>
            <a:ext cx="5120640" cy="457200"/>
          </a:xfrm>
          <a:prstGeom prst="rect">
            <a:avLst/>
          </a:prstGeom>
          <a:noFill/>
        </p:spPr>
        <p:txBody>
          <a:bodyPr wrap="square">
            <a:spAutoFit/>
          </a:bodyPr>
          <a:lstStyle/>
          <a:p>
            <a:pPr algn="l"/>
            <a:r>
              <a:rPr sz="1800" b="1">
                <a:solidFill>
                  <a:srgbClr val="E94E4E"/>
                </a:solidFill>
                <a:latin typeface="Calibri"/>
              </a:rPr>
              <a:t>Recomendado (embeddings + LLM)</a:t>
            </a:r>
          </a:p>
        </p:txBody>
      </p:sp>
      <p:sp>
        <p:nvSpPr>
          <p:cNvPr id="7" name="TextBox 6"/>
          <p:cNvSpPr txBox="1"/>
          <p:nvPr/>
        </p:nvSpPr>
        <p:spPr>
          <a:xfrm>
            <a:off x="6492240" y="1920240"/>
            <a:ext cx="5120640" cy="4572000"/>
          </a:xfrm>
          <a:prstGeom prst="rect">
            <a:avLst/>
          </a:prstGeom>
          <a:noFill/>
        </p:spPr>
        <p:txBody>
          <a:bodyPr wrap="square">
            <a:spAutoFit/>
          </a:bodyPr>
          <a:lstStyle/>
          <a:p>
            <a:r>
              <a:rPr sz="1800">
                <a:solidFill>
                  <a:srgbClr val="B8C0CC"/>
                </a:solidFill>
                <a:latin typeface="Calibri"/>
              </a:rPr>
              <a:t>▸  16GB RAM para qwen2.5:14b Q4</a:t>
            </a:r>
          </a:p>
          <a:p>
            <a:r>
              <a:rPr sz="1800">
                <a:solidFill>
                  <a:srgbClr val="B8C0CC"/>
                </a:solidFill>
                <a:latin typeface="Calibri"/>
              </a:rPr>
              <a:t>▸  GPU opcional (acelera embeddings ×10)</a:t>
            </a:r>
          </a:p>
          <a:p>
            <a:r>
              <a:rPr sz="1800">
                <a:solidFill>
                  <a:srgbClr val="B8C0CC"/>
                </a:solidFill>
                <a:latin typeface="Calibri"/>
              </a:rPr>
              <a:t>▸  25GB disco para todos los modelos</a:t>
            </a:r>
          </a:p>
          <a:p>
            <a:r>
              <a:rPr sz="1800">
                <a:solidFill>
                  <a:srgbClr val="B8C0CC"/>
                </a:solidFill>
                <a:latin typeface="Calibri"/>
              </a:rPr>
              <a:t>▸  Embeddings en CPU: lentos pero funcionales</a:t>
            </a:r>
          </a:p>
          <a:p>
            <a:r>
              <a:rPr sz="1800">
                <a:solidFill>
                  <a:srgbClr val="B8C0CC"/>
                </a:solidFill>
                <a:latin typeface="Calibri"/>
              </a:rPr>
              <a:t>▸  Demo con muestra pequeña: instantánea en cualquier hardware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548640" y="1097280"/>
            <a:ext cx="10515600" cy="27432"/>
          </a:xfrm>
          <a:prstGeom prst="rect">
            <a:avLst/>
          </a:prstGeom>
          <a:solidFill>
            <a:srgbClr val="E94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822960"/>
          </a:xfrm>
          <a:prstGeom prst="rect">
            <a:avLst/>
          </a:prstGeom>
          <a:noFill/>
        </p:spPr>
        <p:txBody>
          <a:bodyPr wrap="square">
            <a:spAutoFit/>
          </a:bodyPr>
          <a:lstStyle/>
          <a:p>
            <a:pPr algn="l"/>
            <a:r>
              <a:rPr sz="3200" b="1">
                <a:solidFill>
                  <a:srgbClr val="FFFFFF"/>
                </a:solidFill>
                <a:latin typeface="Calibri"/>
              </a:rPr>
              <a:t>La estrategia de la demo en vivo</a:t>
            </a:r>
          </a:p>
        </p:txBody>
      </p:sp>
      <p:sp>
        <p:nvSpPr>
          <p:cNvPr id="4" name="TextBox 3"/>
          <p:cNvSpPr txBox="1"/>
          <p:nvPr/>
        </p:nvSpPr>
        <p:spPr>
          <a:xfrm>
            <a:off x="548640" y="1371600"/>
            <a:ext cx="11064240" cy="5029200"/>
          </a:xfrm>
          <a:prstGeom prst="rect">
            <a:avLst/>
          </a:prstGeom>
          <a:noFill/>
        </p:spPr>
        <p:txBody>
          <a:bodyPr wrap="square">
            <a:spAutoFit/>
          </a:bodyPr>
          <a:lstStyle/>
          <a:p>
            <a:pPr algn="l" marL="0" indent="-228600"/>
            <a:r>
              <a:rPr sz="2000" b="0">
                <a:solidFill>
                  <a:srgbClr val="B8C0CC"/>
                </a:solidFill>
                <a:latin typeface="Calibri"/>
              </a:rPr>
              <a:t>▸  Los embeddings del dataset completo están precomputados — no esperamos en clase</a:t>
            </a:r>
          </a:p>
          <a:p>
            <a:pPr algn="l" marL="0" indent="-228600"/>
            <a:r>
              <a:rPr sz="2000" b="0">
                <a:solidFill>
                  <a:srgbClr val="B8C0CC"/>
                </a:solidFill>
                <a:latin typeface="Calibri"/>
              </a:rPr>
              <a:t>▸  Mostramos el código que los generó y lo ejecutamos sobre una muestra de 100 usuarios</a:t>
            </a:r>
          </a:p>
          <a:p>
            <a:pPr algn="l" marL="0" indent="-228600"/>
            <a:r>
              <a:rPr sz="2000" b="0">
                <a:solidFill>
                  <a:srgbClr val="B8C0CC"/>
                </a:solidFill>
                <a:latin typeface="Calibri"/>
              </a:rPr>
              <a:t>▸  Los modelos Ollama ya están descargados — mostramos el pull pero lo cortamos</a:t>
            </a:r>
          </a:p>
          <a:p>
            <a:pPr algn="l" marL="0" indent="-228600"/>
            <a:r>
              <a:rPr sz="2000" b="0">
                <a:solidFill>
                  <a:srgbClr val="B8C0CC"/>
                </a:solidFill>
                <a:latin typeface="Calibri"/>
              </a:rPr>
              <a:t>▸  Esto es el mismo truco de los videotutoriales: el proceso es real, la espera es editada</a:t>
            </a:r>
          </a:p>
          <a:p>
            <a:pPr algn="l" marL="0" indent="-228600"/>
            <a:r>
              <a:rPr sz="2000" b="0">
                <a:solidFill>
                  <a:srgbClr val="B8C0CC"/>
                </a:solidFill>
                <a:latin typeface="Calibri"/>
              </a:rPr>
              <a:t>▸  El objetivo no es la velocidad — es que el pipeline completo sea visible y reproducible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20"/>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E94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0" y="731520"/>
            <a:ext cx="3200400" cy="4572000"/>
          </a:xfrm>
          <a:prstGeom prst="rect">
            <a:avLst/>
          </a:prstGeom>
          <a:noFill/>
        </p:spPr>
        <p:txBody>
          <a:bodyPr wrap="square">
            <a:spAutoFit/>
          </a:bodyPr>
          <a:lstStyle/>
          <a:p>
            <a:pPr algn="r"/>
            <a:r>
              <a:rPr sz="20000" b="1">
                <a:solidFill>
                  <a:srgbClr val="252545"/>
                </a:solidFill>
                <a:latin typeface="Calibri"/>
              </a:rPr>
              <a:t>2</a:t>
            </a:r>
          </a:p>
        </p:txBody>
      </p:sp>
      <p:sp>
        <p:nvSpPr>
          <p:cNvPr id="4" name="TextBox 3"/>
          <p:cNvSpPr txBox="1"/>
          <p:nvPr/>
        </p:nvSpPr>
        <p:spPr>
          <a:xfrm>
            <a:off x="548640" y="2011680"/>
            <a:ext cx="5486400" cy="457200"/>
          </a:xfrm>
          <a:prstGeom prst="rect">
            <a:avLst/>
          </a:prstGeom>
          <a:noFill/>
        </p:spPr>
        <p:txBody>
          <a:bodyPr wrap="square">
            <a:spAutoFit/>
          </a:bodyPr>
          <a:lstStyle/>
          <a:p>
            <a:pPr algn="l"/>
            <a:r>
              <a:rPr sz="1300" b="1">
                <a:solidFill>
                  <a:srgbClr val="E94E4E"/>
                </a:solidFill>
                <a:latin typeface="Calibri"/>
              </a:rPr>
              <a:t>SECCIÓN</a:t>
            </a:r>
          </a:p>
        </p:txBody>
      </p:sp>
      <p:sp>
        <p:nvSpPr>
          <p:cNvPr id="5" name="TextBox 4"/>
          <p:cNvSpPr txBox="1"/>
          <p:nvPr/>
        </p:nvSpPr>
        <p:spPr>
          <a:xfrm>
            <a:off x="548640" y="2468880"/>
            <a:ext cx="8229600" cy="1645920"/>
          </a:xfrm>
          <a:prstGeom prst="rect">
            <a:avLst/>
          </a:prstGeom>
          <a:noFill/>
        </p:spPr>
        <p:txBody>
          <a:bodyPr wrap="square">
            <a:spAutoFit/>
          </a:bodyPr>
          <a:lstStyle/>
          <a:p>
            <a:pPr algn="l"/>
            <a:r>
              <a:rPr sz="4000" b="1">
                <a:solidFill>
                  <a:srgbClr val="FFFFFF"/>
                </a:solidFill>
                <a:latin typeface="Calibri"/>
              </a:rPr>
              <a:t>El pipeline completo</a:t>
            </a:r>
          </a:p>
        </p:txBody>
      </p:sp>
      <p:sp>
        <p:nvSpPr>
          <p:cNvPr id="6" name="TextBox 5"/>
          <p:cNvSpPr txBox="1"/>
          <p:nvPr/>
        </p:nvSpPr>
        <p:spPr>
          <a:xfrm>
            <a:off x="548640" y="4206240"/>
            <a:ext cx="8229600" cy="731520"/>
          </a:xfrm>
          <a:prstGeom prst="rect">
            <a:avLst/>
          </a:prstGeom>
          <a:noFill/>
        </p:spPr>
        <p:txBody>
          <a:bodyPr wrap="square">
            <a:spAutoFit/>
          </a:bodyPr>
          <a:lstStyle/>
          <a:p>
            <a:pPr algn="l"/>
            <a:r>
              <a:rPr sz="2000" b="0">
                <a:solidFill>
                  <a:srgbClr val="B8C0CC"/>
                </a:solidFill>
                <a:latin typeface="Calibri"/>
              </a:rPr>
              <a:t>De dump SQL a visualización — celda por celda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548640" y="1097280"/>
            <a:ext cx="10515600" cy="27432"/>
          </a:xfrm>
          <a:prstGeom prst="rect">
            <a:avLst/>
          </a:prstGeom>
          <a:solidFill>
            <a:srgbClr val="E94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822960"/>
          </a:xfrm>
          <a:prstGeom prst="rect">
            <a:avLst/>
          </a:prstGeom>
          <a:noFill/>
        </p:spPr>
        <p:txBody>
          <a:bodyPr wrap="square">
            <a:spAutoFit/>
          </a:bodyPr>
          <a:lstStyle/>
          <a:p>
            <a:pPr algn="l"/>
            <a:r>
              <a:rPr sz="3200" b="1">
                <a:solidFill>
                  <a:srgbClr val="FFFFFF"/>
                </a:solidFill>
                <a:latin typeface="Calibri"/>
              </a:rPr>
              <a:t>Las 5 fases del pipeline</a:t>
            </a:r>
          </a:p>
        </p:txBody>
      </p:sp>
      <p:sp>
        <p:nvSpPr>
          <p:cNvPr id="4" name="TextBox 3"/>
          <p:cNvSpPr txBox="1"/>
          <p:nvPr/>
        </p:nvSpPr>
        <p:spPr>
          <a:xfrm>
            <a:off x="548640" y="1371600"/>
            <a:ext cx="11064240" cy="5029200"/>
          </a:xfrm>
          <a:prstGeom prst="rect">
            <a:avLst/>
          </a:prstGeom>
          <a:noFill/>
        </p:spPr>
        <p:txBody>
          <a:bodyPr wrap="square">
            <a:spAutoFit/>
          </a:bodyPr>
          <a:lstStyle/>
          <a:p>
            <a:pPr algn="l" marL="0" indent="-228600"/>
            <a:r>
              <a:rPr sz="2000" b="0">
                <a:solidFill>
                  <a:srgbClr val="B8C0CC"/>
                </a:solidFill>
                <a:latin typeface="Calibri"/>
              </a:rPr>
              <a:t>▸  1. Load: load_forum() con auto-detección de versión y encoding</a:t>
            </a:r>
          </a:p>
          <a:p>
            <a:pPr algn="l" marL="0" indent="-228600"/>
            <a:r>
              <a:rPr sz="2000" b="0">
                <a:solidFill>
                  <a:srgbClr val="B8C0CC"/>
                </a:solidFill>
                <a:latin typeface="Calibri"/>
              </a:rPr>
              <a:t>▸  2. Normalize: limpieza de usuarios, deduplicación, normalización de fechas a UTC</a:t>
            </a:r>
          </a:p>
          <a:p>
            <a:pPr algn="l" marL="0" indent="-228600"/>
            <a:r>
              <a:rPr sz="2000" b="0">
                <a:solidFill>
                  <a:srgbClr val="B8C0CC"/>
                </a:solidFill>
                <a:latin typeface="Calibri"/>
              </a:rPr>
              <a:t>▸  3. Analyze: estadística descriptiva, red de interacciones, análisis temporal</a:t>
            </a:r>
          </a:p>
          <a:p>
            <a:pPr algn="l" marL="0" indent="-228600"/>
            <a:r>
              <a:rPr sz="2000" b="0">
                <a:solidFill>
                  <a:srgbClr val="B8C0CC"/>
                </a:solidFill>
                <a:latin typeface="Calibri"/>
              </a:rPr>
              <a:t>▸  4. Embed: generación de embeddings por usuario (precomputados o muestra en vivo)</a:t>
            </a:r>
          </a:p>
          <a:p>
            <a:pPr algn="l" marL="0" indent="-228600"/>
            <a:r>
              <a:rPr sz="2000" b="0">
                <a:solidFill>
                  <a:srgbClr val="B8C0CC"/>
                </a:solidFill>
                <a:latin typeface="Calibri"/>
              </a:rPr>
              <a:t>▸  5. Visualize: grafos, heatmaps temporales, clusters UMAP con Plotly interactivo</a:t>
            </a:r>
          </a:p>
          <a:p>
            <a:pPr algn="l" marL="0" indent="-228600"/>
            <a:r>
              <a:rPr sz="2000" b="0">
                <a:solidFill>
                  <a:srgbClr val="B8C0CC"/>
                </a:solidFill>
                <a:latin typeface="Calibri"/>
              </a:rPr>
              <a:t>▸  Todo desde un único notebook, celda por celda, sin cambiar de herramienta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548640" y="1097280"/>
            <a:ext cx="10515600" cy="27432"/>
          </a:xfrm>
          <a:prstGeom prst="rect">
            <a:avLst/>
          </a:prstGeom>
          <a:solidFill>
            <a:srgbClr val="E94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822960"/>
          </a:xfrm>
          <a:prstGeom prst="rect">
            <a:avLst/>
          </a:prstGeom>
          <a:noFill/>
        </p:spPr>
        <p:txBody>
          <a:bodyPr wrap="square">
            <a:spAutoFit/>
          </a:bodyPr>
          <a:lstStyle/>
          <a:p>
            <a:pPr algn="l"/>
            <a:r>
              <a:rPr sz="3200" b="1">
                <a:solidFill>
                  <a:srgbClr val="FFFFFF"/>
                </a:solidFill>
                <a:latin typeface="Calibri"/>
              </a:rPr>
              <a:t>El dataset de demo — criterios de elección</a:t>
            </a:r>
          </a:p>
        </p:txBody>
      </p:sp>
      <p:sp>
        <p:nvSpPr>
          <p:cNvPr id="4" name="TextBox 3"/>
          <p:cNvSpPr txBox="1"/>
          <p:nvPr/>
        </p:nvSpPr>
        <p:spPr>
          <a:xfrm>
            <a:off x="548640" y="1371600"/>
            <a:ext cx="11064240" cy="5029200"/>
          </a:xfrm>
          <a:prstGeom prst="rect">
            <a:avLst/>
          </a:prstGeom>
          <a:noFill/>
        </p:spPr>
        <p:txBody>
          <a:bodyPr wrap="square">
            <a:spAutoFit/>
          </a:bodyPr>
          <a:lstStyle/>
          <a:p>
            <a:pPr algn="l" marL="0" indent="-228600"/>
            <a:r>
              <a:rPr sz="2000" b="0">
                <a:solidFill>
                  <a:srgbClr val="B8C0CC"/>
                </a:solidFill>
                <a:latin typeface="Calibri"/>
              </a:rPr>
              <a:t>▸  Pequeño y autocontenido — carga en segundos, sin problemas de RAM</a:t>
            </a:r>
          </a:p>
          <a:p>
            <a:pPr algn="l" marL="0" indent="-228600"/>
            <a:r>
              <a:rPr sz="2000" b="0">
                <a:solidFill>
                  <a:srgbClr val="B8C0CC"/>
                </a:solidFill>
                <a:latin typeface="Calibri"/>
              </a:rPr>
              <a:t>▸  Schema limpio: parser estándar sin variantes problemáticas</a:t>
            </a:r>
          </a:p>
          <a:p>
            <a:pPr algn="l" marL="0" indent="-228600"/>
            <a:r>
              <a:rPr sz="2000" b="0">
                <a:solidFill>
                  <a:srgbClr val="B8C0CC"/>
                </a:solidFill>
                <a:latin typeface="Calibri"/>
              </a:rPr>
              <a:t>▸  Suficientemente representativo: usuarios, posts, fechas, subforos</a:t>
            </a:r>
          </a:p>
          <a:p>
            <a:pPr algn="l" marL="0" indent="-228600"/>
            <a:r>
              <a:rPr sz="2000" b="0">
                <a:solidFill>
                  <a:srgbClr val="B8C0CC"/>
                </a:solidFill>
                <a:latin typeface="Calibri"/>
              </a:rPr>
              <a:t>▸  No requiere descarga de datos pesados para seguir la demo en clase</a:t>
            </a:r>
          </a:p>
          <a:p>
            <a:pPr algn="l" marL="0" indent="-228600"/>
            <a:r>
              <a:rPr sz="2000" b="0">
                <a:solidFill>
                  <a:srgbClr val="B8C0CC"/>
                </a:solidFill>
                <a:latin typeface="Calibri"/>
              </a:rPr>
              <a:t>▸  La estructura es idéntica a la de cualquier otro caso — el pipeline es generalizable</a:t>
            </a:r>
          </a:p>
          <a:p>
            <a:pPr algn="l" marL="0" indent="-228600"/>
            <a:r>
              <a:rPr sz="2000" b="0">
                <a:solidFill>
                  <a:srgbClr val="B8C0CC"/>
                </a:solidFill>
                <a:latin typeface="Calibri"/>
              </a:rPr>
              <a:t>▸  Los resultados son visibles en tiempo real sin esperar precomputo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20"/>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E94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0"/>
            <a:ext cx="10972800" cy="640080"/>
          </a:xfrm>
          <a:prstGeom prst="rect">
            <a:avLst/>
          </a:prstGeom>
          <a:noFill/>
        </p:spPr>
        <p:txBody>
          <a:bodyPr wrap="square">
            <a:spAutoFit/>
          </a:bodyPr>
          <a:lstStyle/>
          <a:p>
            <a:pPr algn="l"/>
            <a:r>
              <a:rPr sz="1400" b="1">
                <a:solidFill>
                  <a:srgbClr val="E94E4E"/>
                </a:solidFill>
                <a:latin typeface="Calibri"/>
              </a:rPr>
              <a:t>DEMO EN VIVO</a:t>
            </a:r>
          </a:p>
        </p:txBody>
      </p:sp>
      <p:sp>
        <p:nvSpPr>
          <p:cNvPr id="4" name="TextBox 3"/>
          <p:cNvSpPr txBox="1"/>
          <p:nvPr/>
        </p:nvSpPr>
        <p:spPr>
          <a:xfrm>
            <a:off x="548640" y="1508760"/>
            <a:ext cx="10972800" cy="1097280"/>
          </a:xfrm>
          <a:prstGeom prst="rect">
            <a:avLst/>
          </a:prstGeom>
          <a:noFill/>
        </p:spPr>
        <p:txBody>
          <a:bodyPr wrap="square">
            <a:spAutoFit/>
          </a:bodyPr>
          <a:lstStyle/>
          <a:p>
            <a:pPr algn="l"/>
            <a:r>
              <a:rPr sz="3600" b="1">
                <a:solidFill>
                  <a:srgbClr val="FFFFFF"/>
                </a:solidFill>
                <a:latin typeface="Calibri"/>
              </a:rPr>
              <a:t>Demo en vivo — pipeline completo</a:t>
            </a:r>
          </a:p>
        </p:txBody>
      </p:sp>
      <p:sp>
        <p:nvSpPr>
          <p:cNvPr id="5" name="TextBox 4"/>
          <p:cNvSpPr txBox="1"/>
          <p:nvPr/>
        </p:nvSpPr>
        <p:spPr>
          <a:xfrm>
            <a:off x="548640" y="2651760"/>
            <a:ext cx="7315200" cy="457200"/>
          </a:xfrm>
          <a:prstGeom prst="rect">
            <a:avLst/>
          </a:prstGeom>
          <a:noFill/>
        </p:spPr>
        <p:txBody>
          <a:bodyPr wrap="square">
            <a:spAutoFit/>
          </a:bodyPr>
          <a:lstStyle/>
          <a:p>
            <a:pPr algn="l"/>
            <a:r>
              <a:rPr sz="1600" b="0">
                <a:solidFill>
                  <a:srgbClr val="606878"/>
                </a:solidFill>
                <a:latin typeface="Calibri"/>
              </a:rPr>
              <a:t>&lt;caso_demo&gt;/00_reconocimiento.ipynb</a:t>
            </a:r>
          </a:p>
        </p:txBody>
      </p:sp>
      <p:sp>
        <p:nvSpPr>
          <p:cNvPr id="6" name="TextBox 5"/>
          <p:cNvSpPr txBox="1"/>
          <p:nvPr/>
        </p:nvSpPr>
        <p:spPr>
          <a:xfrm>
            <a:off x="548640" y="3291840"/>
            <a:ext cx="10972800" cy="2743200"/>
          </a:xfrm>
          <a:prstGeom prst="rect">
            <a:avLst/>
          </a:prstGeom>
          <a:noFill/>
        </p:spPr>
        <p:txBody>
          <a:bodyPr wrap="square">
            <a:spAutoFit/>
          </a:bodyPr>
          <a:lstStyle/>
          <a:p>
            <a:r>
              <a:rPr sz="1900">
                <a:solidFill>
                  <a:srgbClr val="B8C0CC"/>
                </a:solidFill>
                <a:latin typeface="Calibri"/>
              </a:rPr>
              <a:t>1.  Abrir el notebook 00_reconocimiento del caso de demo</a:t>
            </a:r>
          </a:p>
          <a:p>
            <a:r>
              <a:rPr sz="1900">
                <a:solidFill>
                  <a:srgbClr val="B8C0CC"/>
                </a:solidFill>
                <a:latin typeface="Calibri"/>
              </a:rPr>
              <a:t>2.  Sección 1: load_forum() → ver auto-detección de formato en los logs</a:t>
            </a:r>
          </a:p>
          <a:p>
            <a:r>
              <a:rPr sz="1900">
                <a:solidFill>
                  <a:srgbClr val="B8C0CC"/>
                </a:solidFill>
                <a:latin typeface="Calibri"/>
              </a:rPr>
              <a:t>3.  Sección 2: distribución de usuarios y posts — power-law visible</a:t>
            </a:r>
          </a:p>
          <a:p>
            <a:r>
              <a:rPr sz="1900">
                <a:solidFill>
                  <a:srgbClr val="B8C0CC"/>
                </a:solidFill>
                <a:latin typeface="Calibri"/>
              </a:rPr>
              <a:t>4.  Sección 3: grafo de co-participación — identificar brokers</a:t>
            </a:r>
          </a:p>
          <a:p>
            <a:r>
              <a:rPr sz="1900">
                <a:solidFill>
                  <a:srgbClr val="B8C0CC"/>
                </a:solidFill>
                <a:latin typeface="Calibri"/>
              </a:rPr>
              <a:t>5.  Sección 4: embeddings sobre muestra de 100 usuarios (ejecutar en vivo)</a:t>
            </a:r>
          </a:p>
          <a:p>
            <a:r>
              <a:rPr sz="1900">
                <a:solidFill>
                  <a:srgbClr val="B8C0CC"/>
                </a:solidFill>
                <a:latin typeface="Calibri"/>
              </a:rPr>
              <a:t>6.  Sección 5: UMAP + clustering — visualización interactiva Plotly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548640" y="1097280"/>
            <a:ext cx="10515600" cy="27432"/>
          </a:xfrm>
          <a:prstGeom prst="rect">
            <a:avLst/>
          </a:prstGeom>
          <a:solidFill>
            <a:srgbClr val="E94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822960"/>
          </a:xfrm>
          <a:prstGeom prst="rect">
            <a:avLst/>
          </a:prstGeom>
          <a:noFill/>
        </p:spPr>
        <p:txBody>
          <a:bodyPr wrap="square">
            <a:spAutoFit/>
          </a:bodyPr>
          <a:lstStyle/>
          <a:p>
            <a:pPr algn="l"/>
            <a:r>
              <a:rPr sz="3200" b="1">
                <a:solidFill>
                  <a:srgbClr val="FFFFFF"/>
                </a:solidFill>
                <a:latin typeface="Calibri"/>
              </a:rPr>
              <a:t>Preguntas frecuentes y respuestas honestas</a:t>
            </a:r>
          </a:p>
        </p:txBody>
      </p:sp>
      <p:sp>
        <p:nvSpPr>
          <p:cNvPr id="4" name="TextBox 3"/>
          <p:cNvSpPr txBox="1"/>
          <p:nvPr/>
        </p:nvSpPr>
        <p:spPr>
          <a:xfrm>
            <a:off x="548640" y="1371600"/>
            <a:ext cx="11064240" cy="5029200"/>
          </a:xfrm>
          <a:prstGeom prst="rect">
            <a:avLst/>
          </a:prstGeom>
          <a:noFill/>
        </p:spPr>
        <p:txBody>
          <a:bodyPr wrap="square">
            <a:spAutoFit/>
          </a:bodyPr>
          <a:lstStyle/>
          <a:p>
            <a:pPr algn="l" marL="0" indent="-228600"/>
            <a:r>
              <a:rPr sz="2000" b="0">
                <a:solidFill>
                  <a:srgbClr val="B8C0CC"/>
                </a:solidFill>
                <a:latin typeface="Calibri"/>
              </a:rPr>
              <a:t>▸  ¿Por qué no usar una API de embeddings en la nube? → Datos de personas reales: no negociable</a:t>
            </a:r>
          </a:p>
          <a:p>
            <a:pPr algn="l" marL="0" indent="-228600"/>
            <a:r>
              <a:rPr sz="2000" b="0">
                <a:solidFill>
                  <a:srgbClr val="B8C0CC"/>
                </a:solidFill>
                <a:latin typeface="Calibri"/>
              </a:rPr>
              <a:t>▸  ¿Qué pasa si no tengo GPU? → CPU funciona, solo con muestras pequeñas en demo</a:t>
            </a:r>
          </a:p>
          <a:p>
            <a:pPr algn="l" marL="0" indent="-228600"/>
            <a:r>
              <a:rPr sz="2000" b="0">
                <a:solidFill>
                  <a:srgbClr val="B8C0CC"/>
                </a:solidFill>
                <a:latin typeface="Calibri"/>
              </a:rPr>
              <a:t>▸  ¿Puedo correr esto en Colab? → Técnicamente sí, pero no con datos reales</a:t>
            </a:r>
          </a:p>
          <a:p>
            <a:pPr algn="l" marL="0" indent="-228600"/>
            <a:r>
              <a:rPr sz="2000" b="0">
                <a:solidFill>
                  <a:srgbClr val="B8C0CC"/>
                </a:solidFill>
                <a:latin typeface="Calibri"/>
              </a:rPr>
              <a:t>▸  ¿Cuánto tiempo tarda el pipeline completo? → 1-2 días con GPU para el dataset grande</a:t>
            </a:r>
          </a:p>
          <a:p>
            <a:pPr algn="l" marL="0" indent="-228600"/>
            <a:r>
              <a:rPr sz="2000" b="0">
                <a:solidFill>
                  <a:srgbClr val="B8C0CC"/>
                </a:solidFill>
                <a:latin typeface="Calibri"/>
              </a:rPr>
              <a:t>▸  ¿Dónde están los datos? → No en el repo. Se comparten por canal separado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